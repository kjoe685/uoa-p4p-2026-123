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1d7400fd7a49da" /><Relationship Type="http://schemas.openxmlformats.org/officeDocument/2006/relationships/extended-properties" Target="/docProps/app.xml" Id="Ra65f816fc3874ae7" /><Relationship Type="http://schemas.openxmlformats.org/officeDocument/2006/relationships/officeDocument" Target="/ppt/presentation.xml" Id="Rd4f616e35dd448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8ad1426a3c4bcc"/>
  </p:sldMasterIdLst>
  <p:notesMasterIdLst>
    <p:notesMasterId xmlns:r="http://schemas.openxmlformats.org/officeDocument/2006/relationships" r:id="Rf983b7df6a12442a"/>
  </p:notesMasterIdLst>
  <p:sldIdLst>
    <p:sldId xmlns:r="http://schemas.openxmlformats.org/officeDocument/2006/relationships" id="256" r:id="Rfd59a6e25fd14611"/>
  </p:sldIdLst>
  <p:sldSz cx="21816000" cy="3070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27a551ecdc444a" /><Relationship Type="http://schemas.openxmlformats.org/officeDocument/2006/relationships/slideMaster" Target="/ppt/slideMasters/slideMaster1.xml" Id="Rff8ad1426a3c4bcc" /><Relationship Type="http://schemas.openxmlformats.org/officeDocument/2006/relationships/notesMaster" Target="/ppt/notesMasters/notesMaster1.xml" Id="Rf983b7df6a12442a" /><Relationship Type="http://schemas.openxmlformats.org/officeDocument/2006/relationships/presProps" Target="/ppt/presProps.xml" Id="Rce1c9587761f4e4d" /><Relationship Type="http://schemas.openxmlformats.org/officeDocument/2006/relationships/viewProps" Target="/ppt/viewProps.xml" Id="Rac3cf2738e3846a5" /><Relationship Type="http://schemas.openxmlformats.org/officeDocument/2006/relationships/tableStyles" Target="/ppt/tableStyles.xml" Id="R575bb5d236e043f7" /><Relationship Type="http://schemas.openxmlformats.org/officeDocument/2006/relationships/slide" Target="/ppt/slides/slide1.xml" Id="Rfd59a6e25fd146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410264df3242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04e50a3f81478f" /><Relationship Type="http://schemas.openxmlformats.org/officeDocument/2006/relationships/notesMaster" Target="/ppt/notesMasters/notesMaster1.xml" Id="R85cc9566b6614a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Poster_123.pptx (original branding, project title, author/supervisor names, contributions, acknowledgements and contacts). Current implementation at a7acbdf with application source 1ee449b: README.md, docs/grounding.md, docs/debate-behaviour.md, docs/interface-parity.md, engine/agent/AdversarialStrategy.java. The screenshot is a current-frontend deterministic demonstration with National assigned STRAW_MAN. DemoChatManager supplies fixed text without genuine model inference; it illustrates assignment/control UI, not successful disruptive behaviour. Study source: debate-evaluation.xlsx, Summary G8:K13 and its rubric.csv/runs.csv. 54 complete debates, 1350 speeches, two models, three topics, 0/10/100 excerpts per party, three repetitions per condition, five parties and five rounds, strategy NONE and zero interruptions. Each displayed mean pools 45 participant/topic metric scores across 9 debates per model/grounding level. Speeches and participant scores within a debate are dependent. Rubric scores are separate 0-4 scales, with disruptive rhetoric higher meaning more disruption. All figures are descriptive. Same-model judging and absent human validation limit generalization. Corpus: 500 reviewed excerpts, 100 per party, from ParlSpeech V2, DOI 10.7910/DVN/L4OAKN. Automated software checks do not establish model behaviour or research accuracy.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71cce94e34b1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dd06e8ee8c4f18" /><Relationship Type="http://schemas.openxmlformats.org/officeDocument/2006/relationships/slideLayout" Target="/ppt/slideLayouts/slideLayout1.xml" Id="R08a8069416884e0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a8069416884e02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d6b8d78734b60" /><Relationship Type="http://schemas.openxmlformats.org/officeDocument/2006/relationships/image" Target="/ppt/media/image.png" Id="Rfa54486057394245" /><Relationship Type="http://schemas.openxmlformats.org/officeDocument/2006/relationships/image" Target="/ppt/media/image2.png" Id="R76c17f5eae6b4f92" /><Relationship Type="http://schemas.openxmlformats.org/officeDocument/2006/relationships/chart" Target="/ppt/slides/charts/chart1.xml" Id="R2cfc969d3cfc4a5d" /><Relationship Type="http://schemas.openxmlformats.org/officeDocument/2006/relationships/chart" Target="/ppt/slides/charts/chart2.xml" Id="R88210e8fe1144b3c" /><Relationship Type="http://schemas.openxmlformats.org/officeDocument/2006/relationships/chart" Target="/ppt/slides/charts/chart3.xml" Id="R6298dc0f09224c7a" /><Relationship Type="http://schemas.openxmlformats.org/officeDocument/2006/relationships/notesSlide" Target="/ppt/notesSlides/notesSlide1.xml" Id="R2f89396a8bbf464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Consistency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6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3.93333333333333</c:v>
                </c:pt>
                <c:pt idx="1">
                  <c:v>3.91111111111111</c:v>
                </c:pt>
                <c:pt idx="2">
                  <c:v>3.62222222222222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Logical reasoning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6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</c:v>
                </c:pt>
                <c:pt idx="1">
                  <c:v>2.97777777777778</c:v>
                </c:pt>
                <c:pt idx="2">
                  <c:v>3.06666666666667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2.64444444444444</c:v>
                </c:pt>
                <c:pt idx="1">
                  <c:v>2.66666666666667</c:v>
                </c:pt>
                <c:pt idx="2">
                  <c:v>2.62222222222222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Responsiveness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6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3.48888888888889</c:v>
                </c:pt>
                <c:pt idx="1">
                  <c:v>3.4</c:v>
                </c:pt>
                <c:pt idx="2">
                  <c:v>3.42222222222222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2.66666666666667</c:v>
                </c:pt>
                <c:pt idx="1">
                  <c:v>2.68888888888889</c:v>
                </c:pt>
                <c:pt idx="2">
                  <c:v>2.71111111111111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3800E72-0833-4B33-A1F8-C9FC8F866A10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16825320" y="1526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781196-ED48-4133-B738-DC54B3BF76D7}"/>
              </a:ext>
            </a:extLst>
          </p:cNvPr>
          <p:cNvCxnSpPr>
            <a:stCxn xmlns:a="http://schemas.openxmlformats.org/drawingml/2006/main" id="43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12703320" y="1526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710A9CF-F710-4D4E-9C5D-65E87C3C17B9}"/>
              </a:ext>
            </a:extLst>
          </p:cNvPr>
          <p:cNvCxnSpPr>
            <a:stCxn xmlns:a="http://schemas.openxmlformats.org/drawingml/2006/main" id="40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8581320" y="1526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ACE130-6315-43A4-856A-F3C7213D8455}"/>
              </a:ext>
            </a:extLst>
          </p:cNvPr>
          <p:cNvCxnSpPr>
            <a:stCxn xmlns:a="http://schemas.openxmlformats.org/drawingml/2006/main" id="37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4459320" y="1526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28F680D-892D-4CB2-B842-D1F89527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816000" cy="34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2C"/>
          </a:solidFill>
        </p:spPr>
      </p:sp>
      <p:pic>
        <p:nvPicPr>
          <p:cNvPr id="3" name="Image 0">
            <a:extLst xmlns:a="http://schemas.openxmlformats.org/drawingml/2006/main">
              <a:ext uri="{FF2B5EF4-FFF2-40B4-BE49-F238E27FC236}">
                <a16:creationId xmlns:a16="http://schemas.microsoft.com/office/drawing/2014/main" id="{735FA733-1A1E-41BB-AAA6-FB2C117D4E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44860573942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432000"/>
            <a:ext cx="2520000" cy="991620"/>
          </a:xfrm>
          <a:prstGeom xmlns:a="http://schemas.openxmlformats.org/drawingml/2006/main" prst="rect">
            <a:avLst/>
          </a:prstGeom>
        </p:spPr>
      </p:pic>
      <p:sp>
        <p:nvSpPr>
          <p:cNvPr id="4" name="Header project number">
            <a:extLst xmlns:a="http://schemas.openxmlformats.org/drawingml/2006/main">
              <a:ext uri="{FF2B5EF4-FFF2-40B4-BE49-F238E27FC236}">
                <a16:creationId xmlns:a16="http://schemas.microsoft.com/office/drawing/2014/main" id="{16124C23-02C7-411E-AE0D-60ACB3B4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172" y="432000"/>
            <a:ext cx="100584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500" b="1" i="0">
                <a:solidFill>
                  <a:srgbClr val="F2C14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2500" b="1" i="0">
                <a:solidFill>
                  <a:srgbClr val="F2C14E"/>
                </a:solidFill>
                <a:latin typeface="Calibri"/>
                <a:ea typeface="Calibri"/>
                <a:cs typeface="Calibri"/>
              </a:defRPr>
            </a:pPr>
            <a:r>
              <a:rPr sz="2500" b="1" i="0">
                <a:solidFill>
                  <a:srgbClr val="F2C14E"/>
                </a:solidFill>
                <a:latin typeface="Calibri"/>
                <a:ea typeface="Calibri"/>
                <a:cs typeface="Calibri"/>
              </a:rPr>
              <a:t>Part IV Project #123</a:t>
            </a:r>
          </a:p>
        </p:txBody>
      </p:sp>
      <p:sp>
        <p:nvSpPr>
          <p:cNvPr id="5" name="Header department">
            <a:extLst xmlns:a="http://schemas.openxmlformats.org/drawingml/2006/main">
              <a:ext uri="{FF2B5EF4-FFF2-40B4-BE49-F238E27FC236}">
                <a16:creationId xmlns:a16="http://schemas.microsoft.com/office/drawing/2014/main" id="{2BA8081A-418B-490B-B5D3-A55195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172" y="900000"/>
            <a:ext cx="100584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rPr>
              <a:t>Department of Electrical, Computer,</a:t>
            </a:r>
          </a:p>
          <a:p xmlns:a="http://schemas.openxmlformats.org/drawingml/2006/main">
            <a:pPr algn="r">
              <a:lnSpc>
                <a:spcPct val="108000"/>
              </a:lnSpc>
              <a:buNone/>
              <a:def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rPr>
              <a:t>and Software Engineering</a:t>
            </a:r>
          </a:p>
        </p:txBody>
      </p:sp>
      <p:sp>
        <p:nvSpPr>
          <p:cNvPr id="6" name="Header title">
            <a:extLst xmlns:a="http://schemas.openxmlformats.org/drawingml/2006/main">
              <a:ext uri="{FF2B5EF4-FFF2-40B4-BE49-F238E27FC236}">
                <a16:creationId xmlns:a16="http://schemas.microsoft.com/office/drawing/2014/main" id="{368B7D74-3651-4798-8E84-1DE70E35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32000"/>
            <a:ext cx="2007864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6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76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7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AI-Based Virtual Parliament</a:t>
            </a:r>
          </a:p>
        </p:txBody>
      </p:sp>
      <p:sp>
        <p:nvSpPr>
          <p:cNvPr id="7" name="Header research question">
            <a:extLst xmlns:a="http://schemas.openxmlformats.org/drawingml/2006/main">
              <a:ext uri="{FF2B5EF4-FFF2-40B4-BE49-F238E27FC236}">
                <a16:creationId xmlns:a16="http://schemas.microsoft.com/office/drawing/2014/main" id="{CC387C2F-C820-4039-AEDC-CEEE262C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76000"/>
            <a:ext cx="20078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0" i="1">
                <a:solidFill>
                  <a:srgbClr val="F2C14E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100" b="0" i="1">
                <a:solidFill>
                  <a:srgbClr val="F2C14E"/>
                </a:solidFill>
                <a:latin typeface="Cambria"/>
                <a:ea typeface="Cambria"/>
                <a:cs typeface="Cambria"/>
              </a:defRPr>
            </a:pPr>
            <a:r>
              <a:rPr sz="3100" b="0" i="1">
                <a:solidFill>
                  <a:srgbClr val="F2C14E"/>
                </a:solidFill>
                <a:latin typeface="Cambria"/>
                <a:ea typeface="Cambria"/>
                <a:cs typeface="Cambria"/>
              </a:rPr>
              <a:t>Cooperative debate and hidden adversarial strategies</a:t>
            </a:r>
          </a:p>
        </p:txBody>
      </p:sp>
      <p:sp>
        <p:nvSpPr>
          <p:cNvPr id="8" name="Header authors">
            <a:extLst xmlns:a="http://schemas.openxmlformats.org/drawingml/2006/main">
              <a:ext uri="{FF2B5EF4-FFF2-40B4-BE49-F238E27FC236}">
                <a16:creationId xmlns:a16="http://schemas.microsoft.com/office/drawing/2014/main" id="{DE0691C6-B2DF-4E8C-BA01-2C19985A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88000"/>
            <a:ext cx="2007864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Albert Sun &amp; Kieran Joe</a:t>
            </a:r>
            <a:r>
              <a:rPr sz="25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·   Supervisor: Dr Joerg Wicker</a:t>
            </a:r>
          </a:p>
        </p:txBody>
      </p:sp>
      <p:sp>
        <p:nvSpPr>
          <p:cNvPr id="9" name="Project overview">
            <a:extLst xmlns:a="http://schemas.openxmlformats.org/drawingml/2006/main">
              <a:ext uri="{FF2B5EF4-FFF2-40B4-BE49-F238E27FC236}">
                <a16:creationId xmlns:a16="http://schemas.microsoft.com/office/drawing/2014/main" id="{5B87DF00-FBDB-471A-8334-F3D14951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44000"/>
            <a:ext cx="20078640" cy="10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9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We built a virtual New Zealand Parliament with cooperative and adversarial AI MPs. Each follows a party persona, and selected agents get private disruption tactics. The latest study tests whether Hansard grounding improves debate quality.</a:t>
            </a:r>
          </a:p>
        </p:txBody>
      </p:sp>
      <p:sp>
        <p:nvSpPr>
          <p:cNvPr id="10" name="Section 1 number">
            <a:extLst xmlns:a="http://schemas.openxmlformats.org/drawingml/2006/main">
              <a:ext uri="{FF2B5EF4-FFF2-40B4-BE49-F238E27FC236}">
                <a16:creationId xmlns:a16="http://schemas.microsoft.com/office/drawing/2014/main" id="{F68EEA57-5CCD-4EA9-9AEB-B8E92A0F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04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1" name="Section 1 title">
            <a:extLst xmlns:a="http://schemas.openxmlformats.org/drawingml/2006/main">
              <a:ext uri="{FF2B5EF4-FFF2-40B4-BE49-F238E27FC236}">
                <a16:creationId xmlns:a16="http://schemas.microsoft.com/office/drawing/2014/main" id="{3AA8BDF6-3D9E-4A9B-AA6D-68317BBA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4950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One platform, three interfaces</a:t>
            </a:r>
          </a:p>
        </p:txBody>
      </p:sp>
      <p:sp>
        <p:nvSpPr>
          <p:cNvPr id="12" name="Screenshot border">
            <a:extLst xmlns:a="http://schemas.openxmlformats.org/drawingml/2006/main">
              <a:ext uri="{FF2B5EF4-FFF2-40B4-BE49-F238E27FC236}">
                <a16:creationId xmlns:a16="http://schemas.microsoft.com/office/drawing/2014/main" id="{920A4CB0-23A2-4092-ACFD-7A84C78F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00" y="5904000"/>
            <a:ext cx="10843200" cy="577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88F25-6FDE-476C-B792-418BBA1DE0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17f5eae6b4f92"/>
          <a:stretch xmlns:a="http://schemas.openxmlformats.org/drawingml/2006/main"/>
        </p:blipFill>
        <p:spPr>
          <a:xfrm xmlns:a="http://schemas.openxmlformats.org/drawingml/2006/main">
            <a:off x="868680" y="5923649"/>
            <a:ext cx="10800000" cy="5724302"/>
          </a:xfrm>
          <a:prstGeom xmlns:a="http://schemas.openxmlformats.org/drawingml/2006/main" prst="rect">
            <a:avLst/>
          </a:prstGeom>
        </p:spPr>
      </p:pic>
      <p:sp>
        <p:nvSpPr>
          <p:cNvPr id="14" name="Callout A">
            <a:extLst xmlns:a="http://schemas.openxmlformats.org/drawingml/2006/main">
              <a:ext uri="{FF2B5EF4-FFF2-40B4-BE49-F238E27FC236}">
                <a16:creationId xmlns:a16="http://schemas.microsoft.com/office/drawing/2014/main" id="{734B4427-FEF8-40EA-8304-DAD9FED7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000" y="68508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</a:p>
        </p:txBody>
      </p:sp>
      <p:sp>
        <p:nvSpPr>
          <p:cNvPr id="15" name="Callout B">
            <a:extLst xmlns:a="http://schemas.openxmlformats.org/drawingml/2006/main">
              <a:ext uri="{FF2B5EF4-FFF2-40B4-BE49-F238E27FC236}">
                <a16:creationId xmlns:a16="http://schemas.microsoft.com/office/drawing/2014/main" id="{71622102-DBF1-4EFF-8F8D-B17C705C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6000" y="77472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</a:t>
            </a:r>
          </a:p>
        </p:txBody>
      </p:sp>
      <p:sp>
        <p:nvSpPr>
          <p:cNvPr id="16" name="Callout C">
            <a:extLst xmlns:a="http://schemas.openxmlformats.org/drawingml/2006/main">
              <a:ext uri="{FF2B5EF4-FFF2-40B4-BE49-F238E27FC236}">
                <a16:creationId xmlns:a16="http://schemas.microsoft.com/office/drawing/2014/main" id="{AB68A5F9-531F-46CC-918E-A6378D35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4400" y="60732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</a:t>
            </a:r>
          </a:p>
        </p:txBody>
      </p:sp>
      <p:sp>
        <p:nvSpPr>
          <p:cNvPr id="17" name="Callout D">
            <a:extLst xmlns:a="http://schemas.openxmlformats.org/drawingml/2006/main">
              <a:ext uri="{FF2B5EF4-FFF2-40B4-BE49-F238E27FC236}">
                <a16:creationId xmlns:a16="http://schemas.microsoft.com/office/drawing/2014/main" id="{B298E881-565C-4999-972F-5BE50F7D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000" y="97200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</a:t>
            </a:r>
          </a:p>
        </p:txBody>
      </p:sp>
      <p:sp>
        <p:nvSpPr>
          <p:cNvPr id="18" name="Callout E">
            <a:extLst xmlns:a="http://schemas.openxmlformats.org/drawingml/2006/main">
              <a:ext uri="{FF2B5EF4-FFF2-40B4-BE49-F238E27FC236}">
                <a16:creationId xmlns:a16="http://schemas.microsoft.com/office/drawing/2014/main" id="{1C96862B-A374-4428-96D6-0F822EC6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000" y="60408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</a:t>
            </a:r>
          </a:p>
        </p:txBody>
      </p:sp>
      <p:sp>
        <p:nvSpPr>
          <p:cNvPr id="19" name="Callout A">
            <a:extLst xmlns:a="http://schemas.openxmlformats.org/drawingml/2006/main">
              <a:ext uri="{FF2B5EF4-FFF2-40B4-BE49-F238E27FC236}">
                <a16:creationId xmlns:a16="http://schemas.microsoft.com/office/drawing/2014/main" id="{E41AA911-5BAF-493F-87E0-5329ED1A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5904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</a:p>
        </p:txBody>
      </p:sp>
      <p:sp>
        <p:nvSpPr>
          <p:cNvPr id="20" name="Callout A heading">
            <a:extLst xmlns:a="http://schemas.openxmlformats.org/drawingml/2006/main">
              <a:ext uri="{FF2B5EF4-FFF2-40B4-BE49-F238E27FC236}">
                <a16:creationId xmlns:a16="http://schemas.microsoft.com/office/drawing/2014/main" id="{B6DEE5E6-F69D-45CF-B481-FFC44765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5868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The Chamber</a:t>
            </a:r>
          </a:p>
        </p:txBody>
      </p:sp>
      <p:sp>
        <p:nvSpPr>
          <p:cNvPr id="21" name="Callout A detail">
            <a:extLst xmlns:a="http://schemas.openxmlformats.org/drawingml/2006/main">
              <a:ext uri="{FF2B5EF4-FFF2-40B4-BE49-F238E27FC236}">
                <a16:creationId xmlns:a16="http://schemas.microsoft.com/office/drawing/2014/main" id="{CE86D559-116E-4753-A642-FB9A8CFB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6354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One MP represents each chosen party.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Speakers light up; adversarial roles appear in red.</a:t>
            </a:r>
          </a:p>
        </p:txBody>
      </p:sp>
      <p:sp>
        <p:nvSpPr>
          <p:cNvPr id="22" name="Callout B">
            <a:extLst xmlns:a="http://schemas.openxmlformats.org/drawingml/2006/main">
              <a:ext uri="{FF2B5EF4-FFF2-40B4-BE49-F238E27FC236}">
                <a16:creationId xmlns:a16="http://schemas.microsoft.com/office/drawing/2014/main" id="{5B85DEA4-34C8-44FC-9233-5EB37BDF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7146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</a:t>
            </a:r>
          </a:p>
        </p:txBody>
      </p:sp>
      <p:sp>
        <p:nvSpPr>
          <p:cNvPr id="23" name="Callout B heading">
            <a:extLst xmlns:a="http://schemas.openxmlformats.org/drawingml/2006/main">
              <a:ext uri="{FF2B5EF4-FFF2-40B4-BE49-F238E27FC236}">
                <a16:creationId xmlns:a16="http://schemas.microsoft.com/office/drawing/2014/main" id="{598F0A4F-9A4E-4F7D-8A11-778C825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7110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Live Hansard</a:t>
            </a:r>
          </a:p>
        </p:txBody>
      </p:sp>
      <p:sp>
        <p:nvSpPr>
          <p:cNvPr id="24" name="Callout B detail">
            <a:extLst xmlns:a="http://schemas.openxmlformats.org/drawingml/2006/main">
              <a:ext uri="{FF2B5EF4-FFF2-40B4-BE49-F238E27FC236}">
                <a16:creationId xmlns:a16="http://schemas.microsoft.com/office/drawing/2014/main" id="{05C64ABB-EAAB-4F47-9222-204BFE13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7596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Speeches and interjections stream into Hansard.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Saved sittings can be replayed after a restart.</a:t>
            </a:r>
          </a:p>
        </p:txBody>
      </p:sp>
      <p:sp>
        <p:nvSpPr>
          <p:cNvPr id="25" name="Callout C">
            <a:extLst xmlns:a="http://schemas.openxmlformats.org/drawingml/2006/main">
              <a:ext uri="{FF2B5EF4-FFF2-40B4-BE49-F238E27FC236}">
                <a16:creationId xmlns:a16="http://schemas.microsoft.com/office/drawing/2014/main" id="{AFBE4E2F-79D8-4FDF-9105-8F4CB888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8388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</a:t>
            </a:r>
          </a:p>
        </p:txBody>
      </p:sp>
      <p:sp>
        <p:nvSpPr>
          <p:cNvPr id="26" name="Callout C heading">
            <a:extLst xmlns:a="http://schemas.openxmlformats.org/drawingml/2006/main">
              <a:ext uri="{FF2B5EF4-FFF2-40B4-BE49-F238E27FC236}">
                <a16:creationId xmlns:a16="http://schemas.microsoft.com/office/drawing/2014/main" id="{09E073F4-D839-4340-BA13-37D3F8E7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8352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The Speaker’s Chair</a:t>
            </a:r>
          </a:p>
        </p:txBody>
      </p:sp>
      <p:sp>
        <p:nvSpPr>
          <p:cNvPr id="27" name="Callout C detail">
            <a:extLst xmlns:a="http://schemas.openxmlformats.org/drawingml/2006/main">
              <a:ext uri="{FF2B5EF4-FFF2-40B4-BE49-F238E27FC236}">
                <a16:creationId xmlns:a16="http://schemas.microsoft.com/office/drawing/2014/main" id="{0ECA3838-6405-443E-9307-C37C7D99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8838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Chair rulings enter the shared public record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and reach every MP before the next speech.</a:t>
            </a:r>
          </a:p>
        </p:txBody>
      </p:sp>
      <p:sp>
        <p:nvSpPr>
          <p:cNvPr id="28" name="Callout D">
            <a:extLst xmlns:a="http://schemas.openxmlformats.org/drawingml/2006/main">
              <a:ext uri="{FF2B5EF4-FFF2-40B4-BE49-F238E27FC236}">
                <a16:creationId xmlns:a16="http://schemas.microsoft.com/office/drawing/2014/main" id="{BA41694C-BA1E-4159-B41A-1524D1EA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9630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</a:t>
            </a:r>
          </a:p>
        </p:txBody>
      </p:sp>
      <p:sp>
        <p:nvSpPr>
          <p:cNvPr id="29" name="Callout D heading">
            <a:extLst xmlns:a="http://schemas.openxmlformats.org/drawingml/2006/main">
              <a:ext uri="{FF2B5EF4-FFF2-40B4-BE49-F238E27FC236}">
                <a16:creationId xmlns:a16="http://schemas.microsoft.com/office/drawing/2014/main" id="{8EE34CED-AB73-4C23-B9F9-DB55D9EA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9594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Order Paper and Tally</a:t>
            </a:r>
          </a:p>
        </p:txBody>
      </p:sp>
      <p:sp>
        <p:nvSpPr>
          <p:cNvPr id="30" name="Callout D detail">
            <a:extLst xmlns:a="http://schemas.openxmlformats.org/drawingml/2006/main">
              <a:ext uri="{FF2B5EF4-FFF2-40B4-BE49-F238E27FC236}">
                <a16:creationId xmlns:a16="http://schemas.microsoft.com/office/drawing/2014/main" id="{B0D101B4-02C3-493D-959C-4F67B9C2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10080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The agenda advances through topics in order.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Live totals track speeches, interjections and rulings.</a:t>
            </a:r>
          </a:p>
        </p:txBody>
      </p:sp>
      <p:sp>
        <p:nvSpPr>
          <p:cNvPr id="31" name="Callout E">
            <a:extLst xmlns:a="http://schemas.openxmlformats.org/drawingml/2006/main">
              <a:ext uri="{FF2B5EF4-FFF2-40B4-BE49-F238E27FC236}">
                <a16:creationId xmlns:a16="http://schemas.microsoft.com/office/drawing/2014/main" id="{6A242A89-9B39-4F87-BC3E-AA66FFDD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10872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</a:t>
            </a:r>
          </a:p>
        </p:txBody>
      </p:sp>
      <p:sp>
        <p:nvSpPr>
          <p:cNvPr id="32" name="Callout E heading">
            <a:extLst xmlns:a="http://schemas.openxmlformats.org/drawingml/2006/main">
              <a:ext uri="{FF2B5EF4-FFF2-40B4-BE49-F238E27FC236}">
                <a16:creationId xmlns:a16="http://schemas.microsoft.com/office/drawing/2014/main" id="{659B504C-65C1-4798-8163-F0878C1D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10836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Exports and evaluation</a:t>
            </a:r>
          </a:p>
        </p:txBody>
      </p:sp>
      <p:sp>
        <p:nvSpPr>
          <p:cNvPr id="33" name="Callout E detail">
            <a:extLst xmlns:a="http://schemas.openxmlformats.org/drawingml/2006/main">
              <a:ext uri="{FF2B5EF4-FFF2-40B4-BE49-F238E27FC236}">
                <a16:creationId xmlns:a16="http://schemas.microsoft.com/office/drawing/2014/main" id="{8A486325-07EB-4B3A-812A-117483DF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11322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Download public JSON or text, then run local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sentiment/stance analysis or separate rubric scores.</a:t>
            </a:r>
          </a:p>
        </p:txBody>
      </p:sp>
      <p:sp>
        <p:nvSpPr>
          <p:cNvPr id="34" name="Frontend caption">
            <a:extLst xmlns:a="http://schemas.openxmlformats.org/drawingml/2006/main">
              <a:ext uri="{FF2B5EF4-FFF2-40B4-BE49-F238E27FC236}">
                <a16:creationId xmlns:a16="http://schemas.microsoft.com/office/drawing/2014/main" id="{346EA772-E7BC-41B6-960A-351FFAEA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1880000"/>
            <a:ext cx="111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Fig. 1 Deterministic demo: National has a straw-man assignment.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Browser, guided CLI and commands share one backend.</a:t>
            </a:r>
          </a:p>
        </p:txBody>
      </p:sp>
      <p:sp>
        <p:nvSpPr>
          <p:cNvPr id="35" name="Section 2 number">
            <a:extLst xmlns:a="http://schemas.openxmlformats.org/drawingml/2006/main">
              <a:ext uri="{FF2B5EF4-FFF2-40B4-BE49-F238E27FC236}">
                <a16:creationId xmlns:a16="http://schemas.microsoft.com/office/drawing/2014/main" id="{375BE0B7-65C0-4FED-85CE-402C395E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816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36" name="Section 2 title">
            <a:extLst xmlns:a="http://schemas.openxmlformats.org/drawingml/2006/main">
              <a:ext uri="{FF2B5EF4-FFF2-40B4-BE49-F238E27FC236}">
                <a16:creationId xmlns:a16="http://schemas.microsoft.com/office/drawing/2014/main" id="{4C173FFC-30B5-4DA6-8DD5-A44A524C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12762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Cooperative and adversarial agents</a:t>
            </a:r>
          </a:p>
        </p:txBody>
      </p:sp>
      <p:sp>
        <p:nvSpPr>
          <p:cNvPr id="37" name="Hansard corpus">
            <a:extLst xmlns:a="http://schemas.openxmlformats.org/drawingml/2006/main">
              <a:ext uri="{FF2B5EF4-FFF2-40B4-BE49-F238E27FC236}">
                <a16:creationId xmlns:a16="http://schemas.microsoft.com/office/drawing/2014/main" id="{AC7AC689-63CC-4D51-9D99-03CF6AB1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752000"/>
            <a:ext cx="359064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38" name="Hansard corpus title">
            <a:extLst xmlns:a="http://schemas.openxmlformats.org/drawingml/2006/main">
              <a:ext uri="{FF2B5EF4-FFF2-40B4-BE49-F238E27FC236}">
                <a16:creationId xmlns:a16="http://schemas.microsoft.com/office/drawing/2014/main" id="{E8874D51-6E5E-4540-8324-1B639614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Real Hansard</a:t>
            </a:r>
          </a:p>
        </p:txBody>
      </p:sp>
      <p:sp>
        <p:nvSpPr>
          <p:cNvPr id="39" name="Hansard corpus description">
            <a:extLst xmlns:a="http://schemas.openxmlformats.org/drawingml/2006/main">
              <a:ext uri="{FF2B5EF4-FFF2-40B4-BE49-F238E27FC236}">
                <a16:creationId xmlns:a16="http://schemas.microsoft.com/office/drawing/2014/main" id="{3465A081-B7C2-4E51-85C3-71033D80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680" y="14472000"/>
            <a:ext cx="3302640" cy="21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500 reviewed excerpts, 100 per party, from real NZ speeches. The study uses 0, 10 or 100 per party, selected in fixed corpus order [1].</a:t>
            </a:r>
          </a:p>
        </p:txBody>
      </p:sp>
      <p:sp>
        <p:nvSpPr>
          <p:cNvPr id="40" name="Agent setup">
            <a:extLst xmlns:a="http://schemas.openxmlformats.org/drawingml/2006/main">
              <a:ext uri="{FF2B5EF4-FFF2-40B4-BE49-F238E27FC236}">
                <a16:creationId xmlns:a16="http://schemas.microsoft.com/office/drawing/2014/main" id="{50D6A0E3-BA77-49CD-8DC2-A868081D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0680" y="13752000"/>
            <a:ext cx="359064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1" name="Agent setup title">
            <a:extLst xmlns:a="http://schemas.openxmlformats.org/drawingml/2006/main">
              <a:ext uri="{FF2B5EF4-FFF2-40B4-BE49-F238E27FC236}">
                <a16:creationId xmlns:a16="http://schemas.microsoft.com/office/drawing/2014/main" id="{429C9FEE-E2CA-4497-9EBC-1865D301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Private setup</a:t>
            </a:r>
          </a:p>
        </p:txBody>
      </p:sp>
      <p:sp>
        <p:nvSpPr>
          <p:cNvPr id="42" name="Agent setup description">
            <a:extLst xmlns:a="http://schemas.openxmlformats.org/drawingml/2006/main">
              <a:ext uri="{FF2B5EF4-FFF2-40B4-BE49-F238E27FC236}">
                <a16:creationId xmlns:a16="http://schemas.microsoft.com/office/drawing/2014/main" id="{AFEFF5B0-01A8-461B-95A6-16771F40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4680" y="14472000"/>
            <a:ext cx="3302640" cy="21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Each MP gets its own persona, grounding and any hidden tactic. Editable prompts and settings freeze at run start. Other MPs cannot inspect this setup.</a:t>
            </a:r>
          </a:p>
        </p:txBody>
      </p:sp>
      <p:sp>
        <p:nvSpPr>
          <p:cNvPr id="43" name="MP agents">
            <a:extLst xmlns:a="http://schemas.openxmlformats.org/drawingml/2006/main">
              <a:ext uri="{FF2B5EF4-FFF2-40B4-BE49-F238E27FC236}">
                <a16:creationId xmlns:a16="http://schemas.microsoft.com/office/drawing/2014/main" id="{762ABC6E-CD42-41E7-BC72-280FACEB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2680" y="13752000"/>
            <a:ext cx="359064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A92F24"/>
            </a:solidFill>
            <a:prstDash val="solid"/>
          </a:ln>
        </p:spPr>
      </p:sp>
      <p:sp>
        <p:nvSpPr>
          <p:cNvPr id="44" name="MP agents title">
            <a:extLst xmlns:a="http://schemas.openxmlformats.org/drawingml/2006/main">
              <a:ext uri="{FF2B5EF4-FFF2-40B4-BE49-F238E27FC236}">
                <a16:creationId xmlns:a16="http://schemas.microsoft.com/office/drawing/2014/main" id="{5C680DE3-2BBE-4262-9992-49464329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MP agents</a:t>
            </a:r>
          </a:p>
        </p:txBody>
      </p:sp>
      <p:sp>
        <p:nvSpPr>
          <p:cNvPr id="45" name="MP agents description">
            <a:extLst xmlns:a="http://schemas.openxmlformats.org/drawingml/2006/main">
              <a:ext uri="{FF2B5EF4-FFF2-40B4-BE49-F238E27FC236}">
                <a16:creationId xmlns:a16="http://schemas.microsoft.com/office/drawing/2014/main" id="{296AEF2E-2D75-4811-BD00-2FEB6318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6680" y="14472000"/>
            <a:ext cx="3302640" cy="21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Cloud or local models represent selected parties. Cooperative MPs argue policy. </a:t>
            </a:r>
            <a:r>
              <a:rPr sz="2250" b="1" i="0">
                <a:solidFill>
                  <a:srgbClr val="A92F24"/>
                </a:solidFill>
                <a:latin typeface="Calibri"/>
                <a:ea typeface="Calibri"/>
                <a:cs typeface="Calibri"/>
              </a:rPr>
              <a:t>Adversarial MPs</a:t>
            </a: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 privately receive a tactic to attempt disruption.</a:t>
            </a:r>
          </a:p>
        </p:txBody>
      </p:sp>
      <p:sp>
        <p:nvSpPr>
          <p:cNvPr id="46" name="Debate scheduler">
            <a:extLst xmlns:a="http://schemas.openxmlformats.org/drawingml/2006/main">
              <a:ext uri="{FF2B5EF4-FFF2-40B4-BE49-F238E27FC236}">
                <a16:creationId xmlns:a16="http://schemas.microsoft.com/office/drawing/2014/main" id="{53EF2531-F3A6-42E8-B761-173B6976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4680" y="13752000"/>
            <a:ext cx="359064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7" name="Debate scheduler title">
            <a:extLst xmlns:a="http://schemas.openxmlformats.org/drawingml/2006/main">
              <a:ext uri="{FF2B5EF4-FFF2-40B4-BE49-F238E27FC236}">
                <a16:creationId xmlns:a16="http://schemas.microsoft.com/office/drawing/2014/main" id="{3AF4E9C2-EA1B-4C5F-8D43-79FF9D63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2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Debate engine</a:t>
            </a:r>
          </a:p>
        </p:txBody>
      </p:sp>
      <p:sp>
        <p:nvSpPr>
          <p:cNvPr id="48" name="Debate scheduler description">
            <a:extLst xmlns:a="http://schemas.openxmlformats.org/drawingml/2006/main">
              <a:ext uri="{FF2B5EF4-FFF2-40B4-BE49-F238E27FC236}">
                <a16:creationId xmlns:a16="http://schemas.microsoft.com/office/drawing/2014/main" id="{18A0393C-4175-45B9-955F-913783AA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8680" y="14472000"/>
            <a:ext cx="3302640" cy="21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One scheduler manages turns, topics, interjections and chair rulings. Public claim references and each MP’s position history guide replies and concessions.</a:t>
            </a:r>
          </a:p>
        </p:txBody>
      </p:sp>
      <p:sp>
        <p:nvSpPr>
          <p:cNvPr id="49" name="Public results">
            <a:extLst xmlns:a="http://schemas.openxmlformats.org/drawingml/2006/main">
              <a:ext uri="{FF2B5EF4-FFF2-40B4-BE49-F238E27FC236}">
                <a16:creationId xmlns:a16="http://schemas.microsoft.com/office/drawing/2014/main" id="{4433A6C7-6EEB-4FBD-9AFF-2B011198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56680" y="13752000"/>
            <a:ext cx="359064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50" name="Public results title">
            <a:extLst xmlns:a="http://schemas.openxmlformats.org/drawingml/2006/main">
              <a:ext uri="{FF2B5EF4-FFF2-40B4-BE49-F238E27FC236}">
                <a16:creationId xmlns:a16="http://schemas.microsoft.com/office/drawing/2014/main" id="{16E78802-4325-439D-8884-E08B02F4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4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Saved evidence</a:t>
            </a:r>
          </a:p>
        </p:txBody>
      </p:sp>
      <p:sp>
        <p:nvSpPr>
          <p:cNvPr id="51" name="Public results description">
            <a:extLst xmlns:a="http://schemas.openxmlformats.org/drawingml/2006/main">
              <a:ext uri="{FF2B5EF4-FFF2-40B4-BE49-F238E27FC236}">
                <a16:creationId xmlns:a16="http://schemas.microsoft.com/office/drawing/2014/main" id="{252251A5-F225-4E3B-A48A-21842E3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0680" y="14472000"/>
            <a:ext cx="3302640" cy="21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Save public speeches and chair events with stable IDs. Replay/export transcripts and separate reports while keeping private prompts and credentials out.</a:t>
            </a:r>
          </a:p>
        </p:txBody>
      </p:sp>
      <p:sp>
        <p:nvSpPr>
          <p:cNvPr id="56" name="Adversarial strategies heading">
            <a:extLst xmlns:a="http://schemas.openxmlformats.org/drawingml/2006/main">
              <a:ext uri="{FF2B5EF4-FFF2-40B4-BE49-F238E27FC236}">
                <a16:creationId xmlns:a16="http://schemas.microsoft.com/office/drawing/2014/main" id="{C11A4920-1090-44D2-89EB-A71925B0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812000"/>
            <a:ext cx="2007864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2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32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Hidden adversarial strategies</a:t>
            </a:r>
          </a:p>
        </p:txBody>
      </p:sp>
      <p:sp>
        <p:nvSpPr>
          <p:cNvPr id="57" name="Topic derailment heading">
            <a:extLst xmlns:a="http://schemas.openxmlformats.org/drawingml/2006/main">
              <a:ext uri="{FF2B5EF4-FFF2-40B4-BE49-F238E27FC236}">
                <a16:creationId xmlns:a16="http://schemas.microsoft.com/office/drawing/2014/main" id="{61684DE1-00AE-4F0B-93BA-3166381F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568000"/>
            <a:ext cx="639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Topic derailment</a:t>
            </a:r>
          </a:p>
        </p:txBody>
      </p:sp>
      <p:sp>
        <p:nvSpPr>
          <p:cNvPr id="58" name="Topic derailment definition">
            <a:extLst xmlns:a="http://schemas.openxmlformats.org/drawingml/2006/main">
              <a:ext uri="{FF2B5EF4-FFF2-40B4-BE49-F238E27FC236}">
                <a16:creationId xmlns:a16="http://schemas.microsoft.com/office/drawing/2014/main" id="{3D7B6D2B-F9F8-44E2-8AD0-9F75636E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144000"/>
            <a:ext cx="639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Steer discussion away from the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agenda without acknowledging it.</a:t>
            </a:r>
          </a:p>
        </p:txBody>
      </p:sp>
      <p:sp>
        <p:nvSpPr>
          <p:cNvPr id="59" name="Straw man heading">
            <a:extLst xmlns:a="http://schemas.openxmlformats.org/drawingml/2006/main">
              <a:ext uri="{FF2B5EF4-FFF2-40B4-BE49-F238E27FC236}">
                <a16:creationId xmlns:a16="http://schemas.microsoft.com/office/drawing/2014/main" id="{39D57D50-184F-41B2-811F-CD2BBBF9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80" y="17568000"/>
            <a:ext cx="639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Straw man</a:t>
            </a:r>
          </a:p>
        </p:txBody>
      </p:sp>
      <p:sp>
        <p:nvSpPr>
          <p:cNvPr id="60" name="Straw man definition">
            <a:extLst xmlns:a="http://schemas.openxmlformats.org/drawingml/2006/main">
              <a:ext uri="{FF2B5EF4-FFF2-40B4-BE49-F238E27FC236}">
                <a16:creationId xmlns:a16="http://schemas.microsoft.com/office/drawing/2014/main" id="{D1D046CA-6B58-4AE4-9627-209FAF70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80" y="18144000"/>
            <a:ext cx="639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Misrepresent an opponent’s claim,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then attack the distorted version.</a:t>
            </a:r>
          </a:p>
        </p:txBody>
      </p:sp>
      <p:sp>
        <p:nvSpPr>
          <p:cNvPr id="61" name="Procedural manipulation heading">
            <a:extLst xmlns:a="http://schemas.openxmlformats.org/drawingml/2006/main">
              <a:ext uri="{FF2B5EF4-FFF2-40B4-BE49-F238E27FC236}">
                <a16:creationId xmlns:a16="http://schemas.microsoft.com/office/drawing/2014/main" id="{77D9C97F-303F-42BB-8652-08274A5A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8680" y="17568000"/>
            <a:ext cx="639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Procedural manipulation</a:t>
            </a:r>
          </a:p>
        </p:txBody>
      </p:sp>
      <p:sp>
        <p:nvSpPr>
          <p:cNvPr id="62" name="Procedural manipulation definition">
            <a:extLst xmlns:a="http://schemas.openxmlformats.org/drawingml/2006/main">
              <a:ext uri="{FF2B5EF4-FFF2-40B4-BE49-F238E27FC236}">
                <a16:creationId xmlns:a16="http://schemas.microsoft.com/office/drawing/2014/main" id="{459A094B-045D-47FE-BE66-78C6E2B7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8680" y="18144000"/>
            <a:ext cx="639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Exploit rules or points of order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to obstruct substantive debate.</a:t>
            </a:r>
          </a:p>
        </p:txBody>
      </p:sp>
      <p:sp>
        <p:nvSpPr>
          <p:cNvPr id="63" name="Privacy and evaluation detail">
            <a:extLst xmlns:a="http://schemas.openxmlformats.org/drawingml/2006/main">
              <a:ext uri="{FF2B5EF4-FFF2-40B4-BE49-F238E27FC236}">
                <a16:creationId xmlns:a16="http://schemas.microsoft.com/office/drawing/2014/main" id="{DB3F8121-3626-4555-AFEE-6FF89B60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080000"/>
            <a:ext cx="2007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Only assigned MPs see their tactic. Other agents receive their own setup and public evidence, with no notice of hidden assignments.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Select debate and judge models independently. Five rubric metrics, VADER/Cardiff sentiment and DeBERTa stance stay separate.</a:t>
            </a:r>
          </a:p>
        </p:txBody>
      </p:sp>
      <p:sp>
        <p:nvSpPr>
          <p:cNvPr id="64" name="Section 3 number">
            <a:extLst xmlns:a="http://schemas.openxmlformats.org/drawingml/2006/main">
              <a:ext uri="{FF2B5EF4-FFF2-40B4-BE49-F238E27FC236}">
                <a16:creationId xmlns:a16="http://schemas.microsoft.com/office/drawing/2014/main" id="{9B23C13B-5ABB-4725-8AFF-5F89D3A2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944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65" name="Section 3 title">
            <a:extLst xmlns:a="http://schemas.openxmlformats.org/drawingml/2006/main">
              <a:ext uri="{FF2B5EF4-FFF2-40B4-BE49-F238E27FC236}">
                <a16:creationId xmlns:a16="http://schemas.microsoft.com/office/drawing/2014/main" id="{6093315F-DEED-4D17-92F4-79375A1E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19890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More grounding gave no consistent gain</a:t>
            </a:r>
          </a:p>
        </p:txBody>
      </p:sp>
      <p:sp>
        <p:nvSpPr>
          <p:cNvPr id="66" name="Baseline study design">
            <a:extLst xmlns:a="http://schemas.openxmlformats.org/drawingml/2006/main">
              <a:ext uri="{FF2B5EF4-FFF2-40B4-BE49-F238E27FC236}">
                <a16:creationId xmlns:a16="http://schemas.microsoft.com/office/drawing/2014/main" id="{80CA37BF-5D10-4AB1-94D8-9ADD18A8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880000"/>
            <a:ext cx="2007864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50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54 baseline debates and 1,350 speeches</a:t>
            </a:r>
            <a:r>
              <a: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[2]. GPT-6 Luna and Qwen3:8b each ran three topics × three grounding levels (0/10/100) × three repetitions, with five parties and five rounds. Topics: retirement age, nuclear power and a four-day workweek. </a:t>
            </a:r>
            <a:r>
              <a:rPr sz="250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All agents were cooperative</a:t>
            </a:r>
            <a:r>
              <a: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, with interruptions disabled.</a:t>
            </a:r>
          </a:p>
        </p:txBody>
      </p:sp>
      <p:graphicFrame>
        <p:nvGraphicFramePr>
          <p:cNvPr id="67" name="Chart">
            <a:extLst xmlns:a="http://schemas.openxmlformats.org/drawingml/2006/main">
              <a:ext uri="{FF2B5EF4-FFF2-40B4-BE49-F238E27FC236}">
                <a16:creationId xmlns:a16="http://schemas.microsoft.com/office/drawing/2014/main" id="{8C734F3E-F100-4406-A3DA-2E60E3E90F60}"/>
              </a:ext>
            </a:extLst>
          </p:cNvPr>
          <p:cNvGraphicFramePr/>
          <p:nvPr/>
        </p:nvGraphicFramePr>
        <p:xfrm>
          <a:off xmlns:a="http://schemas.openxmlformats.org/drawingml/2006/main" x="868680" y="21888000"/>
          <a:ext xmlns:a="http://schemas.openxmlformats.org/drawingml/2006/main" cx="6542640" cy="30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fc969d3cfc4a5d"/>
          </a:graphicData>
        </a:graphic>
      </p:graphicFrame>
      <p:graphicFrame>
        <p:nvGraphicFramePr>
          <p:cNvPr id="68" name="Chart">
            <a:extLst xmlns:a="http://schemas.openxmlformats.org/drawingml/2006/main">
              <a:ext uri="{FF2B5EF4-FFF2-40B4-BE49-F238E27FC236}">
                <a16:creationId xmlns:a16="http://schemas.microsoft.com/office/drawing/2014/main" id="{BFFCE2AA-53F7-4858-99A0-5964FA20324F}"/>
              </a:ext>
            </a:extLst>
          </p:cNvPr>
          <p:cNvGraphicFramePr/>
          <p:nvPr/>
        </p:nvGraphicFramePr>
        <p:xfrm>
          <a:off xmlns:a="http://schemas.openxmlformats.org/drawingml/2006/main" x="7636680" y="21888000"/>
          <a:ext xmlns:a="http://schemas.openxmlformats.org/drawingml/2006/main" cx="6542640" cy="30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210e8fe1144b3c"/>
          </a:graphicData>
        </a:graphic>
      </p:graphicFrame>
      <p:graphicFrame>
        <p:nvGraphicFramePr>
          <p:cNvPr id="69" name="Chart">
            <a:extLst xmlns:a="http://schemas.openxmlformats.org/drawingml/2006/main">
              <a:ext uri="{FF2B5EF4-FFF2-40B4-BE49-F238E27FC236}">
                <a16:creationId xmlns:a16="http://schemas.microsoft.com/office/drawing/2014/main" id="{9AB591BB-3EA5-4EEB-A9EE-C528A9F69FD1}"/>
              </a:ext>
            </a:extLst>
          </p:cNvPr>
          <p:cNvGraphicFramePr/>
          <p:nvPr/>
        </p:nvGraphicFramePr>
        <p:xfrm>
          <a:off xmlns:a="http://schemas.openxmlformats.org/drawingml/2006/main" x="14404680" y="21888000"/>
          <a:ext xmlns:a="http://schemas.openxmlformats.org/drawingml/2006/main" cx="6542640" cy="30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98dc0f09224c7a"/>
          </a:graphicData>
        </a:graphic>
      </p:graphicFrame>
      <p:sp>
        <p:nvSpPr>
          <p:cNvPr id="70" name="Observed consistency drop">
            <a:extLst xmlns:a="http://schemas.openxmlformats.org/drawingml/2006/main">
              <a:ext uri="{FF2B5EF4-FFF2-40B4-BE49-F238E27FC236}">
                <a16:creationId xmlns:a16="http://schemas.microsoft.com/office/drawing/2014/main" id="{11254421-FAD4-4DFE-89B1-3CA394D7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056000"/>
            <a:ext cx="2007864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45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Qwen consistency</a:t>
            </a:r>
            <a:r>
              <a:rPr sz="2450" b="0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 fell from 3.93 to 3.62 (-0.31) between 0 and 100 excerpts. Other changes were small or mixed. Relevance endpoints were unchanged (Luna 4.00, Qwen 3.98), and disruptive rhetoric stayed near zero (0.00-0.04). Higher rhetoric means more disruption.</a:t>
            </a:r>
          </a:p>
        </p:txBody>
      </p:sp>
      <p:sp>
        <p:nvSpPr>
          <p:cNvPr id="71" name="Research limitations">
            <a:extLst xmlns:a="http://schemas.openxmlformats.org/drawingml/2006/main">
              <a:ext uri="{FF2B5EF4-FFF2-40B4-BE49-F238E27FC236}">
                <a16:creationId xmlns:a16="http://schemas.microsoft.com/office/drawing/2014/main" id="{0AD66653-FD11-49DD-9A81-450DA85B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064000"/>
            <a:ext cx="2007864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5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5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05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Means pool 9 debates per model/level and 45 party scores per metric. One common GPT-6 Luna judge rates public evidence. Scores within a debate are dependent, and automated ratings lack human validation. These baseline runs do not establish adversarial robustness.</a:t>
            </a:r>
          </a:p>
        </p:txBody>
      </p:sp>
      <p:sp>
        <p:nvSpPr>
          <p:cNvPr id="72" name="Section 4 number">
            <a:extLst xmlns:a="http://schemas.openxmlformats.org/drawingml/2006/main">
              <a:ext uri="{FF2B5EF4-FFF2-40B4-BE49-F238E27FC236}">
                <a16:creationId xmlns:a16="http://schemas.microsoft.com/office/drawing/2014/main" id="{C1CF547C-E239-4319-8169-F6D712B9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748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73" name="Section 4 title">
            <a:extLst xmlns:a="http://schemas.openxmlformats.org/drawingml/2006/main">
              <a:ext uri="{FF2B5EF4-FFF2-40B4-BE49-F238E27FC236}">
                <a16:creationId xmlns:a16="http://schemas.microsoft.com/office/drawing/2014/main" id="{7C58809D-3E8B-4192-BAD6-15BD6076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26694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Outcomes and next steps</a:t>
            </a:r>
          </a:p>
        </p:txBody>
      </p:sp>
      <p:sp>
        <p:nvSpPr>
          <p:cNvPr id="74" name="Outcome detail">
            <a:extLst xmlns:a="http://schemas.openxmlformats.org/drawingml/2006/main">
              <a:ext uri="{FF2B5EF4-FFF2-40B4-BE49-F238E27FC236}">
                <a16:creationId xmlns:a16="http://schemas.microsoft.com/office/drawing/2014/main" id="{0789E644-5445-419C-99D5-3EBBFF0B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702000"/>
            <a:ext cx="6408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Platform: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Private personas, hidden tactics and frozen settings support reproducible comparisons. Extra Hansard showed no consistent score gain in the baseline study.</a:t>
            </a:r>
          </a:p>
        </p:txBody>
      </p:sp>
      <p:sp>
        <p:nvSpPr>
          <p:cNvPr id="75" name="Next work detail">
            <a:extLst xmlns:a="http://schemas.openxmlformats.org/drawingml/2006/main">
              <a:ext uri="{FF2B5EF4-FFF2-40B4-BE49-F238E27FC236}">
                <a16:creationId xmlns:a16="http://schemas.microsoft.com/office/drawing/2014/main" id="{9618485B-AF9F-4985-88C2-EC2ED549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000" y="27702000"/>
            <a:ext cx="6300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Next: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Test each hidden tactic against cooperative baselines. Expand topics and repetitions, and use human reviewers to assess disruption, reasoning and concessions.</a:t>
            </a:r>
          </a:p>
        </p:txBody>
      </p:sp>
      <p:sp>
        <p:nvSpPr>
          <p:cNvPr id="76" name="Contributions detail">
            <a:extLst xmlns:a="http://schemas.openxmlformats.org/drawingml/2006/main">
              <a:ext uri="{FF2B5EF4-FFF2-40B4-BE49-F238E27FC236}">
                <a16:creationId xmlns:a16="http://schemas.microsoft.com/office/drawing/2014/main" id="{B4867992-9A5F-43E3-9105-9A8CE227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0000" y="27702000"/>
            <a:ext cx="6372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Albert Sun: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frontend, live chamber,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initial CLI and Hansard grounding.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Kieran Joe: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architecture, agent engine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and supervisor coordination.</a:t>
            </a:r>
          </a:p>
        </p:txBody>
      </p:sp>
      <p:sp>
        <p:nvSpPr>
          <p:cNvPr id="77" name="Footer band">
            <a:extLst xmlns:a="http://schemas.openxmlformats.org/drawingml/2006/main">
              <a:ext uri="{FF2B5EF4-FFF2-40B4-BE49-F238E27FC236}">
                <a16:creationId xmlns:a16="http://schemas.microsoft.com/office/drawing/2014/main" id="{3A0D5A9B-70A6-4B75-AEAA-DE6078C8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124000"/>
            <a:ext cx="21816000" cy="158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References heading">
            <a:extLst xmlns:a="http://schemas.openxmlformats.org/drawingml/2006/main">
              <a:ext uri="{FF2B5EF4-FFF2-40B4-BE49-F238E27FC236}">
                <a16:creationId xmlns:a16="http://schemas.microsoft.com/office/drawing/2014/main" id="{6AE62420-C6B4-414C-B8B1-A9C6DB52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412000"/>
            <a:ext cx="842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79" name="References detail">
            <a:extLst xmlns:a="http://schemas.openxmlformats.org/drawingml/2006/main">
              <a:ext uri="{FF2B5EF4-FFF2-40B4-BE49-F238E27FC236}">
                <a16:creationId xmlns:a16="http://schemas.microsoft.com/office/drawing/2014/main" id="{0CE9E03F-C8AA-4E0B-9BB2-95B387C5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844000"/>
            <a:ext cx="842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[1] Rauh &amp; Schwalbach (2020). ParlSpeech V2.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[2] Project 123 debate evaluation study, October 2026.</a:t>
            </a:r>
          </a:p>
        </p:txBody>
      </p:sp>
      <p:sp>
        <p:nvSpPr>
          <p:cNvPr id="80" name="Acknowledgements heading">
            <a:extLst xmlns:a="http://schemas.openxmlformats.org/drawingml/2006/main">
              <a:ext uri="{FF2B5EF4-FFF2-40B4-BE49-F238E27FC236}">
                <a16:creationId xmlns:a16="http://schemas.microsoft.com/office/drawing/2014/main" id="{5CA85A20-7C9A-4A3E-A47E-9A065800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000" y="29412000"/>
            <a:ext cx="68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Acknowledgements</a:t>
            </a:r>
          </a:p>
        </p:txBody>
      </p:sp>
      <p:sp>
        <p:nvSpPr>
          <p:cNvPr id="81" name="Acknowledgements detail">
            <a:extLst xmlns:a="http://schemas.openxmlformats.org/drawingml/2006/main">
              <a:ext uri="{FF2B5EF4-FFF2-40B4-BE49-F238E27FC236}">
                <a16:creationId xmlns:a16="http://schemas.microsoft.com/office/drawing/2014/main" id="{450C5C31-C1B7-4A9A-A545-1DDC123C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000" y="29844000"/>
            <a:ext cx="6840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Political science collaborators, Georgetown University.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Members are AI archetypes, not real MPs.</a:t>
            </a:r>
          </a:p>
        </p:txBody>
      </p:sp>
      <p:sp>
        <p:nvSpPr>
          <p:cNvPr id="82" name="Contact heading">
            <a:extLst xmlns:a="http://schemas.openxmlformats.org/drawingml/2006/main">
              <a:ext uri="{FF2B5EF4-FFF2-40B4-BE49-F238E27FC236}">
                <a16:creationId xmlns:a16="http://schemas.microsoft.com/office/drawing/2014/main" id="{828A6346-A416-4F0E-9272-4E038144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4000" y="29412000"/>
            <a:ext cx="3888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Contact</a:t>
            </a:r>
          </a:p>
        </p:txBody>
      </p:sp>
      <p:sp>
        <p:nvSpPr>
          <p:cNvPr id="83" name="Contact detail">
            <a:extLst xmlns:a="http://schemas.openxmlformats.org/drawingml/2006/main">
              <a:ext uri="{FF2B5EF4-FFF2-40B4-BE49-F238E27FC236}">
                <a16:creationId xmlns:a16="http://schemas.microsoft.com/office/drawing/2014/main" id="{E8A17DCB-269E-4CD8-81FA-0F0146D5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4000" y="29844000"/>
            <a:ext cx="3888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asun555@aucklanduni.ac.nz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kjoe685@aucklanduni.ac.nz</a:t>
            </a:r>
          </a:p>
        </p:txBody>
      </p:sp>
    </p:spTree>
    <p:extLst>
      <p:ext uri="{BB962C8B-B14F-4D97-AF65-F5344CB8AC3E}">
        <p14:creationId xmlns:p14="http://schemas.microsoft.com/office/powerpoint/2010/main" val="7743775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2026-10-09T00:46:04.0510000Z</dcterms:created>
  <dcterms:modified xsi:type="dcterms:W3CDTF">2026-10-09T00:46:04.0510000Z</dcterms:modified>
</coreProperties>
</file>