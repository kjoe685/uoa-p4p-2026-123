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9bc9c1df99434e" /><Relationship Type="http://schemas.openxmlformats.org/officeDocument/2006/relationships/extended-properties" Target="/docProps/app.xml" Id="R0aaf03cffece4a9c" /><Relationship Type="http://schemas.openxmlformats.org/officeDocument/2006/relationships/officeDocument" Target="/ppt/presentation.xml" Id="Rbfe38019cedc4a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f54e9e3f0a46bf"/>
  </p:sldMasterIdLst>
  <p:notesMasterIdLst>
    <p:notesMasterId xmlns:r="http://schemas.openxmlformats.org/officeDocument/2006/relationships" r:id="R5fa2b0d9c1a147e6"/>
  </p:notesMasterIdLst>
  <p:sldIdLst>
    <p:sldId xmlns:r="http://schemas.openxmlformats.org/officeDocument/2006/relationships" id="256" r:id="R657a5427e4894338"/>
  </p:sldIdLst>
  <p:sldSz cx="21816000" cy="3070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9e13bf8f1c4d3f" /><Relationship Type="http://schemas.openxmlformats.org/officeDocument/2006/relationships/slideMaster" Target="/ppt/slideMasters/slideMaster1.xml" Id="R2bf54e9e3f0a46bf" /><Relationship Type="http://schemas.openxmlformats.org/officeDocument/2006/relationships/notesMaster" Target="/ppt/notesMasters/notesMaster1.xml" Id="R5fa2b0d9c1a147e6" /><Relationship Type="http://schemas.openxmlformats.org/officeDocument/2006/relationships/presProps" Target="/ppt/presProps.xml" Id="Rf36829c61b0247e0" /><Relationship Type="http://schemas.openxmlformats.org/officeDocument/2006/relationships/viewProps" Target="/ppt/viewProps.xml" Id="R56c223cb9f804935" /><Relationship Type="http://schemas.openxmlformats.org/officeDocument/2006/relationships/tableStyles" Target="/ppt/tableStyles.xml" Id="Rfa714a8048574188" /><Relationship Type="http://schemas.openxmlformats.org/officeDocument/2006/relationships/slide" Target="/ppt/slides/slide1.xml" Id="R657a5427e48943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3624a81b6440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5c0d4bcfdc4835" /><Relationship Type="http://schemas.openxmlformats.org/officeDocument/2006/relationships/notesMaster" Target="/ppt/notesMasters/notesMaster1.xml" Id="R7e080dad20134a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Poster_123.pptx (original branding, project title, author/supervisor names, contributions, acknowledgements and contacts). Current implementation at a7acbdf with application source 1ee449b: README.md, docs/grounding.md, docs/debate-behaviour.md, docs/interface-parity.md. Study source: debate-evaluation.xlsx, Summary G8:K13 and its rubric.csv/runs.csv. 54 complete debates, 1350 speeches, two models, three topics, 0/10/100 excerpts per party, three repetitions per condition, five parties and five rounds, strategy NONE and zero interruptions. Each displayed mean pools 45 participant/topic metric scores across 9 debates per model/grounding level. Speeches and participant scores within a debate are dependent. Rubric scores are separate 0–4 scales, with disruptive rhetoric higher meaning more disruption. All figures are descriptive. Same-model judging and absent human validation limit generalization. Corpus: 500 reviewed excerpts, 100 per party, from ParlSpeech V2, DOI 10.7910/DVN/L4OAKN. Automated software checks do not establish model behaviour or research accuracy.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897c03d84d49f4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d9b554c61348dd" /><Relationship Type="http://schemas.openxmlformats.org/officeDocument/2006/relationships/slideLayout" Target="/ppt/slideLayouts/slideLayout1.xml" Id="Rbfafc48b54c2415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afc48b54c2415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381b923444970" /><Relationship Type="http://schemas.openxmlformats.org/officeDocument/2006/relationships/image" Target="/ppt/media/image.png" Id="Rea3839af255a4300" /><Relationship Type="http://schemas.openxmlformats.org/officeDocument/2006/relationships/image" Target="/ppt/media/image2.png" Id="R30124ee819b14ed1" /><Relationship Type="http://schemas.openxmlformats.org/officeDocument/2006/relationships/chart" Target="/ppt/slides/charts/chart1.xml" Id="Rcb4d5422211843a7" /><Relationship Type="http://schemas.openxmlformats.org/officeDocument/2006/relationships/chart" Target="/ppt/slides/charts/chart2.xml" Id="R8826c41150904d26" /><Relationship Type="http://schemas.openxmlformats.org/officeDocument/2006/relationships/chart" Target="/ppt/slides/charts/chart3.xml" Id="R90d6a888ad264a00" /><Relationship Type="http://schemas.openxmlformats.org/officeDocument/2006/relationships/notesSlide" Target="/ppt/notesSlides/notesSlide1.xml" Id="R2b15ecf3a2c6486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1F4D36"/>
                </a:solidFill>
                <a:latin typeface="Calibri"/>
                <a:ea typeface="Calibri"/>
                <a:cs typeface="Calibri"/>
              </a:rPr>
              <a:t>Consistency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800" b="1">
              <a:solidFill>
                <a:srgbClr val="1F4D36"/>
              </a:solidFill>
              <a:latin typeface="Calibri"/>
              <a:ea typeface="Calibri"/>
              <a:cs typeface="Calibr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GPT-6 Luna</c:v>
          </c:tx>
          <c:spPr>
            <a:ln xmlns:a="http://schemas.openxmlformats.org/drawingml/2006/main" w="38100">
              <a:solidFill>
                <a:srgbClr val="1F4D36"/>
              </a:solidFill>
              <a:prstDash val="solid"/>
            </a:ln>
          </c:spPr>
          <c:marker>
            <c:symbol val="circle"/>
            <c:size val="11"/>
            <c:spPr>
              <a:solidFill xmlns:a="http://schemas.openxmlformats.org/drawingml/2006/main">
                <a:srgbClr val="1F4D36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100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4</c:v>
                </c:pt>
                <c:pt idx="1">
                  <c:v>4</c:v>
                </c:pt>
                <c:pt idx="2">
                  <c:v>4</c:v>
                </c:pt>
              </c:numCache>
            </c:numRef>
          </c:val>
          <c:smooth val="0"/>
        </c:ser>
        <c:ser>
          <c:idx val="1"/>
          <c:order val="1"/>
          <c:tx>
            <c:v>Qwen3:8b</c:v>
          </c:tx>
          <c:spPr>
            <a:ln xmlns:a="http://schemas.openxmlformats.org/drawingml/2006/main" w="38100">
              <a:solidFill>
                <a:srgbClr val="C9971C"/>
              </a:solidFill>
              <a:prstDash val="solid"/>
            </a:ln>
          </c:spPr>
          <c:marker>
            <c:symbol val="square"/>
            <c:size val="11"/>
            <c:spPr>
              <a:solidFill xmlns:a="http://schemas.openxmlformats.org/drawingml/2006/main">
                <a:srgbClr val="C9971C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100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3.93333333333333</c:v>
                </c:pt>
                <c:pt idx="1">
                  <c:v>3.91111111111111</c:v>
                </c:pt>
                <c:pt idx="2">
                  <c:v>3.62222222222222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000">
                    <a:solidFill>
                      <a:srgbClr val="56615B"/>
                    </a:solidFill>
                    <a:latin typeface="Calibri"/>
                    <a:ea typeface="Calibri"/>
                    <a:cs typeface="Calibri"/>
                  </a:rPr>
                  <a:t>Hansard excerpts per party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00">
                  <a:solidFill>
                    <a:srgbClr val="56615B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D0C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200">
                <a:solidFill>
                  <a:srgbClr val="1F2A24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0C2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200">
                <a:solidFill>
                  <a:srgbClr val="1F2A24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4F1EA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00">
              <a:solidFill>
                <a:srgbClr val="1F2A24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4F1E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1F4D36"/>
                </a:solidFill>
                <a:latin typeface="Calibri"/>
                <a:ea typeface="Calibri"/>
                <a:cs typeface="Calibri"/>
              </a:rPr>
              <a:t>Logical reasoning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800" b="1">
              <a:solidFill>
                <a:srgbClr val="1F4D36"/>
              </a:solidFill>
              <a:latin typeface="Calibri"/>
              <a:ea typeface="Calibri"/>
              <a:cs typeface="Calibr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GPT-6 Luna</c:v>
          </c:tx>
          <c:spPr>
            <a:ln xmlns:a="http://schemas.openxmlformats.org/drawingml/2006/main" w="38100">
              <a:solidFill>
                <a:srgbClr val="1F4D36"/>
              </a:solidFill>
              <a:prstDash val="solid"/>
            </a:ln>
          </c:spPr>
          <c:marker>
            <c:symbol val="circle"/>
            <c:size val="11"/>
            <c:spPr>
              <a:solidFill xmlns:a="http://schemas.openxmlformats.org/drawingml/2006/main">
                <a:srgbClr val="1F4D36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100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3</c:v>
                </c:pt>
                <c:pt idx="1">
                  <c:v>2.97777777777778</c:v>
                </c:pt>
                <c:pt idx="2">
                  <c:v>3.06666666666667</c:v>
                </c:pt>
              </c:numCache>
            </c:numRef>
          </c:val>
          <c:smooth val="0"/>
        </c:ser>
        <c:ser>
          <c:idx val="1"/>
          <c:order val="1"/>
          <c:tx>
            <c:v>Qwen3:8b</c:v>
          </c:tx>
          <c:spPr>
            <a:ln xmlns:a="http://schemas.openxmlformats.org/drawingml/2006/main" w="38100">
              <a:solidFill>
                <a:srgbClr val="C9971C"/>
              </a:solidFill>
              <a:prstDash val="solid"/>
            </a:ln>
          </c:spPr>
          <c:marker>
            <c:symbol val="square"/>
            <c:size val="11"/>
            <c:spPr>
              <a:solidFill xmlns:a="http://schemas.openxmlformats.org/drawingml/2006/main">
                <a:srgbClr val="C9971C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100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2.64444444444444</c:v>
                </c:pt>
                <c:pt idx="1">
                  <c:v>2.66666666666667</c:v>
                </c:pt>
                <c:pt idx="2">
                  <c:v>2.62222222222222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000">
                    <a:solidFill>
                      <a:srgbClr val="56615B"/>
                    </a:solidFill>
                    <a:latin typeface="Calibri"/>
                    <a:ea typeface="Calibri"/>
                    <a:cs typeface="Calibri"/>
                  </a:rPr>
                  <a:t>Hansard excerpts per party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00">
                  <a:solidFill>
                    <a:srgbClr val="56615B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D0C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200">
                <a:solidFill>
                  <a:srgbClr val="1F2A24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0C2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200">
                <a:solidFill>
                  <a:srgbClr val="1F2A24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4F1EA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00">
              <a:solidFill>
                <a:srgbClr val="1F2A24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4F1E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1F4D36"/>
                </a:solidFill>
                <a:latin typeface="Calibri"/>
                <a:ea typeface="Calibri"/>
                <a:cs typeface="Calibri"/>
              </a:rPr>
              <a:t>Responsiveness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800" b="1">
              <a:solidFill>
                <a:srgbClr val="1F4D36"/>
              </a:solidFill>
              <a:latin typeface="Calibri"/>
              <a:ea typeface="Calibri"/>
              <a:cs typeface="Calibr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GPT-6 Luna</c:v>
          </c:tx>
          <c:spPr>
            <a:ln xmlns:a="http://schemas.openxmlformats.org/drawingml/2006/main" w="38100">
              <a:solidFill>
                <a:srgbClr val="1F4D36"/>
              </a:solidFill>
              <a:prstDash val="solid"/>
            </a:ln>
          </c:spPr>
          <c:marker>
            <c:symbol val="circle"/>
            <c:size val="11"/>
            <c:spPr>
              <a:solidFill xmlns:a="http://schemas.openxmlformats.org/drawingml/2006/main">
                <a:srgbClr val="1F4D36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100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3.48888888888889</c:v>
                </c:pt>
                <c:pt idx="1">
                  <c:v>3.4</c:v>
                </c:pt>
                <c:pt idx="2">
                  <c:v>3.42222222222222</c:v>
                </c:pt>
              </c:numCache>
            </c:numRef>
          </c:val>
          <c:smooth val="0"/>
        </c:ser>
        <c:ser>
          <c:idx val="1"/>
          <c:order val="1"/>
          <c:tx>
            <c:v>Qwen3:8b</c:v>
          </c:tx>
          <c:spPr>
            <a:ln xmlns:a="http://schemas.openxmlformats.org/drawingml/2006/main" w="38100">
              <a:solidFill>
                <a:srgbClr val="C9971C"/>
              </a:solidFill>
              <a:prstDash val="solid"/>
            </a:ln>
          </c:spPr>
          <c:marker>
            <c:symbol val="square"/>
            <c:size val="11"/>
            <c:spPr>
              <a:solidFill xmlns:a="http://schemas.openxmlformats.org/drawingml/2006/main">
                <a:srgbClr val="C9971C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100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2.66666666666667</c:v>
                </c:pt>
                <c:pt idx="1">
                  <c:v>2.68888888888889</c:v>
                </c:pt>
                <c:pt idx="2">
                  <c:v>2.71111111111111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000">
                    <a:solidFill>
                      <a:srgbClr val="56615B"/>
                    </a:solidFill>
                    <a:latin typeface="Calibri"/>
                    <a:ea typeface="Calibri"/>
                    <a:cs typeface="Calibri"/>
                  </a:rPr>
                  <a:t>Hansard excerpts per party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00">
                  <a:solidFill>
                    <a:srgbClr val="56615B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D0C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200">
                <a:solidFill>
                  <a:srgbClr val="1F2A24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0C2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200">
                <a:solidFill>
                  <a:srgbClr val="1F2A24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4F1EA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00">
              <a:solidFill>
                <a:srgbClr val="1F2A24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4F1E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DA622F3-A8B5-45EF-BDC3-4E823830739B}"/>
              </a:ext>
            </a:extLst>
          </p:cNvPr>
          <p:cNvCxnSpPr>
            <a:stCxn xmlns:a="http://schemas.openxmlformats.org/drawingml/2006/main" id="41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16825320" y="15354000"/>
            <a:ext cx="53136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971C"/>
            </a:solidFill>
            <a:prstDash val="solid"/>
            <a:tailEnd type="triangle" w="med" len="med"/>
          </a:ln>
        </p:spPr>
      </p:cxnSp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66C4DB1-DD6A-413F-BB21-AA4D7B3F5665}"/>
              </a:ext>
            </a:extLst>
          </p:cNvPr>
          <p:cNvCxnSpPr>
            <a:stCxn xmlns:a="http://schemas.openxmlformats.org/drawingml/2006/main" id="38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2703320" y="15354000"/>
            <a:ext cx="53136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971C"/>
            </a:solidFill>
            <a:prstDash val="solid"/>
            <a:tailEnd type="triangle" w="med" len="med"/>
          </a:ln>
        </p:spPr>
      </p:cxn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45B6579-E75B-4B0D-AE60-96CB22692A9A}"/>
              </a:ext>
            </a:extLst>
          </p:cNvPr>
          <p:cNvCxnSpPr>
            <a:stCxn xmlns:a="http://schemas.openxmlformats.org/drawingml/2006/main" id="35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8581320" y="15354000"/>
            <a:ext cx="53136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971C"/>
            </a:solidFill>
            <a:prstDash val="solid"/>
            <a:tailEnd type="triangle" w="med" len="med"/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8EA407-C18B-47CD-898D-16F1D270D8B5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4459320" y="15354000"/>
            <a:ext cx="53136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971C"/>
            </a:solidFill>
            <a:prstDash val="solid"/>
            <a:tailEnd type="triangle" w="med" len="med"/>
          </a:ln>
        </p:spPr>
      </p:cxnSp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5B7F514-BF66-4F9A-B0BD-21CEA7F7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816000" cy="43708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2C"/>
          </a:solidFill>
        </p:spPr>
      </p:sp>
      <p:pic>
        <p:nvPicPr>
          <p:cNvPr id="3" name="Image 0">
            <a:extLst xmlns:a="http://schemas.openxmlformats.org/drawingml/2006/main">
              <a:ext uri="{FF2B5EF4-FFF2-40B4-BE49-F238E27FC236}">
                <a16:creationId xmlns:a16="http://schemas.microsoft.com/office/drawing/2014/main" id="{1016EB36-F477-4CE0-8479-656417312A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839af255a43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" y="658368"/>
            <a:ext cx="2788784" cy="109728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8CCFC7B-942F-49B5-A901-9ADCD0E3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8920" y="658368"/>
            <a:ext cx="1005840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95000"/>
              </a:lnSpc>
              <a:buNone/>
            </a:pPr>
            <a:r>
              <a:rPr sz="3200" b="1">
                <a:solidFill>
                  <a:srgbClr val="F2C14E"/>
                </a:solidFill>
                <a:latin typeface="Calibri"/>
                <a:ea typeface="Calibri"/>
                <a:cs typeface="Calibri"/>
              </a:rPr>
              <a:t>Part IV Project #123</a:t>
            </a:r>
            <a:endParaRPr sz="3200"/>
          </a:p>
          <a:p xmlns:a="http://schemas.openxmlformats.org/drawingml/2006/main">
            <a:pPr marL="0" indent="0" algn="r">
              <a:lnSpc>
                <a:spcPct val="95000"/>
              </a:lnSpc>
              <a:buNone/>
            </a:pPr>
            <a:r>
              <a:rPr sz="2600">
                <a:solidFill>
                  <a:srgbClr val="E6EFE9"/>
                </a:solidFill>
                <a:latin typeface="Calibri"/>
                <a:ea typeface="Calibri"/>
                <a:cs typeface="Calibri"/>
              </a:rPr>
              <a:t>Department of Electrical, Computer,</a:t>
            </a:r>
            <a:endParaRPr sz="3200"/>
          </a:p>
          <a:p xmlns:a="http://schemas.openxmlformats.org/drawingml/2006/main">
            <a:pPr marL="0" indent="0" algn="r">
              <a:lnSpc>
                <a:spcPct val="95000"/>
              </a:lnSpc>
              <a:buNone/>
            </a:pPr>
            <a:r>
              <a:rPr sz="2600">
                <a:solidFill>
                  <a:srgbClr val="E6EFE9"/>
                </a:solidFill>
                <a:latin typeface="Calibri"/>
                <a:ea typeface="Calibri"/>
                <a:cs typeface="Calibri"/>
              </a:rPr>
              <a:t>and Software Engineering</a:t>
            </a:r>
            <a:endParaRPr sz="32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E7F33AC-3D7C-41A5-BFB9-4B18E60E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783080"/>
            <a:ext cx="20078640" cy="1261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AI-Based Virtual Parliament</a:t>
            </a:r>
            <a:endParaRPr sz="94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AA9864A-9595-4D4C-B91C-532746AC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090672"/>
            <a:ext cx="2007864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i="1">
                <a:solidFill>
                  <a:srgbClr val="F2C14E"/>
                </a:solidFill>
                <a:latin typeface="Cambria"/>
                <a:ea typeface="Cambria"/>
                <a:cs typeface="Cambria"/>
              </a:rPr>
              <a:t>Does more Hansard grounding improve AI debate?</a:t>
            </a:r>
            <a:endParaRPr sz="44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3363BC4-A9CE-48EB-8715-1F14B6BA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30752"/>
            <a:ext cx="200786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Albert Sun &amp; Kieran Joe</a:t>
            </a:r>
            <a:r>
              <a:rPr sz="3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 ·   Supervisor: Dr Joerg Wicker</a:t>
            </a:r>
            <a:endParaRPr sz="3600"/>
          </a:p>
        </p:txBody>
      </p:sp>
      <p:sp>
        <p:nvSpPr>
          <p:cNvPr id="8" name="Project overview">
            <a:extLst xmlns:a="http://schemas.openxmlformats.org/drawingml/2006/main">
              <a:ext uri="{FF2B5EF4-FFF2-40B4-BE49-F238E27FC236}">
                <a16:creationId xmlns:a16="http://schemas.microsoft.com/office/drawing/2014/main" id="{A3DD3CBA-56E5-4CC4-985B-619B479A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680000"/>
            <a:ext cx="2007864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 i="0">
                <a:solidFill>
                  <a:srgbClr val="1F2A2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300" b="0" i="0">
                <a:solidFill>
                  <a:srgbClr val="1F2A24"/>
                </a:solidFill>
                <a:latin typeface="Calibri"/>
                <a:ea typeface="Calibri"/>
                <a:cs typeface="Calibri"/>
              </a:defRPr>
            </a:pPr>
            <a:r>
              <a:rPr sz="3300" b="0" i="0">
                <a:solidFill>
                  <a:srgbClr val="1F2A24"/>
                </a:solidFill>
                <a:latin typeface="Calibri"/>
                <a:ea typeface="Calibri"/>
                <a:cs typeface="Calibri"/>
              </a:rPr>
              <a:t>We built a virtual New Zealand Parliament to study how language models debate. We tested whether more Hansard excerpts, drawn from real parliamentary speeches, improve debate quality.</a:t>
            </a:r>
          </a:p>
        </p:txBody>
      </p:sp>
      <p:sp>
        <p:nvSpPr>
          <p:cNvPr id="9" name="Section 1 number">
            <a:extLst xmlns:a="http://schemas.openxmlformats.org/drawingml/2006/main">
              <a:ext uri="{FF2B5EF4-FFF2-40B4-BE49-F238E27FC236}">
                <a16:creationId xmlns:a16="http://schemas.microsoft.com/office/drawing/2014/main" id="{29B58222-2B81-43AF-AB3B-A07A27F2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940000"/>
            <a:ext cx="712800" cy="712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71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7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ctr">
              <a:defRPr sz="37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10" name="Section 1 title">
            <a:extLst xmlns:a="http://schemas.openxmlformats.org/drawingml/2006/main">
              <a:ext uri="{FF2B5EF4-FFF2-40B4-BE49-F238E27FC236}">
                <a16:creationId xmlns:a16="http://schemas.microsoft.com/office/drawing/2014/main" id="{4A4B24CB-349B-421D-A98E-22DD152A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6000" y="5886000"/>
            <a:ext cx="1908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300" b="1" i="0">
                <a:solidFill>
                  <a:srgbClr val="1F4D36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5300" b="1" i="0">
                <a:solidFill>
                  <a:srgbClr val="1F4D36"/>
                </a:solidFill>
                <a:latin typeface="Cambria"/>
                <a:ea typeface="Cambria"/>
                <a:cs typeface="Cambria"/>
              </a:defRPr>
            </a:pPr>
            <a:r>
              <a:rPr sz="5300" b="1" i="0">
                <a:solidFill>
                  <a:srgbClr val="1F4D36"/>
                </a:solidFill>
                <a:latin typeface="Cambria"/>
                <a:ea typeface="Cambria"/>
                <a:cs typeface="Cambria"/>
              </a:rPr>
              <a:t>One platform, three interfaces</a:t>
            </a:r>
          </a:p>
        </p:txBody>
      </p:sp>
      <p:sp>
        <p:nvSpPr>
          <p:cNvPr id="11" name="Screenshot border">
            <a:extLst xmlns:a="http://schemas.openxmlformats.org/drawingml/2006/main">
              <a:ext uri="{FF2B5EF4-FFF2-40B4-BE49-F238E27FC236}">
                <a16:creationId xmlns:a16="http://schemas.microsoft.com/office/drawing/2014/main" id="{7902646E-25D6-4F03-B946-0598AE74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000" y="6998400"/>
            <a:ext cx="10483200" cy="557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D0C2"/>
            </a:solidFill>
            <a:prstDash val="solid"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09A76D-DCD7-489C-88D2-F51CD52BA8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124ee819b14ed1"/>
          <a:stretch xmlns:a="http://schemas.openxmlformats.org/drawingml/2006/main"/>
        </p:blipFill>
        <p:spPr>
          <a:xfrm xmlns:a="http://schemas.openxmlformats.org/drawingml/2006/main">
            <a:off x="873710" y="7020000"/>
            <a:ext cx="10429941" cy="5528160"/>
          </a:xfrm>
          <a:prstGeom xmlns:a="http://schemas.openxmlformats.org/drawingml/2006/main" prst="rect">
            <a:avLst/>
          </a:prstGeom>
        </p:spPr>
      </p:pic>
      <p:sp>
        <p:nvSpPr>
          <p:cNvPr id="13" name="Callout A">
            <a:extLst xmlns:a="http://schemas.openxmlformats.org/drawingml/2006/main">
              <a:ext uri="{FF2B5EF4-FFF2-40B4-BE49-F238E27FC236}">
                <a16:creationId xmlns:a16="http://schemas.microsoft.com/office/drawing/2014/main" id="{90194C72-8E6D-4428-8143-2EBBA2EB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000" y="7920000"/>
            <a:ext cx="540000" cy="5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71C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</a:t>
            </a:r>
          </a:p>
        </p:txBody>
      </p:sp>
      <p:sp>
        <p:nvSpPr>
          <p:cNvPr id="14" name="Callout B">
            <a:extLst xmlns:a="http://schemas.openxmlformats.org/drawingml/2006/main">
              <a:ext uri="{FF2B5EF4-FFF2-40B4-BE49-F238E27FC236}">
                <a16:creationId xmlns:a16="http://schemas.microsoft.com/office/drawing/2014/main" id="{B961D3CE-0586-4C3D-A418-038016EF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000" y="8784000"/>
            <a:ext cx="540000" cy="5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71C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</a:t>
            </a:r>
          </a:p>
        </p:txBody>
      </p:sp>
      <p:sp>
        <p:nvSpPr>
          <p:cNvPr id="15" name="Callout C">
            <a:extLst xmlns:a="http://schemas.openxmlformats.org/drawingml/2006/main">
              <a:ext uri="{FF2B5EF4-FFF2-40B4-BE49-F238E27FC236}">
                <a16:creationId xmlns:a16="http://schemas.microsoft.com/office/drawing/2014/main" id="{AC67C36B-B237-4090-A44D-D84A8843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6000" y="7164000"/>
            <a:ext cx="540000" cy="5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71C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</a:t>
            </a:r>
          </a:p>
        </p:txBody>
      </p:sp>
      <p:sp>
        <p:nvSpPr>
          <p:cNvPr id="16" name="Callout D">
            <a:extLst xmlns:a="http://schemas.openxmlformats.org/drawingml/2006/main">
              <a:ext uri="{FF2B5EF4-FFF2-40B4-BE49-F238E27FC236}">
                <a16:creationId xmlns:a16="http://schemas.microsoft.com/office/drawing/2014/main" id="{3EF40AF1-F819-4927-AE10-AE844CB0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4000" y="7056000"/>
            <a:ext cx="540000" cy="5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71C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</a:t>
            </a:r>
          </a:p>
        </p:txBody>
      </p:sp>
      <p:sp>
        <p:nvSpPr>
          <p:cNvPr id="17" name="Callout A">
            <a:extLst xmlns:a="http://schemas.openxmlformats.org/drawingml/2006/main">
              <a:ext uri="{FF2B5EF4-FFF2-40B4-BE49-F238E27FC236}">
                <a16:creationId xmlns:a16="http://schemas.microsoft.com/office/drawing/2014/main" id="{93090F0D-444E-4698-BA39-16CDF466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4000" y="7020000"/>
            <a:ext cx="594000" cy="59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71C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</a:t>
            </a:r>
          </a:p>
        </p:txBody>
      </p:sp>
      <p:sp>
        <p:nvSpPr>
          <p:cNvPr id="18" name="Callout A heading">
            <a:extLst xmlns:a="http://schemas.openxmlformats.org/drawingml/2006/main">
              <a:ext uri="{FF2B5EF4-FFF2-40B4-BE49-F238E27FC236}">
                <a16:creationId xmlns:a16="http://schemas.microsoft.com/office/drawing/2014/main" id="{AACC33C9-097D-4B42-BA52-EA467FDE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8000" y="6984000"/>
            <a:ext cx="841932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 i="0">
                <a:solidFill>
                  <a:srgbClr val="1F2A24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F2A24"/>
                </a:solidFill>
                <a:latin typeface="Cambria"/>
                <a:ea typeface="Cambria"/>
                <a:cs typeface="Cambria"/>
              </a:defRPr>
            </a:pPr>
            <a:r>
              <a:rPr sz="3000" b="1" i="0">
                <a:solidFill>
                  <a:srgbClr val="1F2A24"/>
                </a:solidFill>
                <a:latin typeface="Cambria"/>
                <a:ea typeface="Cambria"/>
                <a:cs typeface="Cambria"/>
              </a:rPr>
              <a:t>Chamber and party agents</a:t>
            </a:r>
          </a:p>
        </p:txBody>
      </p:sp>
      <p:sp>
        <p:nvSpPr>
          <p:cNvPr id="19" name="Callout A detail">
            <a:extLst xmlns:a="http://schemas.openxmlformats.org/drawingml/2006/main">
              <a:ext uri="{FF2B5EF4-FFF2-40B4-BE49-F238E27FC236}">
                <a16:creationId xmlns:a16="http://schemas.microsoft.com/office/drawing/2014/main" id="{9EEBDB2C-EB5A-4884-9F93-6AF0C85A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8000" y="7560000"/>
            <a:ext cx="841932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0" i="0">
                <a:solidFill>
                  <a:srgbClr val="5661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00" b="0" i="0">
                <a:solidFill>
                  <a:srgbClr val="56615B"/>
                </a:solidFill>
                <a:latin typeface="Calibri"/>
                <a:ea typeface="Calibri"/>
                <a:cs typeface="Calibri"/>
              </a:defRPr>
            </a:pPr>
            <a:r>
              <a:rPr sz="2800" b="0" i="0">
                <a:solidFill>
                  <a:srgbClr val="56615B"/>
                </a:solidFill>
                <a:latin typeface="Calibri"/>
                <a:ea typeface="Calibri"/>
                <a:cs typeface="Calibri"/>
              </a:rPr>
              <a:t>Watch who has the floor and each party’s role.</a:t>
            </a:r>
          </a:p>
        </p:txBody>
      </p:sp>
      <p:sp>
        <p:nvSpPr>
          <p:cNvPr id="20" name="Callout B">
            <a:extLst xmlns:a="http://schemas.openxmlformats.org/drawingml/2006/main">
              <a:ext uri="{FF2B5EF4-FFF2-40B4-BE49-F238E27FC236}">
                <a16:creationId xmlns:a16="http://schemas.microsoft.com/office/drawing/2014/main" id="{58D6D10E-69BA-4D3F-8587-5811704D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4000" y="8424000"/>
            <a:ext cx="594000" cy="59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71C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</a:t>
            </a:r>
          </a:p>
        </p:txBody>
      </p:sp>
      <p:sp>
        <p:nvSpPr>
          <p:cNvPr id="21" name="Callout B heading">
            <a:extLst xmlns:a="http://schemas.openxmlformats.org/drawingml/2006/main">
              <a:ext uri="{FF2B5EF4-FFF2-40B4-BE49-F238E27FC236}">
                <a16:creationId xmlns:a16="http://schemas.microsoft.com/office/drawing/2014/main" id="{96FC5E94-0982-4385-A5E7-D6E2EE28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8000" y="8388000"/>
            <a:ext cx="841932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 i="0">
                <a:solidFill>
                  <a:srgbClr val="1F2A24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F2A24"/>
                </a:solidFill>
                <a:latin typeface="Cambria"/>
                <a:ea typeface="Cambria"/>
                <a:cs typeface="Cambria"/>
              </a:defRPr>
            </a:pPr>
            <a:r>
              <a:rPr sz="3000" b="1" i="0">
                <a:solidFill>
                  <a:srgbClr val="1F2A24"/>
                </a:solidFill>
                <a:latin typeface="Cambria"/>
                <a:ea typeface="Cambria"/>
                <a:cs typeface="Cambria"/>
              </a:rPr>
              <a:t>Live and saved Hansard</a:t>
            </a:r>
          </a:p>
        </p:txBody>
      </p:sp>
      <p:sp>
        <p:nvSpPr>
          <p:cNvPr id="22" name="Callout B detail">
            <a:extLst xmlns:a="http://schemas.openxmlformats.org/drawingml/2006/main">
              <a:ext uri="{FF2B5EF4-FFF2-40B4-BE49-F238E27FC236}">
                <a16:creationId xmlns:a16="http://schemas.microsoft.com/office/drawing/2014/main" id="{B18B6152-E7DB-4F42-ACD7-3BDE05F1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8000" y="8964000"/>
            <a:ext cx="841932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0" i="0">
                <a:solidFill>
                  <a:srgbClr val="5661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00" b="0" i="0">
                <a:solidFill>
                  <a:srgbClr val="56615B"/>
                </a:solidFill>
                <a:latin typeface="Calibri"/>
                <a:ea typeface="Calibri"/>
                <a:cs typeface="Calibri"/>
              </a:defRPr>
            </a:pPr>
            <a:r>
              <a:rPr sz="2800" b="0" i="0">
                <a:solidFill>
                  <a:srgbClr val="56615B"/>
                </a:solidFill>
                <a:latin typeface="Calibri"/>
                <a:ea typeface="Calibri"/>
                <a:cs typeface="Calibri"/>
              </a:rPr>
              <a:t>Speeches stream to a transcript that can be reopened after restart.</a:t>
            </a:r>
          </a:p>
        </p:txBody>
      </p:sp>
      <p:sp>
        <p:nvSpPr>
          <p:cNvPr id="23" name="Callout C">
            <a:extLst xmlns:a="http://schemas.openxmlformats.org/drawingml/2006/main">
              <a:ext uri="{FF2B5EF4-FFF2-40B4-BE49-F238E27FC236}">
                <a16:creationId xmlns:a16="http://schemas.microsoft.com/office/drawing/2014/main" id="{EE3F7B02-F33D-47B1-8040-0B2467DA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4000" y="9828000"/>
            <a:ext cx="594000" cy="59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71C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</a:t>
            </a:r>
          </a:p>
        </p:txBody>
      </p:sp>
      <p:sp>
        <p:nvSpPr>
          <p:cNvPr id="24" name="Callout C heading">
            <a:extLst xmlns:a="http://schemas.openxmlformats.org/drawingml/2006/main">
              <a:ext uri="{FF2B5EF4-FFF2-40B4-BE49-F238E27FC236}">
                <a16:creationId xmlns:a16="http://schemas.microsoft.com/office/drawing/2014/main" id="{BFA36417-D83F-41C7-9DCB-A29D544C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8000" y="9792000"/>
            <a:ext cx="841932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 i="0">
                <a:solidFill>
                  <a:srgbClr val="1F2A24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F2A24"/>
                </a:solidFill>
                <a:latin typeface="Cambria"/>
                <a:ea typeface="Cambria"/>
                <a:cs typeface="Cambria"/>
              </a:defRPr>
            </a:pPr>
            <a:r>
              <a:rPr sz="3000" b="1" i="0">
                <a:solidFill>
                  <a:srgbClr val="1F2A24"/>
                </a:solidFill>
                <a:latin typeface="Cambria"/>
                <a:ea typeface="Cambria"/>
                <a:cs typeface="Cambria"/>
              </a:rPr>
              <a:t>The Speaker’s Chair</a:t>
            </a:r>
          </a:p>
        </p:txBody>
      </p:sp>
      <p:sp>
        <p:nvSpPr>
          <p:cNvPr id="25" name="Callout C detail">
            <a:extLst xmlns:a="http://schemas.openxmlformats.org/drawingml/2006/main">
              <a:ext uri="{FF2B5EF4-FFF2-40B4-BE49-F238E27FC236}">
                <a16:creationId xmlns:a16="http://schemas.microsoft.com/office/drawing/2014/main" id="{B0505173-BE1C-4B85-9A12-FCFFD635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8000" y="10368000"/>
            <a:ext cx="841932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0" i="0">
                <a:solidFill>
                  <a:srgbClr val="5661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00" b="0" i="0">
                <a:solidFill>
                  <a:srgbClr val="56615B"/>
                </a:solidFill>
                <a:latin typeface="Calibri"/>
                <a:ea typeface="Calibri"/>
                <a:cs typeface="Calibri"/>
              </a:defRPr>
            </a:pPr>
            <a:r>
              <a:rPr sz="2800" b="0" i="0">
                <a:solidFill>
                  <a:srgbClr val="56615B"/>
                </a:solidFill>
                <a:latin typeface="Calibri"/>
                <a:ea typeface="Calibri"/>
                <a:cs typeface="Calibri"/>
              </a:rPr>
              <a:t>Rulings reach every agent before the next speech.</a:t>
            </a:r>
          </a:p>
        </p:txBody>
      </p:sp>
      <p:sp>
        <p:nvSpPr>
          <p:cNvPr id="26" name="Callout D">
            <a:extLst xmlns:a="http://schemas.openxmlformats.org/drawingml/2006/main">
              <a:ext uri="{FF2B5EF4-FFF2-40B4-BE49-F238E27FC236}">
                <a16:creationId xmlns:a16="http://schemas.microsoft.com/office/drawing/2014/main" id="{293D8C09-A0FC-4495-BE7C-40A5224D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4000" y="11232000"/>
            <a:ext cx="594000" cy="59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71C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</a:t>
            </a:r>
          </a:p>
        </p:txBody>
      </p:sp>
      <p:sp>
        <p:nvSpPr>
          <p:cNvPr id="27" name="Callout D heading">
            <a:extLst xmlns:a="http://schemas.openxmlformats.org/drawingml/2006/main">
              <a:ext uri="{FF2B5EF4-FFF2-40B4-BE49-F238E27FC236}">
                <a16:creationId xmlns:a16="http://schemas.microsoft.com/office/drawing/2014/main" id="{8AFDA614-7713-41DB-8F50-7B3DEF78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8000" y="11196000"/>
            <a:ext cx="841932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 i="0">
                <a:solidFill>
                  <a:srgbClr val="1F2A24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F2A24"/>
                </a:solidFill>
                <a:latin typeface="Cambria"/>
                <a:ea typeface="Cambria"/>
                <a:cs typeface="Cambria"/>
              </a:defRPr>
            </a:pPr>
            <a:r>
              <a:rPr sz="3000" b="1" i="0">
                <a:solidFill>
                  <a:srgbClr val="1F2A24"/>
                </a:solidFill>
                <a:latin typeface="Cambria"/>
                <a:ea typeface="Cambria"/>
                <a:cs typeface="Cambria"/>
              </a:rPr>
              <a:t>Exports and evaluation</a:t>
            </a:r>
          </a:p>
        </p:txBody>
      </p:sp>
      <p:sp>
        <p:nvSpPr>
          <p:cNvPr id="28" name="Callout D detail">
            <a:extLst xmlns:a="http://schemas.openxmlformats.org/drawingml/2006/main">
              <a:ext uri="{FF2B5EF4-FFF2-40B4-BE49-F238E27FC236}">
                <a16:creationId xmlns:a16="http://schemas.microsoft.com/office/drawing/2014/main" id="{A29E22A1-0E1D-45A9-8C69-E880135A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8000" y="11772000"/>
            <a:ext cx="841932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0" i="0">
                <a:solidFill>
                  <a:srgbClr val="5661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00" b="0" i="0">
                <a:solidFill>
                  <a:srgbClr val="56615B"/>
                </a:solidFill>
                <a:latin typeface="Calibri"/>
                <a:ea typeface="Calibri"/>
                <a:cs typeface="Calibri"/>
              </a:defRPr>
            </a:pPr>
            <a:r>
              <a:rPr sz="2800" b="0" i="0">
                <a:solidFill>
                  <a:srgbClr val="56615B"/>
                </a:solidFill>
                <a:latin typeface="Calibri"/>
                <a:ea typeface="Calibri"/>
                <a:cs typeface="Calibri"/>
              </a:rPr>
              <a:t>Download JSON/text and run local analysis or the separate LLM rubric.</a:t>
            </a:r>
          </a:p>
        </p:txBody>
      </p:sp>
      <p:sp>
        <p:nvSpPr>
          <p:cNvPr id="29" name="Frontend caption">
            <a:extLst xmlns:a="http://schemas.openxmlformats.org/drawingml/2006/main">
              <a:ext uri="{FF2B5EF4-FFF2-40B4-BE49-F238E27FC236}">
                <a16:creationId xmlns:a16="http://schemas.microsoft.com/office/drawing/2014/main" id="{C46B8AB4-514C-4871-B680-2B059464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2852000"/>
            <a:ext cx="2007864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0" i="1">
                <a:solidFill>
                  <a:srgbClr val="5661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300" b="0" i="1">
                <a:solidFill>
                  <a:srgbClr val="56615B"/>
                </a:solidFill>
                <a:latin typeface="Calibri"/>
                <a:ea typeface="Calibri"/>
                <a:cs typeface="Calibri"/>
              </a:defRPr>
            </a:pPr>
            <a:r>
              <a:rPr sz="2300" b="0" i="1">
                <a:solidFill>
                  <a:srgbClr val="56615B"/>
                </a:solidFill>
                <a:latin typeface="Calibri"/>
                <a:ea typeface="Calibri"/>
                <a:cs typeface="Calibri"/>
              </a:rPr>
              <a:t>Fig. 1 Updated browser (deterministic demo). Browser, guided CLI and commands share one backend.</a:t>
            </a:r>
          </a:p>
        </p:txBody>
      </p:sp>
      <p:sp>
        <p:nvSpPr>
          <p:cNvPr id="30" name="Section 2 number">
            <a:extLst xmlns:a="http://schemas.openxmlformats.org/drawingml/2006/main">
              <a:ext uri="{FF2B5EF4-FFF2-40B4-BE49-F238E27FC236}">
                <a16:creationId xmlns:a16="http://schemas.microsoft.com/office/drawing/2014/main" id="{7793E4B7-0B8F-49BB-92C3-DCD74F90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3536000"/>
            <a:ext cx="712800" cy="712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71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7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ctr">
              <a:defRPr sz="37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31" name="Section 2 title">
            <a:extLst xmlns:a="http://schemas.openxmlformats.org/drawingml/2006/main">
              <a:ext uri="{FF2B5EF4-FFF2-40B4-BE49-F238E27FC236}">
                <a16:creationId xmlns:a16="http://schemas.microsoft.com/office/drawing/2014/main" id="{514E9BC7-2A4F-4A15-88E6-02387848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6000" y="13482000"/>
            <a:ext cx="1908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300" b="1" i="0">
                <a:solidFill>
                  <a:srgbClr val="1F4D36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5300" b="1" i="0">
                <a:solidFill>
                  <a:srgbClr val="1F4D36"/>
                </a:solidFill>
                <a:latin typeface="Cambria"/>
                <a:ea typeface="Cambria"/>
                <a:cs typeface="Cambria"/>
              </a:defRPr>
            </a:pPr>
            <a:r>
              <a:rPr sz="5300" b="1" i="0">
                <a:solidFill>
                  <a:srgbClr val="1F4D36"/>
                </a:solidFill>
                <a:latin typeface="Cambria"/>
                <a:ea typeface="Cambria"/>
                <a:cs typeface="Cambria"/>
              </a:rPr>
              <a:t>Private agents, reproducible debates</a:t>
            </a:r>
          </a:p>
        </p:txBody>
      </p:sp>
      <p:sp>
        <p:nvSpPr>
          <p:cNvPr id="32" name="Hansard corpus">
            <a:extLst xmlns:a="http://schemas.openxmlformats.org/drawingml/2006/main">
              <a:ext uri="{FF2B5EF4-FFF2-40B4-BE49-F238E27FC236}">
                <a16:creationId xmlns:a16="http://schemas.microsoft.com/office/drawing/2014/main" id="{0CA7BB97-F69C-405F-942C-95990C79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4508000"/>
            <a:ext cx="3590640" cy="16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D6D0C2"/>
            </a:solidFill>
            <a:prstDash val="solid"/>
          </a:ln>
        </p:spPr>
      </p:sp>
      <p:sp>
        <p:nvSpPr>
          <p:cNvPr id="33" name="Hansard corpus title">
            <a:extLst xmlns:a="http://schemas.openxmlformats.org/drawingml/2006/main">
              <a:ext uri="{FF2B5EF4-FFF2-40B4-BE49-F238E27FC236}">
                <a16:creationId xmlns:a16="http://schemas.microsoft.com/office/drawing/2014/main" id="{332A67F7-2544-4F6C-8FF7-7F4620A4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680" y="14652000"/>
            <a:ext cx="337464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900" b="1" i="0">
                <a:solidFill>
                  <a:srgbClr val="1F4D36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900" b="1" i="0">
                <a:solidFill>
                  <a:srgbClr val="1F4D36"/>
                </a:solidFill>
                <a:latin typeface="Cambria"/>
                <a:ea typeface="Cambria"/>
                <a:cs typeface="Cambria"/>
              </a:defRPr>
            </a:pPr>
            <a:r>
              <a:rPr sz="2900" b="1" i="0">
                <a:solidFill>
                  <a:srgbClr val="1F4D36"/>
                </a:solidFill>
                <a:latin typeface="Cambria"/>
                <a:ea typeface="Cambria"/>
                <a:cs typeface="Cambria"/>
              </a:rPr>
              <a:t>Real Hansard</a:t>
            </a:r>
          </a:p>
        </p:txBody>
      </p:sp>
      <p:sp>
        <p:nvSpPr>
          <p:cNvPr id="34" name="Hansard corpus description">
            <a:extLst xmlns:a="http://schemas.openxmlformats.org/drawingml/2006/main">
              <a:ext uri="{FF2B5EF4-FFF2-40B4-BE49-F238E27FC236}">
                <a16:creationId xmlns:a16="http://schemas.microsoft.com/office/drawing/2014/main" id="{CACFF53D-2945-453A-BB7B-3D2C7056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680" y="15228000"/>
            <a:ext cx="3302640" cy="8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500" b="0" i="0">
                <a:solidFill>
                  <a:srgbClr val="5661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500" b="0" i="0">
                <a:solidFill>
                  <a:srgbClr val="56615B"/>
                </a:solidFill>
                <a:latin typeface="Calibri"/>
                <a:ea typeface="Calibri"/>
                <a:cs typeface="Calibri"/>
              </a:defRPr>
            </a:pPr>
            <a:r>
              <a:rPr sz="2500" b="0" i="0">
                <a:solidFill>
                  <a:srgbClr val="56615B"/>
                </a:solidFill>
                <a:latin typeface="Calibri"/>
                <a:ea typeface="Calibri"/>
                <a:cs typeface="Calibri"/>
              </a:rPr>
              <a:t>500 reviewed excerpts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500" b="0" i="0">
                <a:solidFill>
                  <a:srgbClr val="56615B"/>
                </a:solidFill>
                <a:latin typeface="Calibri"/>
                <a:ea typeface="Calibri"/>
                <a:cs typeface="Calibri"/>
              </a:defRPr>
            </a:pPr>
            <a:r>
              <a:rPr sz="2500" b="0" i="0">
                <a:solidFill>
                  <a:srgbClr val="56615B"/>
                </a:solidFill>
                <a:latin typeface="Calibri"/>
                <a:ea typeface="Calibri"/>
                <a:cs typeface="Calibri"/>
              </a:rPr>
              <a:t>100 per party [1]</a:t>
            </a:r>
          </a:p>
        </p:txBody>
      </p:sp>
      <p:sp>
        <p:nvSpPr>
          <p:cNvPr id="35" name="Agent setup">
            <a:extLst xmlns:a="http://schemas.openxmlformats.org/drawingml/2006/main">
              <a:ext uri="{FF2B5EF4-FFF2-40B4-BE49-F238E27FC236}">
                <a16:creationId xmlns:a16="http://schemas.microsoft.com/office/drawing/2014/main" id="{66BB9BA0-94C6-4035-A880-97F4ADFB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0680" y="14508000"/>
            <a:ext cx="3590640" cy="16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D6D0C2"/>
            </a:solidFill>
            <a:prstDash val="solid"/>
          </a:ln>
        </p:spPr>
      </p:sp>
      <p:sp>
        <p:nvSpPr>
          <p:cNvPr id="36" name="Agent setup title">
            <a:extLst xmlns:a="http://schemas.openxmlformats.org/drawingml/2006/main">
              <a:ext uri="{FF2B5EF4-FFF2-40B4-BE49-F238E27FC236}">
                <a16:creationId xmlns:a16="http://schemas.microsoft.com/office/drawing/2014/main" id="{9D34CABF-84E0-4BAE-9024-73A0FE75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680" y="14652000"/>
            <a:ext cx="337464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900" b="1" i="0">
                <a:solidFill>
                  <a:srgbClr val="1F4D36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900" b="1" i="0">
                <a:solidFill>
                  <a:srgbClr val="1F4D36"/>
                </a:solidFill>
                <a:latin typeface="Cambria"/>
                <a:ea typeface="Cambria"/>
                <a:cs typeface="Cambria"/>
              </a:defRPr>
            </a:pPr>
            <a:r>
              <a:rPr sz="2900" b="1" i="0">
                <a:solidFill>
                  <a:srgbClr val="1F4D36"/>
                </a:solidFill>
                <a:latin typeface="Cambria"/>
                <a:ea typeface="Cambria"/>
                <a:cs typeface="Cambria"/>
              </a:rPr>
              <a:t>Private setup</a:t>
            </a:r>
          </a:p>
        </p:txBody>
      </p:sp>
      <p:sp>
        <p:nvSpPr>
          <p:cNvPr id="37" name="Agent setup description">
            <a:extLst xmlns:a="http://schemas.openxmlformats.org/drawingml/2006/main">
              <a:ext uri="{FF2B5EF4-FFF2-40B4-BE49-F238E27FC236}">
                <a16:creationId xmlns:a16="http://schemas.microsoft.com/office/drawing/2014/main" id="{84EFA342-F4C3-4BE2-89A7-8EE5E618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4680" y="15228000"/>
            <a:ext cx="3302640" cy="8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500" b="0" i="0">
                <a:solidFill>
                  <a:srgbClr val="5661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500" b="0" i="0">
                <a:solidFill>
                  <a:srgbClr val="56615B"/>
                </a:solidFill>
                <a:latin typeface="Calibri"/>
                <a:ea typeface="Calibri"/>
                <a:cs typeface="Calibri"/>
              </a:defRPr>
            </a:pPr>
            <a:r>
              <a:rPr sz="2500" b="0" i="0">
                <a:solidFill>
                  <a:srgbClr val="56615B"/>
                </a:solidFill>
                <a:latin typeface="Calibri"/>
                <a:ea typeface="Calibri"/>
                <a:cs typeface="Calibri"/>
              </a:rPr>
              <a:t>Own persona, excerpts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500" b="0" i="0">
                <a:solidFill>
                  <a:srgbClr val="56615B"/>
                </a:solidFill>
                <a:latin typeface="Calibri"/>
                <a:ea typeface="Calibri"/>
                <a:cs typeface="Calibri"/>
              </a:defRPr>
            </a:pPr>
            <a:r>
              <a:rPr sz="2500" b="0" i="0">
                <a:solidFill>
                  <a:srgbClr val="56615B"/>
                </a:solidFill>
                <a:latin typeface="Calibri"/>
                <a:ea typeface="Calibri"/>
                <a:cs typeface="Calibri"/>
              </a:rPr>
              <a:t>and optional tactic</a:t>
            </a:r>
          </a:p>
        </p:txBody>
      </p:sp>
      <p:sp>
        <p:nvSpPr>
          <p:cNvPr id="38" name="MP agents">
            <a:extLst xmlns:a="http://schemas.openxmlformats.org/drawingml/2006/main">
              <a:ext uri="{FF2B5EF4-FFF2-40B4-BE49-F238E27FC236}">
                <a16:creationId xmlns:a16="http://schemas.microsoft.com/office/drawing/2014/main" id="{A63FCA0B-91A2-41AB-965C-3430B5CD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680" y="14508000"/>
            <a:ext cx="3590640" cy="16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D6D0C2"/>
            </a:solidFill>
            <a:prstDash val="solid"/>
          </a:ln>
        </p:spPr>
      </p:sp>
      <p:sp>
        <p:nvSpPr>
          <p:cNvPr id="39" name="MP agents title">
            <a:extLst xmlns:a="http://schemas.openxmlformats.org/drawingml/2006/main">
              <a:ext uri="{FF2B5EF4-FFF2-40B4-BE49-F238E27FC236}">
                <a16:creationId xmlns:a16="http://schemas.microsoft.com/office/drawing/2014/main" id="{2406CC30-22EE-407A-9505-824189A2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680" y="14652000"/>
            <a:ext cx="337464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900" b="1" i="0">
                <a:solidFill>
                  <a:srgbClr val="1F4D36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900" b="1" i="0">
                <a:solidFill>
                  <a:srgbClr val="1F4D36"/>
                </a:solidFill>
                <a:latin typeface="Cambria"/>
                <a:ea typeface="Cambria"/>
                <a:cs typeface="Cambria"/>
              </a:defRPr>
            </a:pPr>
            <a:r>
              <a:rPr sz="2900" b="1" i="0">
                <a:solidFill>
                  <a:srgbClr val="1F4D36"/>
                </a:solidFill>
                <a:latin typeface="Cambria"/>
                <a:ea typeface="Cambria"/>
                <a:cs typeface="Cambria"/>
              </a:rPr>
              <a:t>Five AI MPs</a:t>
            </a:r>
          </a:p>
        </p:txBody>
      </p:sp>
      <p:sp>
        <p:nvSpPr>
          <p:cNvPr id="40" name="MP agents description">
            <a:extLst xmlns:a="http://schemas.openxmlformats.org/drawingml/2006/main">
              <a:ext uri="{FF2B5EF4-FFF2-40B4-BE49-F238E27FC236}">
                <a16:creationId xmlns:a16="http://schemas.microsoft.com/office/drawing/2014/main" id="{4A83CF05-643A-4DA9-8E91-D2DF69B3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6680" y="15228000"/>
            <a:ext cx="3302640" cy="8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500" b="0" i="0">
                <a:solidFill>
                  <a:srgbClr val="5661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500" b="0" i="0">
                <a:solidFill>
                  <a:srgbClr val="56615B"/>
                </a:solidFill>
                <a:latin typeface="Calibri"/>
                <a:ea typeface="Calibri"/>
                <a:cs typeface="Calibri"/>
              </a:defRPr>
            </a:pPr>
            <a:r>
              <a:rPr sz="2500" b="0" i="0">
                <a:solidFill>
                  <a:srgbClr val="56615B"/>
                </a:solidFill>
                <a:latin typeface="Calibri"/>
                <a:ea typeface="Calibri"/>
                <a:cs typeface="Calibri"/>
              </a:rPr>
              <a:t>Own setup +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500" b="0" i="0">
                <a:solidFill>
                  <a:srgbClr val="56615B"/>
                </a:solidFill>
                <a:latin typeface="Calibri"/>
                <a:ea typeface="Calibri"/>
                <a:cs typeface="Calibri"/>
              </a:defRPr>
            </a:pPr>
            <a:r>
              <a:rPr sz="2500" b="0" i="0">
                <a:solidFill>
                  <a:srgbClr val="56615B"/>
                </a:solidFill>
                <a:latin typeface="Calibri"/>
                <a:ea typeface="Calibri"/>
                <a:cs typeface="Calibri"/>
              </a:rPr>
              <a:t>public debate evidence</a:t>
            </a:r>
          </a:p>
        </p:txBody>
      </p:sp>
      <p:sp>
        <p:nvSpPr>
          <p:cNvPr id="41" name="Debate scheduler">
            <a:extLst xmlns:a="http://schemas.openxmlformats.org/drawingml/2006/main">
              <a:ext uri="{FF2B5EF4-FFF2-40B4-BE49-F238E27FC236}">
                <a16:creationId xmlns:a16="http://schemas.microsoft.com/office/drawing/2014/main" id="{80748280-E403-48F6-862F-C0F6616E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4680" y="14508000"/>
            <a:ext cx="3590640" cy="16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D6D0C2"/>
            </a:solidFill>
            <a:prstDash val="solid"/>
          </a:ln>
        </p:spPr>
      </p:sp>
      <p:sp>
        <p:nvSpPr>
          <p:cNvPr id="42" name="Debate scheduler title">
            <a:extLst xmlns:a="http://schemas.openxmlformats.org/drawingml/2006/main">
              <a:ext uri="{FF2B5EF4-FFF2-40B4-BE49-F238E27FC236}">
                <a16:creationId xmlns:a16="http://schemas.microsoft.com/office/drawing/2014/main" id="{91AC3189-21E4-4CA9-BBA5-63EC456F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2680" y="14652000"/>
            <a:ext cx="337464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900" b="1" i="0">
                <a:solidFill>
                  <a:srgbClr val="1F4D36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900" b="1" i="0">
                <a:solidFill>
                  <a:srgbClr val="1F4D36"/>
                </a:solidFill>
                <a:latin typeface="Cambria"/>
                <a:ea typeface="Cambria"/>
                <a:cs typeface="Cambria"/>
              </a:defRPr>
            </a:pPr>
            <a:r>
              <a:rPr sz="2900" b="1" i="0">
                <a:solidFill>
                  <a:srgbClr val="1F4D36"/>
                </a:solidFill>
                <a:latin typeface="Cambria"/>
                <a:ea typeface="Cambria"/>
                <a:cs typeface="Cambria"/>
              </a:rPr>
              <a:t>Debate engine</a:t>
            </a:r>
          </a:p>
        </p:txBody>
      </p:sp>
      <p:sp>
        <p:nvSpPr>
          <p:cNvPr id="43" name="Debate scheduler description">
            <a:extLst xmlns:a="http://schemas.openxmlformats.org/drawingml/2006/main">
              <a:ext uri="{FF2B5EF4-FFF2-40B4-BE49-F238E27FC236}">
                <a16:creationId xmlns:a16="http://schemas.microsoft.com/office/drawing/2014/main" id="{D6C063B5-F292-4DF2-9C20-6A538D50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8680" y="15228000"/>
            <a:ext cx="3302640" cy="8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500" b="0" i="0">
                <a:solidFill>
                  <a:srgbClr val="5661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500" b="0" i="0">
                <a:solidFill>
                  <a:srgbClr val="56615B"/>
                </a:solidFill>
                <a:latin typeface="Calibri"/>
                <a:ea typeface="Calibri"/>
                <a:cs typeface="Calibri"/>
              </a:defRPr>
            </a:pPr>
            <a:r>
              <a:rPr sz="2500" b="0" i="0">
                <a:solidFill>
                  <a:srgbClr val="56615B"/>
                </a:solidFill>
                <a:latin typeface="Calibri"/>
                <a:ea typeface="Calibri"/>
                <a:cs typeface="Calibri"/>
              </a:rPr>
              <a:t>Turns, topics,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500" b="0" i="0">
                <a:solidFill>
                  <a:srgbClr val="56615B"/>
                </a:solidFill>
                <a:latin typeface="Calibri"/>
                <a:ea typeface="Calibri"/>
                <a:cs typeface="Calibri"/>
              </a:defRPr>
            </a:pPr>
            <a:r>
              <a:rPr sz="2500" b="0" i="0">
                <a:solidFill>
                  <a:srgbClr val="56615B"/>
                </a:solidFill>
                <a:latin typeface="Calibri"/>
                <a:ea typeface="Calibri"/>
                <a:cs typeface="Calibri"/>
              </a:rPr>
              <a:t>reply cues and rulings</a:t>
            </a:r>
          </a:p>
        </p:txBody>
      </p:sp>
      <p:sp>
        <p:nvSpPr>
          <p:cNvPr id="44" name="Public results">
            <a:extLst xmlns:a="http://schemas.openxmlformats.org/drawingml/2006/main">
              <a:ext uri="{FF2B5EF4-FFF2-40B4-BE49-F238E27FC236}">
                <a16:creationId xmlns:a16="http://schemas.microsoft.com/office/drawing/2014/main" id="{6C94EFE3-DF49-4E8F-BB4D-E32529CB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6680" y="14508000"/>
            <a:ext cx="3590640" cy="16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D6D0C2"/>
            </a:solidFill>
            <a:prstDash val="solid"/>
          </a:ln>
        </p:spPr>
      </p:sp>
      <p:sp>
        <p:nvSpPr>
          <p:cNvPr id="45" name="Public results title">
            <a:extLst xmlns:a="http://schemas.openxmlformats.org/drawingml/2006/main">
              <a:ext uri="{FF2B5EF4-FFF2-40B4-BE49-F238E27FC236}">
                <a16:creationId xmlns:a16="http://schemas.microsoft.com/office/drawing/2014/main" id="{D35F1CE1-8FCB-4710-AC0D-EA3FF3B0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4680" y="14652000"/>
            <a:ext cx="337464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900" b="1" i="0">
                <a:solidFill>
                  <a:srgbClr val="1F4D36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900" b="1" i="0">
                <a:solidFill>
                  <a:srgbClr val="1F4D36"/>
                </a:solidFill>
                <a:latin typeface="Cambria"/>
                <a:ea typeface="Cambria"/>
                <a:cs typeface="Cambria"/>
              </a:defRPr>
            </a:pPr>
            <a:r>
              <a:rPr sz="2900" b="1" i="0">
                <a:solidFill>
                  <a:srgbClr val="1F4D36"/>
                </a:solidFill>
                <a:latin typeface="Cambria"/>
                <a:ea typeface="Cambria"/>
                <a:cs typeface="Cambria"/>
              </a:rPr>
              <a:t>Saved evidence</a:t>
            </a:r>
          </a:p>
        </p:txBody>
      </p:sp>
      <p:sp>
        <p:nvSpPr>
          <p:cNvPr id="46" name="Public results description">
            <a:extLst xmlns:a="http://schemas.openxmlformats.org/drawingml/2006/main">
              <a:ext uri="{FF2B5EF4-FFF2-40B4-BE49-F238E27FC236}">
                <a16:creationId xmlns:a16="http://schemas.microsoft.com/office/drawing/2014/main" id="{1D3F2171-54BD-4E61-AD93-1D8FCFAA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0680" y="15228000"/>
            <a:ext cx="3302640" cy="8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500" b="0" i="0">
                <a:solidFill>
                  <a:srgbClr val="5661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500" b="0" i="0">
                <a:solidFill>
                  <a:srgbClr val="56615B"/>
                </a:solidFill>
                <a:latin typeface="Calibri"/>
                <a:ea typeface="Calibri"/>
                <a:cs typeface="Calibri"/>
              </a:defRPr>
            </a:pPr>
            <a:r>
              <a:rPr sz="2500" b="0" i="0">
                <a:solidFill>
                  <a:srgbClr val="56615B"/>
                </a:solidFill>
                <a:latin typeface="Calibri"/>
                <a:ea typeface="Calibri"/>
                <a:cs typeface="Calibri"/>
              </a:rPr>
              <a:t>Public transcript +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500" b="0" i="0">
                <a:solidFill>
                  <a:srgbClr val="56615B"/>
                </a:solidFill>
                <a:latin typeface="Calibri"/>
                <a:ea typeface="Calibri"/>
                <a:cs typeface="Calibri"/>
              </a:defRPr>
            </a:pPr>
            <a:r>
              <a:rPr sz="2500" b="0" i="0">
                <a:solidFill>
                  <a:srgbClr val="56615B"/>
                </a:solidFill>
                <a:latin typeface="Calibri"/>
                <a:ea typeface="Calibri"/>
                <a:cs typeface="Calibri"/>
              </a:rPr>
              <a:t>separate evaluations</a:t>
            </a:r>
          </a:p>
        </p:txBody>
      </p:sp>
      <p:sp>
        <p:nvSpPr>
          <p:cNvPr id="51" name="Model and snapshot detail">
            <a:extLst xmlns:a="http://schemas.openxmlformats.org/drawingml/2006/main">
              <a:ext uri="{FF2B5EF4-FFF2-40B4-BE49-F238E27FC236}">
                <a16:creationId xmlns:a16="http://schemas.microsoft.com/office/drawing/2014/main" id="{9CCD3FF8-E21C-44E7-99FF-088741B4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452000"/>
            <a:ext cx="2007864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0" i="0">
                <a:solidFill>
                  <a:srgbClr val="1F2A2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00" b="0" i="0">
                <a:solidFill>
                  <a:srgbClr val="1F2A24"/>
                </a:solidFill>
                <a:latin typeface="Calibri"/>
                <a:ea typeface="Calibri"/>
                <a:cs typeface="Calibri"/>
              </a:defRPr>
            </a:pPr>
            <a:r>
              <a:rPr sz="2800" b="0" i="0">
                <a:solidFill>
                  <a:srgbClr val="1F2A24"/>
                </a:solidFill>
                <a:latin typeface="Calibri"/>
                <a:ea typeface="Calibri"/>
                <a:cs typeface="Calibri"/>
              </a:rPr>
              <a:t>Independent debate and judge models, including Ollama. Captured prompts and settings preserve each run.</a:t>
            </a:r>
          </a:p>
        </p:txBody>
      </p:sp>
      <p:sp>
        <p:nvSpPr>
          <p:cNvPr id="52" name="Analysis and privacy detail">
            <a:extLst xmlns:a="http://schemas.openxmlformats.org/drawingml/2006/main">
              <a:ext uri="{FF2B5EF4-FFF2-40B4-BE49-F238E27FC236}">
                <a16:creationId xmlns:a16="http://schemas.microsoft.com/office/drawing/2014/main" id="{0BA9B58E-71CA-4C80-955D-08535ABA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7064000"/>
            <a:ext cx="2007864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0" i="0">
                <a:solidFill>
                  <a:srgbClr val="5661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00" b="0" i="0">
                <a:solidFill>
                  <a:srgbClr val="56615B"/>
                </a:solidFill>
                <a:latin typeface="Calibri"/>
                <a:ea typeface="Calibri"/>
                <a:cs typeface="Calibri"/>
              </a:defRPr>
            </a:pPr>
            <a:r>
              <a:rPr sz="2800" b="0" i="0">
                <a:solidFill>
                  <a:srgbClr val="56615B"/>
                </a:solidFill>
                <a:latin typeface="Calibri"/>
                <a:ea typeface="Calibri"/>
                <a:cs typeface="Calibri"/>
              </a:rPr>
              <a:t>Five separate rubric metrics plus local sentiment and stance. Private setup stays out of public exports.</a:t>
            </a:r>
          </a:p>
        </p:txBody>
      </p:sp>
      <p:sp>
        <p:nvSpPr>
          <p:cNvPr id="53" name="Section 3 number">
            <a:extLst xmlns:a="http://schemas.openxmlformats.org/drawingml/2006/main">
              <a:ext uri="{FF2B5EF4-FFF2-40B4-BE49-F238E27FC236}">
                <a16:creationId xmlns:a16="http://schemas.microsoft.com/office/drawing/2014/main" id="{17360308-99BF-4C55-98E0-C4067097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7784000"/>
            <a:ext cx="712800" cy="712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71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7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ctr">
              <a:defRPr sz="37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54" name="Section 3 title">
            <a:extLst xmlns:a="http://schemas.openxmlformats.org/drawingml/2006/main">
              <a:ext uri="{FF2B5EF4-FFF2-40B4-BE49-F238E27FC236}">
                <a16:creationId xmlns:a16="http://schemas.microsoft.com/office/drawing/2014/main" id="{9622C639-F98E-4553-9F76-C5469FCB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6000" y="17730000"/>
            <a:ext cx="1908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300" b="1" i="0">
                <a:solidFill>
                  <a:srgbClr val="1F4D36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5300" b="1" i="0">
                <a:solidFill>
                  <a:srgbClr val="1F4D36"/>
                </a:solidFill>
                <a:latin typeface="Cambria"/>
                <a:ea typeface="Cambria"/>
                <a:cs typeface="Cambria"/>
              </a:defRPr>
            </a:pPr>
            <a:r>
              <a:rPr sz="5300" b="1" i="0">
                <a:solidFill>
                  <a:srgbClr val="1F4D36"/>
                </a:solidFill>
                <a:latin typeface="Cambria"/>
                <a:ea typeface="Cambria"/>
                <a:cs typeface="Cambria"/>
              </a:rPr>
              <a:t>More grounding gave no consistent gain</a:t>
            </a:r>
          </a:p>
        </p:txBody>
      </p:sp>
      <p:sp>
        <p:nvSpPr>
          <p:cNvPr id="55" name="Study matrix">
            <a:extLst xmlns:a="http://schemas.openxmlformats.org/drawingml/2006/main">
              <a:ext uri="{FF2B5EF4-FFF2-40B4-BE49-F238E27FC236}">
                <a16:creationId xmlns:a16="http://schemas.microsoft.com/office/drawing/2014/main" id="{19037CA7-72B8-49EE-BCD9-2EFADEF7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756000"/>
            <a:ext cx="20078640" cy="5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 i="0">
                <a:solidFill>
                  <a:srgbClr val="1F4D3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F4D36"/>
                </a:solidFill>
                <a:latin typeface="Calibri"/>
                <a:ea typeface="Calibri"/>
                <a:cs typeface="Calibri"/>
              </a:defRPr>
            </a:pPr>
            <a:r>
              <a:rPr sz="3000" b="1" i="0">
                <a:solidFill>
                  <a:srgbClr val="1F4D36"/>
                </a:solidFill>
                <a:latin typeface="Calibri"/>
                <a:ea typeface="Calibri"/>
                <a:cs typeface="Calibri"/>
              </a:rPr>
              <a:t>2 models × 3 topics × 3 grounding levels × 3 repetitions = 54 debates, 1,350 speeches [2]</a:t>
            </a:r>
          </a:p>
        </p:txBody>
      </p:sp>
      <p:sp>
        <p:nvSpPr>
          <p:cNvPr id="56" name="Study conditions">
            <a:extLst xmlns:a="http://schemas.openxmlformats.org/drawingml/2006/main">
              <a:ext uri="{FF2B5EF4-FFF2-40B4-BE49-F238E27FC236}">
                <a16:creationId xmlns:a16="http://schemas.microsoft.com/office/drawing/2014/main" id="{57F671EA-6558-4D17-B288-431FC86F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368000"/>
            <a:ext cx="20078640" cy="82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 i="0">
                <a:solidFill>
                  <a:srgbClr val="1F2A2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0" i="0">
                <a:solidFill>
                  <a:srgbClr val="1F2A24"/>
                </a:solidFill>
                <a:latin typeface="Calibri"/>
                <a:ea typeface="Calibri"/>
                <a:cs typeface="Calibri"/>
              </a:defRPr>
            </a:pPr>
            <a:r>
              <a:rPr sz="2700" b="0" i="0">
                <a:solidFill>
                  <a:srgbClr val="1F2A24"/>
                </a:solidFill>
                <a:latin typeface="Calibri"/>
                <a:ea typeface="Calibri"/>
                <a:cs typeface="Calibri"/>
              </a:rPr>
              <a:t>Five parties, five rounds. Retirement age, nuclear power and the four-day workweek. No adversarial tactics or interruptions.</a:t>
            </a:r>
          </a:p>
        </p:txBody>
      </p:sp>
      <p:graphicFrame>
        <p:nvGraphicFramePr>
          <p:cNvPr id="57" name="Chart">
            <a:extLst xmlns:a="http://schemas.openxmlformats.org/drawingml/2006/main">
              <a:ext uri="{FF2B5EF4-FFF2-40B4-BE49-F238E27FC236}">
                <a16:creationId xmlns:a16="http://schemas.microsoft.com/office/drawing/2014/main" id="{3400B616-64A3-4000-B387-CC5A01C72CE9}"/>
              </a:ext>
            </a:extLst>
          </p:cNvPr>
          <p:cNvGraphicFramePr/>
          <p:nvPr/>
        </p:nvGraphicFramePr>
        <p:xfrm>
          <a:off xmlns:a="http://schemas.openxmlformats.org/drawingml/2006/main" x="868680" y="20376000"/>
          <a:ext xmlns:a="http://schemas.openxmlformats.org/drawingml/2006/main" cx="6542640" cy="324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b4d5422211843a7"/>
          </a:graphicData>
        </a:graphic>
      </p:graphicFrame>
      <p:graphicFrame>
        <p:nvGraphicFramePr>
          <p:cNvPr id="58" name="Chart">
            <a:extLst xmlns:a="http://schemas.openxmlformats.org/drawingml/2006/main">
              <a:ext uri="{FF2B5EF4-FFF2-40B4-BE49-F238E27FC236}">
                <a16:creationId xmlns:a16="http://schemas.microsoft.com/office/drawing/2014/main" id="{31515160-14D9-4AA0-9712-422C6C124AC3}"/>
              </a:ext>
            </a:extLst>
          </p:cNvPr>
          <p:cNvGraphicFramePr/>
          <p:nvPr/>
        </p:nvGraphicFramePr>
        <p:xfrm>
          <a:off xmlns:a="http://schemas.openxmlformats.org/drawingml/2006/main" x="7636680" y="20376000"/>
          <a:ext xmlns:a="http://schemas.openxmlformats.org/drawingml/2006/main" cx="6542640" cy="324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826c41150904d26"/>
          </a:graphicData>
        </a:graphic>
      </p:graphicFrame>
      <p:graphicFrame>
        <p:nvGraphicFramePr>
          <p:cNvPr id="59" name="Chart">
            <a:extLst xmlns:a="http://schemas.openxmlformats.org/drawingml/2006/main">
              <a:ext uri="{FF2B5EF4-FFF2-40B4-BE49-F238E27FC236}">
                <a16:creationId xmlns:a16="http://schemas.microsoft.com/office/drawing/2014/main" id="{C3B9929A-EFE8-46E0-9450-90F417CADFA2}"/>
              </a:ext>
            </a:extLst>
          </p:cNvPr>
          <p:cNvGraphicFramePr/>
          <p:nvPr/>
        </p:nvGraphicFramePr>
        <p:xfrm>
          <a:off xmlns:a="http://schemas.openxmlformats.org/drawingml/2006/main" x="14404680" y="20376000"/>
          <a:ext xmlns:a="http://schemas.openxmlformats.org/drawingml/2006/main" cx="6542640" cy="324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0d6a888ad264a00"/>
          </a:graphicData>
        </a:graphic>
      </p:graphicFrame>
      <p:sp>
        <p:nvSpPr>
          <p:cNvPr id="60" name="Observed consistency drop">
            <a:extLst xmlns:a="http://schemas.openxmlformats.org/drawingml/2006/main">
              <a:ext uri="{FF2B5EF4-FFF2-40B4-BE49-F238E27FC236}">
                <a16:creationId xmlns:a16="http://schemas.microsoft.com/office/drawing/2014/main" id="{85A371FA-A171-42A6-9480-96C3028C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832000"/>
            <a:ext cx="2007864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 i="0">
                <a:solidFill>
                  <a:srgbClr val="1F4D3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00" b="1" i="0">
                <a:solidFill>
                  <a:srgbClr val="1F4D36"/>
                </a:solidFill>
                <a:latin typeface="Calibri"/>
                <a:ea typeface="Calibri"/>
                <a:cs typeface="Calibri"/>
              </a:defRPr>
            </a:pPr>
            <a:r>
              <a:rPr sz="2800" b="1" i="0">
                <a:solidFill>
                  <a:srgbClr val="1F4D36"/>
                </a:solidFill>
                <a:latin typeface="Calibri"/>
                <a:ea typeface="Calibri"/>
                <a:cs typeface="Calibri"/>
              </a:rPr>
              <a:t>Qwen consistency: 3.93 at 0 excerpts, 3.62 at 100 (-0.31 points). Other changes were small or mixed.</a:t>
            </a:r>
          </a:p>
        </p:txBody>
      </p:sp>
      <p:sp>
        <p:nvSpPr>
          <p:cNvPr id="61" name="Other rubric metrics">
            <a:extLst xmlns:a="http://schemas.openxmlformats.org/drawingml/2006/main">
              <a:ext uri="{FF2B5EF4-FFF2-40B4-BE49-F238E27FC236}">
                <a16:creationId xmlns:a16="http://schemas.microsoft.com/office/drawing/2014/main" id="{7B4C399A-92CE-4DF7-88E4-FD429221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480000"/>
            <a:ext cx="2007864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0" i="0">
                <a:solidFill>
                  <a:srgbClr val="1F2A2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600" b="0" i="0">
                <a:solidFill>
                  <a:srgbClr val="1F2A24"/>
                </a:solidFill>
                <a:latin typeface="Calibri"/>
                <a:ea typeface="Calibri"/>
                <a:cs typeface="Calibri"/>
              </a:defRPr>
            </a:pPr>
            <a:r>
              <a:rPr sz="2600" b="0" i="0">
                <a:solidFill>
                  <a:srgbClr val="1F2A24"/>
                </a:solidFill>
                <a:latin typeface="Calibri"/>
                <a:ea typeface="Calibri"/>
                <a:cs typeface="Calibri"/>
              </a:rPr>
              <a:t>Relevance endpoints were unchanged (Luna 4.00, Qwen 3.98). Disruptive rhetoric averaged 0.00-0.04.</a:t>
            </a:r>
          </a:p>
        </p:txBody>
      </p:sp>
      <p:sp>
        <p:nvSpPr>
          <p:cNvPr id="62" name="Rubric interpretation">
            <a:extLst xmlns:a="http://schemas.openxmlformats.org/drawingml/2006/main">
              <a:ext uri="{FF2B5EF4-FFF2-40B4-BE49-F238E27FC236}">
                <a16:creationId xmlns:a16="http://schemas.microsoft.com/office/drawing/2014/main" id="{19A90F81-4F28-4827-A019-1B91F45B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128000"/>
            <a:ext cx="2007864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0" i="0">
                <a:solidFill>
                  <a:srgbClr val="5661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300" b="0" i="0">
                <a:solidFill>
                  <a:srgbClr val="56615B"/>
                </a:solidFill>
                <a:latin typeface="Calibri"/>
                <a:ea typeface="Calibri"/>
                <a:cs typeface="Calibri"/>
              </a:defRPr>
            </a:pPr>
            <a:r>
              <a:rPr sz="2300" b="0" i="0">
                <a:solidFill>
                  <a:srgbClr val="56615B"/>
                </a:solidFill>
                <a:latin typeface="Calibri"/>
                <a:ea typeface="Calibri"/>
                <a:cs typeface="Calibri"/>
              </a:rPr>
              <a:t>Nine debates per model/level, 45 party scores per metric. Common GPT-6 Luna judge. Higher rhetoric means more disruption.</a:t>
            </a:r>
          </a:p>
        </p:txBody>
      </p:sp>
      <p:sp>
        <p:nvSpPr>
          <p:cNvPr id="63" name="Research limitations">
            <a:extLst xmlns:a="http://schemas.openxmlformats.org/drawingml/2006/main">
              <a:ext uri="{FF2B5EF4-FFF2-40B4-BE49-F238E27FC236}">
                <a16:creationId xmlns:a16="http://schemas.microsoft.com/office/drawing/2014/main" id="{E8EE6740-1B80-42A3-AC3A-243E3F9E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740000"/>
            <a:ext cx="2007864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00" b="0" i="1">
                <a:solidFill>
                  <a:srgbClr val="5661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500" b="0" i="1">
                <a:solidFill>
                  <a:srgbClr val="56615B"/>
                </a:solidFill>
                <a:latin typeface="Calibri"/>
                <a:ea typeface="Calibri"/>
                <a:cs typeface="Calibri"/>
              </a:defRPr>
            </a:pPr>
            <a:r>
              <a:rPr sz="2500" b="0" i="1">
                <a:solidFill>
                  <a:srgbClr val="56615B"/>
                </a:solidFill>
                <a:latin typeface="Calibri"/>
                <a:ea typeface="Calibri"/>
                <a:cs typeface="Calibri"/>
              </a:rPr>
              <a:t>Exploratory automated scores without human validation. These baseline runs do not test adversarial robustness.</a:t>
            </a:r>
          </a:p>
        </p:txBody>
      </p:sp>
      <p:sp>
        <p:nvSpPr>
          <p:cNvPr id="64" name="Section 4 number">
            <a:extLst xmlns:a="http://schemas.openxmlformats.org/drawingml/2006/main">
              <a:ext uri="{FF2B5EF4-FFF2-40B4-BE49-F238E27FC236}">
                <a16:creationId xmlns:a16="http://schemas.microsoft.com/office/drawing/2014/main" id="{ADDC81EB-29E4-4A35-B744-FC9BB6C3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568000"/>
            <a:ext cx="712800" cy="712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71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7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ctr">
              <a:defRPr sz="37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65" name="Section 4 title">
            <a:extLst xmlns:a="http://schemas.openxmlformats.org/drawingml/2006/main">
              <a:ext uri="{FF2B5EF4-FFF2-40B4-BE49-F238E27FC236}">
                <a16:creationId xmlns:a16="http://schemas.microsoft.com/office/drawing/2014/main" id="{94188C11-07DD-49B8-B25C-1B752A36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6000" y="26514000"/>
            <a:ext cx="1908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300" b="1" i="0">
                <a:solidFill>
                  <a:srgbClr val="1F4D36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5300" b="1" i="0">
                <a:solidFill>
                  <a:srgbClr val="1F4D36"/>
                </a:solidFill>
                <a:latin typeface="Cambria"/>
                <a:ea typeface="Cambria"/>
                <a:cs typeface="Cambria"/>
              </a:defRPr>
            </a:pPr>
            <a:r>
              <a:rPr sz="5300" b="1" i="0">
                <a:solidFill>
                  <a:srgbClr val="1F4D36"/>
                </a:solidFill>
                <a:latin typeface="Cambria"/>
                <a:ea typeface="Cambria"/>
                <a:cs typeface="Cambria"/>
              </a:rPr>
              <a:t>Outcomes and next steps</a:t>
            </a:r>
          </a:p>
        </p:txBody>
      </p:sp>
      <p:sp>
        <p:nvSpPr>
          <p:cNvPr id="66" name="Outcome heading">
            <a:extLst xmlns:a="http://schemas.openxmlformats.org/drawingml/2006/main">
              <a:ext uri="{FF2B5EF4-FFF2-40B4-BE49-F238E27FC236}">
                <a16:creationId xmlns:a16="http://schemas.microsoft.com/office/drawing/2014/main" id="{CDB82213-0366-4210-A14D-FA7C41D1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504000"/>
            <a:ext cx="6408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00" b="1" i="0">
                <a:solidFill>
                  <a:srgbClr val="1F4D36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900" b="1" i="0">
                <a:solidFill>
                  <a:srgbClr val="1F4D36"/>
                </a:solidFill>
                <a:latin typeface="Cambria"/>
                <a:ea typeface="Cambria"/>
                <a:cs typeface="Cambria"/>
              </a:defRPr>
            </a:pPr>
            <a:r>
              <a:rPr sz="2900" b="1" i="0">
                <a:solidFill>
                  <a:srgbClr val="1F4D36"/>
                </a:solidFill>
                <a:latin typeface="Cambria"/>
                <a:ea typeface="Cambria"/>
                <a:cs typeface="Cambria"/>
              </a:rPr>
              <a:t>Outcome</a:t>
            </a:r>
          </a:p>
        </p:txBody>
      </p:sp>
      <p:sp>
        <p:nvSpPr>
          <p:cNvPr id="67" name="Outcome detail">
            <a:extLst xmlns:a="http://schemas.openxmlformats.org/drawingml/2006/main">
              <a:ext uri="{FF2B5EF4-FFF2-40B4-BE49-F238E27FC236}">
                <a16:creationId xmlns:a16="http://schemas.microsoft.com/office/drawing/2014/main" id="{30CBC3D1-2E60-4DB0-B31D-857382D6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8044000"/>
            <a:ext cx="640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00" b="0" i="0">
                <a:solidFill>
                  <a:srgbClr val="1F2A2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500" b="0" i="0">
                <a:solidFill>
                  <a:srgbClr val="1F2A24"/>
                </a:solidFill>
                <a:latin typeface="Calibri"/>
                <a:ea typeface="Calibri"/>
                <a:cs typeface="Calibri"/>
              </a:defRPr>
            </a:pPr>
            <a:r>
              <a:rPr sz="2500" b="0" i="0">
                <a:solidFill>
                  <a:srgbClr val="1F2A24"/>
                </a:solidFill>
                <a:latin typeface="Calibri"/>
                <a:ea typeface="Calibri"/>
                <a:cs typeface="Calibri"/>
              </a:rPr>
              <a:t>A reproducible debate platform. Extra Hansard showed no consistent gain in rubric scores.</a:t>
            </a:r>
          </a:p>
        </p:txBody>
      </p:sp>
      <p:sp>
        <p:nvSpPr>
          <p:cNvPr id="68" name="Next work heading">
            <a:extLst xmlns:a="http://schemas.openxmlformats.org/drawingml/2006/main">
              <a:ext uri="{FF2B5EF4-FFF2-40B4-BE49-F238E27FC236}">
                <a16:creationId xmlns:a16="http://schemas.microsoft.com/office/drawing/2014/main" id="{723F09A6-9CBA-466E-BB26-405C69DB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6000" y="27504000"/>
            <a:ext cx="6300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00" b="1" i="0">
                <a:solidFill>
                  <a:srgbClr val="1F4D36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900" b="1" i="0">
                <a:solidFill>
                  <a:srgbClr val="1F4D36"/>
                </a:solidFill>
                <a:latin typeface="Cambria"/>
                <a:ea typeface="Cambria"/>
                <a:cs typeface="Cambria"/>
              </a:defRPr>
            </a:pPr>
            <a:r>
              <a:rPr sz="2900" b="1" i="0">
                <a:solidFill>
                  <a:srgbClr val="1F4D36"/>
                </a:solidFill>
                <a:latin typeface="Cambria"/>
                <a:ea typeface="Cambria"/>
                <a:cs typeface="Cambria"/>
              </a:rPr>
              <a:t>Next work</a:t>
            </a:r>
          </a:p>
        </p:txBody>
      </p:sp>
      <p:sp>
        <p:nvSpPr>
          <p:cNvPr id="69" name="Next work detail">
            <a:extLst xmlns:a="http://schemas.openxmlformats.org/drawingml/2006/main">
              <a:ext uri="{FF2B5EF4-FFF2-40B4-BE49-F238E27FC236}">
                <a16:creationId xmlns:a16="http://schemas.microsoft.com/office/drawing/2014/main" id="{9DCD1B05-4FE8-49A0-AF46-8740396B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6000" y="28044000"/>
            <a:ext cx="6300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00" b="0" i="0">
                <a:solidFill>
                  <a:srgbClr val="1F2A2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500" b="0" i="0">
                <a:solidFill>
                  <a:srgbClr val="1F2A24"/>
                </a:solidFill>
                <a:latin typeface="Calibri"/>
                <a:ea typeface="Calibri"/>
                <a:cs typeface="Calibri"/>
              </a:defRPr>
            </a:pPr>
            <a:r>
              <a:rPr sz="2500" b="0" i="0">
                <a:solidFill>
                  <a:srgbClr val="1F2A24"/>
                </a:solidFill>
                <a:latin typeface="Calibri"/>
                <a:ea typeface="Calibri"/>
                <a:cs typeface="Calibri"/>
              </a:rPr>
              <a:t>Test adversarial tactics. Add human review, more topics and more repetitions.</a:t>
            </a:r>
          </a:p>
        </p:txBody>
      </p:sp>
      <p:sp>
        <p:nvSpPr>
          <p:cNvPr id="70" name="Contributions heading">
            <a:extLst xmlns:a="http://schemas.openxmlformats.org/drawingml/2006/main">
              <a:ext uri="{FF2B5EF4-FFF2-40B4-BE49-F238E27FC236}">
                <a16:creationId xmlns:a16="http://schemas.microsoft.com/office/drawing/2014/main" id="{FFDD26A2-1190-4209-99A5-521760D0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0000" y="27504000"/>
            <a:ext cx="6372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00" b="1" i="0">
                <a:solidFill>
                  <a:srgbClr val="1F4D36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900" b="1" i="0">
                <a:solidFill>
                  <a:srgbClr val="1F4D36"/>
                </a:solidFill>
                <a:latin typeface="Cambria"/>
                <a:ea typeface="Cambria"/>
                <a:cs typeface="Cambria"/>
              </a:defRPr>
            </a:pPr>
            <a:r>
              <a:rPr sz="2900" b="1" i="0">
                <a:solidFill>
                  <a:srgbClr val="1F4D36"/>
                </a:solidFill>
                <a:latin typeface="Cambria"/>
                <a:ea typeface="Cambria"/>
                <a:cs typeface="Cambria"/>
              </a:rPr>
              <a:t>Contributions</a:t>
            </a:r>
          </a:p>
        </p:txBody>
      </p:sp>
      <p:sp>
        <p:nvSpPr>
          <p:cNvPr id="71" name="Contributions detail">
            <a:extLst xmlns:a="http://schemas.openxmlformats.org/drawingml/2006/main">
              <a:ext uri="{FF2B5EF4-FFF2-40B4-BE49-F238E27FC236}">
                <a16:creationId xmlns:a16="http://schemas.microsoft.com/office/drawing/2014/main" id="{4B418FA6-2123-4B41-85C8-873F8CD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0000" y="28044000"/>
            <a:ext cx="6372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 i="0">
                <a:solidFill>
                  <a:srgbClr val="1F2A2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400" b="0" i="0">
                <a:solidFill>
                  <a:srgbClr val="1F2A24"/>
                </a:solidFill>
                <a:latin typeface="Calibri"/>
                <a:ea typeface="Calibri"/>
                <a:cs typeface="Calibri"/>
              </a:defRPr>
            </a:pPr>
            <a:r>
              <a:rPr sz="2400" b="0" i="0">
                <a:solidFill>
                  <a:srgbClr val="1F2A24"/>
                </a:solidFill>
                <a:latin typeface="Calibri"/>
                <a:ea typeface="Calibri"/>
                <a:cs typeface="Calibri"/>
              </a:rPr>
              <a:t>Albert Sun: frontend and live chamber.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 b="0" i="0">
                <a:solidFill>
                  <a:srgbClr val="1F2A24"/>
                </a:solidFill>
                <a:latin typeface="Calibri"/>
                <a:ea typeface="Calibri"/>
                <a:cs typeface="Calibri"/>
              </a:defRPr>
            </a:pPr>
            <a:r>
              <a:rPr sz="2400" b="0" i="0">
                <a:solidFill>
                  <a:srgbClr val="1F2A24"/>
                </a:solidFill>
                <a:latin typeface="Calibri"/>
                <a:ea typeface="Calibri"/>
                <a:cs typeface="Calibri"/>
              </a:rPr>
              <a:t>Kieran Joe: architecture and MP agents.</a:t>
            </a:r>
          </a:p>
        </p:txBody>
      </p:sp>
      <p:sp>
        <p:nvSpPr>
          <p:cNvPr id="72" name="Footer band">
            <a:extLst xmlns:a="http://schemas.openxmlformats.org/drawingml/2006/main">
              <a:ext uri="{FF2B5EF4-FFF2-40B4-BE49-F238E27FC236}">
                <a16:creationId xmlns:a16="http://schemas.microsoft.com/office/drawing/2014/main" id="{B4C68F03-84C2-4855-88BC-38DDBBE9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124000"/>
            <a:ext cx="21816000" cy="158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References heading">
            <a:extLst xmlns:a="http://schemas.openxmlformats.org/drawingml/2006/main">
              <a:ext uri="{FF2B5EF4-FFF2-40B4-BE49-F238E27FC236}">
                <a16:creationId xmlns:a16="http://schemas.microsoft.com/office/drawing/2014/main" id="{0EBBE7EC-0E45-4FF9-AF14-66CB3D6F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9412000"/>
            <a:ext cx="842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 i="0">
                <a:solidFill>
                  <a:srgbClr val="1F4D3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200" b="1" i="0">
                <a:solidFill>
                  <a:srgbClr val="1F4D36"/>
                </a:solidFill>
                <a:latin typeface="Calibri"/>
                <a:ea typeface="Calibri"/>
                <a:cs typeface="Calibri"/>
              </a:defRPr>
            </a:pPr>
            <a:r>
              <a:rPr sz="2200" b="1" i="0">
                <a:solidFill>
                  <a:srgbClr val="1F4D36"/>
                </a:solidFill>
                <a:latin typeface="Calibri"/>
                <a:ea typeface="Calibri"/>
                <a:cs typeface="Calibri"/>
              </a:rPr>
              <a:t>References</a:t>
            </a:r>
          </a:p>
        </p:txBody>
      </p:sp>
      <p:sp>
        <p:nvSpPr>
          <p:cNvPr id="74" name="References detail">
            <a:extLst xmlns:a="http://schemas.openxmlformats.org/drawingml/2006/main">
              <a:ext uri="{FF2B5EF4-FFF2-40B4-BE49-F238E27FC236}">
                <a16:creationId xmlns:a16="http://schemas.microsoft.com/office/drawing/2014/main" id="{368D1691-A554-4513-AC9A-7A479BB0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9844000"/>
            <a:ext cx="8424000" cy="6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 i="0">
                <a:solidFill>
                  <a:srgbClr val="1F2A2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00" b="0" i="0">
                <a:solidFill>
                  <a:srgbClr val="1F2A24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1F2A24"/>
                </a:solidFill>
                <a:latin typeface="Calibri"/>
                <a:ea typeface="Calibri"/>
                <a:cs typeface="Calibri"/>
              </a:rPr>
              <a:t>[1] Rauh &amp; Schwalbach (2020). ParlSpeech V2.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00" b="0" i="0">
                <a:solidFill>
                  <a:srgbClr val="1F2A24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1F2A24"/>
                </a:solidFill>
                <a:latin typeface="Calibri"/>
                <a:ea typeface="Calibri"/>
                <a:cs typeface="Calibri"/>
              </a:rPr>
              <a:t>[2] Project 123 debate evaluation study, October 2026.</a:t>
            </a:r>
          </a:p>
        </p:txBody>
      </p:sp>
      <p:sp>
        <p:nvSpPr>
          <p:cNvPr id="75" name="Acknowledgements heading">
            <a:extLst xmlns:a="http://schemas.openxmlformats.org/drawingml/2006/main">
              <a:ext uri="{FF2B5EF4-FFF2-40B4-BE49-F238E27FC236}">
                <a16:creationId xmlns:a16="http://schemas.microsoft.com/office/drawing/2014/main" id="{C4F568C9-9777-4934-8F3B-DFCC82B9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000" y="29412000"/>
            <a:ext cx="68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 i="0">
                <a:solidFill>
                  <a:srgbClr val="1F4D3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200" b="1" i="0">
                <a:solidFill>
                  <a:srgbClr val="1F4D36"/>
                </a:solidFill>
                <a:latin typeface="Calibri"/>
                <a:ea typeface="Calibri"/>
                <a:cs typeface="Calibri"/>
              </a:defRPr>
            </a:pPr>
            <a:r>
              <a:rPr sz="2200" b="1" i="0">
                <a:solidFill>
                  <a:srgbClr val="1F4D36"/>
                </a:solidFill>
                <a:latin typeface="Calibri"/>
                <a:ea typeface="Calibri"/>
                <a:cs typeface="Calibri"/>
              </a:rPr>
              <a:t>Acknowledgements</a:t>
            </a:r>
          </a:p>
        </p:txBody>
      </p:sp>
      <p:sp>
        <p:nvSpPr>
          <p:cNvPr id="76" name="Acknowledgements detail">
            <a:extLst xmlns:a="http://schemas.openxmlformats.org/drawingml/2006/main">
              <a:ext uri="{FF2B5EF4-FFF2-40B4-BE49-F238E27FC236}">
                <a16:creationId xmlns:a16="http://schemas.microsoft.com/office/drawing/2014/main" id="{2BA8CD65-60CE-4BB9-A7C8-5305F3DB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000" y="29844000"/>
            <a:ext cx="6840000" cy="6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 i="0">
                <a:solidFill>
                  <a:srgbClr val="1F2A2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00" b="0" i="0">
                <a:solidFill>
                  <a:srgbClr val="1F2A24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1F2A24"/>
                </a:solidFill>
                <a:latin typeface="Calibri"/>
                <a:ea typeface="Calibri"/>
                <a:cs typeface="Calibri"/>
              </a:rPr>
              <a:t>Political science collaborators, Georgetown University.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00" b="0" i="0">
                <a:solidFill>
                  <a:srgbClr val="1F2A24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1F2A24"/>
                </a:solidFill>
                <a:latin typeface="Calibri"/>
                <a:ea typeface="Calibri"/>
                <a:cs typeface="Calibri"/>
              </a:rPr>
              <a:t>Members are AI archetypes, not real MPs.</a:t>
            </a:r>
          </a:p>
        </p:txBody>
      </p:sp>
      <p:sp>
        <p:nvSpPr>
          <p:cNvPr id="77" name="Contact heading">
            <a:extLst xmlns:a="http://schemas.openxmlformats.org/drawingml/2006/main">
              <a:ext uri="{FF2B5EF4-FFF2-40B4-BE49-F238E27FC236}">
                <a16:creationId xmlns:a16="http://schemas.microsoft.com/office/drawing/2014/main" id="{90E01D49-C46A-495C-B1AE-81A43C69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4000" y="29412000"/>
            <a:ext cx="3888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1" i="0">
                <a:solidFill>
                  <a:srgbClr val="1F4D3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200" b="1" i="0">
                <a:solidFill>
                  <a:srgbClr val="1F4D36"/>
                </a:solidFill>
                <a:latin typeface="Calibri"/>
                <a:ea typeface="Calibri"/>
                <a:cs typeface="Calibri"/>
              </a:defRPr>
            </a:pPr>
            <a:r>
              <a:rPr sz="2200" b="1" i="0">
                <a:solidFill>
                  <a:srgbClr val="1F4D36"/>
                </a:solidFill>
                <a:latin typeface="Calibri"/>
                <a:ea typeface="Calibri"/>
                <a:cs typeface="Calibri"/>
              </a:rPr>
              <a:t>Contact</a:t>
            </a:r>
          </a:p>
        </p:txBody>
      </p:sp>
      <p:sp>
        <p:nvSpPr>
          <p:cNvPr id="78" name="Contact detail">
            <a:extLst xmlns:a="http://schemas.openxmlformats.org/drawingml/2006/main">
              <a:ext uri="{FF2B5EF4-FFF2-40B4-BE49-F238E27FC236}">
                <a16:creationId xmlns:a16="http://schemas.microsoft.com/office/drawing/2014/main" id="{06D50F39-3261-435B-B601-63755CB2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4000" y="29844000"/>
            <a:ext cx="3888000" cy="6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0" i="0">
                <a:solidFill>
                  <a:srgbClr val="1F2A2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00" b="0" i="0">
                <a:solidFill>
                  <a:srgbClr val="1F2A24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1F2A24"/>
                </a:solidFill>
                <a:latin typeface="Calibri"/>
                <a:ea typeface="Calibri"/>
                <a:cs typeface="Calibri"/>
              </a:rPr>
              <a:t>asun555@aucklanduni.ac.nz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00" b="0" i="0">
                <a:solidFill>
                  <a:srgbClr val="1F2A24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1F2A24"/>
                </a:solidFill>
                <a:latin typeface="Calibri"/>
                <a:ea typeface="Calibri"/>
                <a:cs typeface="Calibri"/>
              </a:rPr>
              <a:t>kjoe685@aucklanduni.ac.nz</a:t>
            </a:r>
          </a:p>
        </p:txBody>
      </p:sp>
    </p:spTree>
    <p:extLst>
      <p:ext uri="{BB962C8B-B14F-4D97-AF65-F5344CB8AC3E}">
        <p14:creationId xmlns:p14="http://schemas.microsoft.com/office/powerpoint/2010/main" val="130684719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2026-10-08T23:52:38.0190000Z</dcterms:created>
  <dcterms:modified xsi:type="dcterms:W3CDTF">2026-10-08T23:52:38.0190000Z</dcterms:modified>
</coreProperties>
</file>