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9b9d9176c14a2d" /><Relationship Type="http://schemas.openxmlformats.org/officeDocument/2006/relationships/extended-properties" Target="/docProps/app.xml" Id="R5d361a7aa2ac4ddd" /><Relationship Type="http://schemas.openxmlformats.org/officeDocument/2006/relationships/officeDocument" Target="/ppt/presentation.xml" Id="R633687b790a044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f46aa886224b8a"/>
  </p:sldMasterIdLst>
  <p:notesMasterIdLst>
    <p:notesMasterId xmlns:r="http://schemas.openxmlformats.org/officeDocument/2006/relationships" r:id="R444b162b4d2a4b15"/>
  </p:notesMasterIdLst>
  <p:sldIdLst>
    <p:sldId xmlns:r="http://schemas.openxmlformats.org/officeDocument/2006/relationships" id="256" r:id="R9df1b40a96bc4b55"/>
  </p:sldIdLst>
  <p:sldSz cx="21816000" cy="3070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6969d0bd664d18" /><Relationship Type="http://schemas.openxmlformats.org/officeDocument/2006/relationships/slideMaster" Target="/ppt/slideMasters/slideMaster1.xml" Id="R27f46aa886224b8a" /><Relationship Type="http://schemas.openxmlformats.org/officeDocument/2006/relationships/notesMaster" Target="/ppt/notesMasters/notesMaster1.xml" Id="R444b162b4d2a4b15" /><Relationship Type="http://schemas.openxmlformats.org/officeDocument/2006/relationships/presProps" Target="/ppt/presProps.xml" Id="R22789c2e79774a85" /><Relationship Type="http://schemas.openxmlformats.org/officeDocument/2006/relationships/viewProps" Target="/ppt/viewProps.xml" Id="Rb036f30ce8234c31" /><Relationship Type="http://schemas.openxmlformats.org/officeDocument/2006/relationships/tableStyles" Target="/ppt/tableStyles.xml" Id="R7421aea2d4cb47cd" /><Relationship Type="http://schemas.openxmlformats.org/officeDocument/2006/relationships/slide" Target="/ppt/slides/slide1.xml" Id="R9df1b40a96bc4b5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831dcebe284c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0b7b78b370468f" /><Relationship Type="http://schemas.openxmlformats.org/officeDocument/2006/relationships/notesMaster" Target="/ppt/notesMasters/notesMaster1.xml" Id="Rb3cd0e479b2541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Poster_123.pptx (original branding, project title, author/supervisor names, contributions, acknowledgements and contacts). Current implementation at a7acbdf with application source 1ee449b: README.md, docs/grounding.md, docs/debate-behaviour.md, docs/interface-parity.md. Study source: debate-evaluation.xlsx, Summary G8:K13 and its rubric.csv/runs.csv. 54 complete debates, 1350 speeches, two models, three topics, 0/10/100 excerpts per party, three repetitions per condition, five parties and five rounds, strategy NONE and zero interruptions. Each displayed mean pools 45 participant/topic metric scores across 9 debates per model/grounding level. Speeches and participant scores within a debate are dependent. Rubric scores are separate 0–4 scales, with disruptive rhetoric higher meaning more disruption. All figures are descriptive. Same-model judging and absent human validation limit generalization. Corpus: 500 reviewed excerpts, 100 per party, from ParlSpeech V2, DOI 10.7910/DVN/L4OAKN. Automated software checks do not establish model behaviour or research accuracy.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171d1820a04502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1875f0d0cd483a" /><Relationship Type="http://schemas.openxmlformats.org/officeDocument/2006/relationships/slideLayout" Target="/ppt/slideLayouts/slideLayout1.xml" Id="R375e040772a74b1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5e040772a74b1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0a85651004660" /><Relationship Type="http://schemas.openxmlformats.org/officeDocument/2006/relationships/image" Target="/ppt/media/image.png" Id="R833ebd392d1240fe" /><Relationship Type="http://schemas.openxmlformats.org/officeDocument/2006/relationships/image" Target="/ppt/media/image2.png" Id="R1b34d6af41274e32" /><Relationship Type="http://schemas.openxmlformats.org/officeDocument/2006/relationships/chart" Target="/ppt/slides/charts/chart1.xml" Id="Rbf5bde43cbfb4c63" /><Relationship Type="http://schemas.openxmlformats.org/officeDocument/2006/relationships/chart" Target="/ppt/slides/charts/chart2.xml" Id="Ra09bff7bfd254e59" /><Relationship Type="http://schemas.openxmlformats.org/officeDocument/2006/relationships/chart" Target="/ppt/slides/charts/chart3.xml" Id="Rd6877207c77348e9" /><Relationship Type="http://schemas.openxmlformats.org/officeDocument/2006/relationships/notesSlide" Target="/ppt/notesSlides/notesSlide1.xml" Id="Rdb4cbff73fdb43d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Consistency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800" b="1">
              <a:solidFill>
                <a:srgbClr val="1F4D36"/>
              </a:solidFill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GPT-6 Luna</c:v>
          </c:tx>
          <c:spPr>
            <a:ln xmlns:a="http://schemas.openxmlformats.org/drawingml/2006/main" w="38100">
              <a:solidFill>
                <a:srgbClr val="1F4D36"/>
              </a:solidFill>
              <a:prstDash val="solid"/>
            </a:ln>
          </c:spPr>
          <c:marker>
            <c:symbol val="circle"/>
            <c:size val="11"/>
            <c:spPr>
              <a:solidFill xmlns:a="http://schemas.openxmlformats.org/drawingml/2006/main">
                <a:srgbClr val="1F4D36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4</c:v>
                </c:pt>
                <c:pt idx="1">
                  <c:v>4</c:v>
                </c:pt>
                <c:pt idx="2">
                  <c:v>4</c:v>
                </c:pt>
              </c:numCache>
            </c:numRef>
          </c:val>
          <c:smooth val="0"/>
        </c:ser>
        <c:ser>
          <c:idx val="1"/>
          <c:order val="1"/>
          <c:tx>
            <c:v>Qwen3:8b</c:v>
          </c:tx>
          <c:spPr>
            <a:ln xmlns:a="http://schemas.openxmlformats.org/drawingml/2006/main" w="38100">
              <a:solidFill>
                <a:srgbClr val="C9971C"/>
              </a:solidFill>
              <a:prstDash val="solid"/>
            </a:ln>
          </c:spPr>
          <c:marker>
            <c:symbol val="square"/>
            <c:size val="11"/>
            <c:spPr>
              <a:solidFill xmlns:a="http://schemas.openxmlformats.org/drawingml/2006/main">
                <a:srgbClr val="C9971C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3.93333333333333</c:v>
                </c:pt>
                <c:pt idx="1">
                  <c:v>3.91111111111111</c:v>
                </c:pt>
                <c:pt idx="2">
                  <c:v>3.62222222222222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2000">
                    <a:solidFill>
                      <a:srgbClr val="56615B"/>
                    </a:solidFill>
                    <a:latin typeface="Calibri"/>
                    <a:ea typeface="Calibri"/>
                    <a:cs typeface="Calibri"/>
                  </a:rPr>
                  <a:t>Hansard excerpts per party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00">
                  <a:solidFill>
                    <a:srgbClr val="56615B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0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0C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>
              <a:solidFill>
                <a:srgbClr val="1F2A24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Logical reasoning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800" b="1">
              <a:solidFill>
                <a:srgbClr val="1F4D36"/>
              </a:solidFill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GPT-6 Luna</c:v>
          </c:tx>
          <c:spPr>
            <a:ln xmlns:a="http://schemas.openxmlformats.org/drawingml/2006/main" w="38100">
              <a:solidFill>
                <a:srgbClr val="1F4D36"/>
              </a:solidFill>
              <a:prstDash val="solid"/>
            </a:ln>
          </c:spPr>
          <c:marker>
            <c:symbol val="circle"/>
            <c:size val="11"/>
            <c:spPr>
              <a:solidFill xmlns:a="http://schemas.openxmlformats.org/drawingml/2006/main">
                <a:srgbClr val="1F4D36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3</c:v>
                </c:pt>
                <c:pt idx="1">
                  <c:v>2.97777777777778</c:v>
                </c:pt>
                <c:pt idx="2">
                  <c:v>3.06666666666667</c:v>
                </c:pt>
              </c:numCache>
            </c:numRef>
          </c:val>
          <c:smooth val="0"/>
        </c:ser>
        <c:ser>
          <c:idx val="1"/>
          <c:order val="1"/>
          <c:tx>
            <c:v>Qwen3:8b</c:v>
          </c:tx>
          <c:spPr>
            <a:ln xmlns:a="http://schemas.openxmlformats.org/drawingml/2006/main" w="38100">
              <a:solidFill>
                <a:srgbClr val="C9971C"/>
              </a:solidFill>
              <a:prstDash val="solid"/>
            </a:ln>
          </c:spPr>
          <c:marker>
            <c:symbol val="square"/>
            <c:size val="11"/>
            <c:spPr>
              <a:solidFill xmlns:a="http://schemas.openxmlformats.org/drawingml/2006/main">
                <a:srgbClr val="C9971C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2.64444444444444</c:v>
                </c:pt>
                <c:pt idx="1">
                  <c:v>2.66666666666667</c:v>
                </c:pt>
                <c:pt idx="2">
                  <c:v>2.62222222222222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2000">
                    <a:solidFill>
                      <a:srgbClr val="56615B"/>
                    </a:solidFill>
                    <a:latin typeface="Calibri"/>
                    <a:ea typeface="Calibri"/>
                    <a:cs typeface="Calibri"/>
                  </a:rPr>
                  <a:t>Hansard excerpts per party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00">
                  <a:solidFill>
                    <a:srgbClr val="56615B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0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0C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>
              <a:solidFill>
                <a:srgbClr val="1F2A24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800" b="1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Responsiveness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800" b="1">
              <a:solidFill>
                <a:srgbClr val="1F4D36"/>
              </a:solidFill>
              <a:latin typeface="Calibri"/>
              <a:ea typeface="Calibri"/>
              <a:cs typeface="Calibri"/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GPT-6 Luna</c:v>
          </c:tx>
          <c:spPr>
            <a:ln xmlns:a="http://schemas.openxmlformats.org/drawingml/2006/main" w="38100">
              <a:solidFill>
                <a:srgbClr val="1F4D36"/>
              </a:solidFill>
              <a:prstDash val="solid"/>
            </a:ln>
          </c:spPr>
          <c:marker>
            <c:symbol val="circle"/>
            <c:size val="11"/>
            <c:spPr>
              <a:solidFill xmlns:a="http://schemas.openxmlformats.org/drawingml/2006/main">
                <a:srgbClr val="1F4D36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3.48888888888889</c:v>
                </c:pt>
                <c:pt idx="1">
                  <c:v>3.4</c:v>
                </c:pt>
                <c:pt idx="2">
                  <c:v>3.42222222222222</c:v>
                </c:pt>
              </c:numCache>
            </c:numRef>
          </c:val>
          <c:smooth val="0"/>
        </c:ser>
        <c:ser>
          <c:idx val="1"/>
          <c:order val="1"/>
          <c:tx>
            <c:v>Qwen3:8b</c:v>
          </c:tx>
          <c:spPr>
            <a:ln xmlns:a="http://schemas.openxmlformats.org/drawingml/2006/main" w="38100">
              <a:solidFill>
                <a:srgbClr val="C9971C"/>
              </a:solidFill>
              <a:prstDash val="solid"/>
            </a:ln>
          </c:spPr>
          <c:marker>
            <c:symbol val="square"/>
            <c:size val="11"/>
            <c:spPr>
              <a:solidFill xmlns:a="http://schemas.openxmlformats.org/drawingml/2006/main">
                <a:srgbClr val="C9971C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10</c:v>
                </c:pt>
                <c:pt idx="2">
                  <c:v>100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2.66666666666667</c:v>
                </c:pt>
                <c:pt idx="1">
                  <c:v>2.68888888888889</c:v>
                </c:pt>
                <c:pt idx="2">
                  <c:v>2.71111111111111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2000">
                    <a:solidFill>
                      <a:srgbClr val="56615B"/>
                    </a:solidFill>
                    <a:latin typeface="Calibri"/>
                    <a:ea typeface="Calibri"/>
                    <a:cs typeface="Calibri"/>
                  </a:rPr>
                  <a:t>Hansard excerpts per party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00">
                  <a:solidFill>
                    <a:srgbClr val="56615B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0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D0C2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0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4F1EA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>
              <a:solidFill>
                <a:srgbClr val="1F2A24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4F1EA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1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81E599-38C2-49AD-9E26-96C73D76B458}"/>
              </a:ext>
            </a:extLst>
          </p:cNvPr>
          <p:cNvCxnSpPr>
            <a:stCxn xmlns:a="http://schemas.openxmlformats.org/drawingml/2006/main" id="46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16825320" y="15354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cxnSp>
        <p:nvCxn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B1D8D7-A45D-43E2-A978-C37D4C0582E3}"/>
              </a:ext>
            </a:extLst>
          </p:cNvPr>
          <p:cNvCxnSpPr>
            <a:stCxn xmlns:a="http://schemas.openxmlformats.org/drawingml/2006/main" id="43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12703320" y="15354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cxnSp>
        <p:nvCxn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D72129-E858-43D0-8238-018F90666C37}"/>
              </a:ext>
            </a:extLst>
          </p:cNvPr>
          <p:cNvCxnSpPr>
            <a:stCxn xmlns:a="http://schemas.openxmlformats.org/drawingml/2006/main" id="40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8581320" y="15354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cxnSp>
        <p:nvCxn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E5321A5-4BCB-4A86-801C-C08C9A2E1115}"/>
              </a:ext>
            </a:extLst>
          </p:cNvPr>
          <p:cNvCxnSpPr>
            <a:stCxn xmlns:a="http://schemas.openxmlformats.org/drawingml/2006/main" id="37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4459320" y="15354000"/>
            <a:ext cx="53136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C9971C"/>
            </a:solidFill>
            <a:prstDash val="solid"/>
            <a:tailEnd type="triangle" w="med" len="med"/>
          </a:ln>
        </p:spPr>
      </p:cxnSp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603DC4E-BFF3-4EF6-8F69-0F478C12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816000" cy="399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2C"/>
          </a:solidFill>
        </p:spPr>
      </p:sp>
      <p:pic>
        <p:nvPicPr>
          <p:cNvPr id="3" name="Image 0">
            <a:extLst xmlns:a="http://schemas.openxmlformats.org/drawingml/2006/main">
              <a:ext uri="{FF2B5EF4-FFF2-40B4-BE49-F238E27FC236}">
                <a16:creationId xmlns:a16="http://schemas.microsoft.com/office/drawing/2014/main" id="{DB56F96D-AEDA-454E-8277-56CB4BD643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3ebd392d1240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8680" y="658368"/>
            <a:ext cx="2788784" cy="1097280"/>
          </a:xfrm>
          <a:prstGeom xmlns:a="http://schemas.openxmlformats.org/drawingml/2006/main" prst="rect">
            <a:avLst/>
          </a:prstGeom>
        </p:spPr>
      </p:pic>
      <p:sp>
        <p:nvSpPr>
          <p:cNvPr id="4" name="Header project number">
            <a:extLst xmlns:a="http://schemas.openxmlformats.org/drawingml/2006/main">
              <a:ext uri="{FF2B5EF4-FFF2-40B4-BE49-F238E27FC236}">
                <a16:creationId xmlns:a16="http://schemas.microsoft.com/office/drawing/2014/main" id="{83363B27-6357-40EE-9CB8-35726DAF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9172" y="540000"/>
            <a:ext cx="1005840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800" b="1" i="0">
                <a:solidFill>
                  <a:srgbClr val="F2C14E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r">
              <a:lnSpc>
                <a:spcPct val="108000"/>
              </a:lnSpc>
              <a:buNone/>
              <a:defRPr sz="2800" b="1" i="0">
                <a:solidFill>
                  <a:srgbClr val="F2C14E"/>
                </a:solidFill>
                <a:latin typeface="Calibri"/>
                <a:ea typeface="Calibri"/>
                <a:cs typeface="Calibri"/>
              </a:defRPr>
            </a:pPr>
            <a:r>
              <a:rPr sz="2800" b="1" i="0">
                <a:solidFill>
                  <a:srgbClr val="F2C14E"/>
                </a:solidFill>
                <a:latin typeface="Calibri"/>
                <a:ea typeface="Calibri"/>
                <a:cs typeface="Calibri"/>
              </a:rPr>
              <a:t>Part IV Project #123</a:t>
            </a:r>
          </a:p>
        </p:txBody>
      </p:sp>
      <p:sp>
        <p:nvSpPr>
          <p:cNvPr id="5" name="Header department">
            <a:extLst xmlns:a="http://schemas.openxmlformats.org/drawingml/2006/main">
              <a:ext uri="{FF2B5EF4-FFF2-40B4-BE49-F238E27FC236}">
                <a16:creationId xmlns:a16="http://schemas.microsoft.com/office/drawing/2014/main" id="{D26F411B-CA1D-4906-B224-B1798F463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9172" y="1044000"/>
            <a:ext cx="100584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2200" b="0" i="0">
                <a:solidFill>
                  <a:srgbClr val="E6EFE9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r">
              <a:lnSpc>
                <a:spcPct val="108000"/>
              </a:lnSpc>
              <a:buNone/>
              <a:defRPr sz="2200" b="0" i="0">
                <a:solidFill>
                  <a:srgbClr val="E6EFE9"/>
                </a:solidFill>
                <a:latin typeface="Calibri"/>
                <a:ea typeface="Calibri"/>
                <a:cs typeface="Calibri"/>
              </a:defRPr>
            </a:pPr>
            <a:r>
              <a:rPr sz="2200" b="0" i="0">
                <a:solidFill>
                  <a:srgbClr val="E6EFE9"/>
                </a:solidFill>
                <a:latin typeface="Calibri"/>
                <a:ea typeface="Calibri"/>
                <a:cs typeface="Calibri"/>
              </a:rPr>
              <a:t>Department of Electrical, Computer,</a:t>
            </a:r>
          </a:p>
          <a:p xmlns:a="http://schemas.openxmlformats.org/drawingml/2006/main">
            <a:pPr algn="r">
              <a:lnSpc>
                <a:spcPct val="108000"/>
              </a:lnSpc>
              <a:buNone/>
              <a:defRPr sz="2200" b="0" i="0">
                <a:solidFill>
                  <a:srgbClr val="E6EFE9"/>
                </a:solidFill>
                <a:latin typeface="Calibri"/>
                <a:ea typeface="Calibri"/>
                <a:cs typeface="Calibri"/>
              </a:defRPr>
            </a:pPr>
            <a:r>
              <a:rPr sz="2200" b="0" i="0">
                <a:solidFill>
                  <a:srgbClr val="E6EFE9"/>
                </a:solidFill>
                <a:latin typeface="Calibri"/>
                <a:ea typeface="Calibri"/>
                <a:cs typeface="Calibri"/>
              </a:rPr>
              <a:t>and Software Engineering</a:t>
            </a:r>
          </a:p>
        </p:txBody>
      </p:sp>
      <p:sp>
        <p:nvSpPr>
          <p:cNvPr id="6" name="Header title">
            <a:extLst xmlns:a="http://schemas.openxmlformats.org/drawingml/2006/main">
              <a:ext uri="{FF2B5EF4-FFF2-40B4-BE49-F238E27FC236}">
                <a16:creationId xmlns:a16="http://schemas.microsoft.com/office/drawing/2014/main" id="{CC0F31FF-C0D9-4F8F-ABDA-6EE60FDD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2000"/>
            <a:ext cx="20078640" cy="11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840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840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8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AI-Based Virtual Parliament</a:t>
            </a:r>
          </a:p>
        </p:txBody>
      </p:sp>
      <p:sp>
        <p:nvSpPr>
          <p:cNvPr id="7" name="Header research question">
            <a:extLst xmlns:a="http://schemas.openxmlformats.org/drawingml/2006/main">
              <a:ext uri="{FF2B5EF4-FFF2-40B4-BE49-F238E27FC236}">
                <a16:creationId xmlns:a16="http://schemas.microsoft.com/office/drawing/2014/main" id="{7E0CD887-6481-4FC3-B793-3E9705AB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44000"/>
            <a:ext cx="2007864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0" i="1">
                <a:solidFill>
                  <a:srgbClr val="F2C14E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3600" b="0" i="1">
                <a:solidFill>
                  <a:srgbClr val="F2C14E"/>
                </a:solidFill>
                <a:latin typeface="Cambria"/>
                <a:ea typeface="Cambria"/>
                <a:cs typeface="Cambria"/>
              </a:defRPr>
            </a:pPr>
            <a:r>
              <a:rPr sz="3600" b="0" i="1">
                <a:solidFill>
                  <a:srgbClr val="F2C14E"/>
                </a:solidFill>
                <a:latin typeface="Cambria"/>
                <a:ea typeface="Cambria"/>
                <a:cs typeface="Cambria"/>
              </a:rPr>
              <a:t>Does more Hansard grounding improve AI debate?</a:t>
            </a:r>
          </a:p>
        </p:txBody>
      </p:sp>
      <p:sp>
        <p:nvSpPr>
          <p:cNvPr id="8" name="Header authors">
            <a:extLst xmlns:a="http://schemas.openxmlformats.org/drawingml/2006/main">
              <a:ext uri="{FF2B5EF4-FFF2-40B4-BE49-F238E27FC236}">
                <a16:creationId xmlns:a16="http://schemas.microsoft.com/office/drawing/2014/main" id="{3EA05631-0FD8-4D05-A5C9-40B0D09D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56000"/>
            <a:ext cx="20078640" cy="43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Albert Sun &amp; Kieran Joe</a:t>
            </a:r>
            <a:r>
              <a:rPr sz="280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  ·   Supervisor: Dr Joerg Wicker</a:t>
            </a:r>
          </a:p>
        </p:txBody>
      </p:sp>
      <p:sp>
        <p:nvSpPr>
          <p:cNvPr id="9" name="Project overview">
            <a:extLst xmlns:a="http://schemas.openxmlformats.org/drawingml/2006/main">
              <a:ext uri="{FF2B5EF4-FFF2-40B4-BE49-F238E27FC236}">
                <a16:creationId xmlns:a16="http://schemas.microsoft.com/office/drawing/2014/main" id="{C9391CE4-783D-4D43-A498-2867AE54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48000"/>
            <a:ext cx="20078640" cy="93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32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32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We built a virtual New Zealand Parliament to study how language models debate. We tested whether more Hansard excerpts, drawn from real parliamentary speeches, improve debate quality.</a:t>
            </a:r>
          </a:p>
        </p:txBody>
      </p:sp>
      <p:sp>
        <p:nvSpPr>
          <p:cNvPr id="10" name="Section 1 number">
            <a:extLst xmlns:a="http://schemas.openxmlformats.org/drawingml/2006/main">
              <a:ext uri="{FF2B5EF4-FFF2-40B4-BE49-F238E27FC236}">
                <a16:creationId xmlns:a16="http://schemas.microsoft.com/office/drawing/2014/main" id="{41794EF1-B8E4-4D29-8F56-421F1EEFD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400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11" name="Section 1 title">
            <a:extLst xmlns:a="http://schemas.openxmlformats.org/drawingml/2006/main">
              <a:ext uri="{FF2B5EF4-FFF2-40B4-BE49-F238E27FC236}">
                <a16:creationId xmlns:a16="http://schemas.microsoft.com/office/drawing/2014/main" id="{080D8C03-3FFC-41B2-A4A0-4786B599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5346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One platform, three interfaces</a:t>
            </a:r>
          </a:p>
        </p:txBody>
      </p:sp>
      <p:sp>
        <p:nvSpPr>
          <p:cNvPr id="12" name="Screenshot border">
            <a:extLst xmlns:a="http://schemas.openxmlformats.org/drawingml/2006/main">
              <a:ext uri="{FF2B5EF4-FFF2-40B4-BE49-F238E27FC236}">
                <a16:creationId xmlns:a16="http://schemas.microsoft.com/office/drawing/2014/main" id="{6467FE11-4251-4544-86BA-171746790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000" y="6278400"/>
            <a:ext cx="11203200" cy="595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11F2D2-5E2A-4456-9222-BCBF63559B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34d6af41274e32"/>
          <a:stretch xmlns:a="http://schemas.openxmlformats.org/drawingml/2006/main"/>
        </p:blipFill>
        <p:spPr>
          <a:xfrm xmlns:a="http://schemas.openxmlformats.org/drawingml/2006/main">
            <a:off x="868974" y="6300000"/>
            <a:ext cx="11159412" cy="5914800"/>
          </a:xfrm>
          <a:prstGeom xmlns:a="http://schemas.openxmlformats.org/drawingml/2006/main" prst="rect">
            <a:avLst/>
          </a:prstGeom>
        </p:spPr>
      </p:pic>
      <p:sp>
        <p:nvSpPr>
          <p:cNvPr id="14" name="Callout A">
            <a:extLst xmlns:a="http://schemas.openxmlformats.org/drawingml/2006/main">
              <a:ext uri="{FF2B5EF4-FFF2-40B4-BE49-F238E27FC236}">
                <a16:creationId xmlns:a16="http://schemas.microsoft.com/office/drawing/2014/main" id="{610022AB-1B11-4C68-AD77-88D9A044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000" y="72612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</a:t>
            </a:r>
          </a:p>
        </p:txBody>
      </p:sp>
      <p:sp>
        <p:nvSpPr>
          <p:cNvPr id="15" name="Callout B">
            <a:extLst xmlns:a="http://schemas.openxmlformats.org/drawingml/2006/main">
              <a:ext uri="{FF2B5EF4-FFF2-40B4-BE49-F238E27FC236}">
                <a16:creationId xmlns:a16="http://schemas.microsoft.com/office/drawing/2014/main" id="{E6266498-4474-4391-B744-C8CD82A70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6000" y="81864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</a:t>
            </a:r>
          </a:p>
        </p:txBody>
      </p:sp>
      <p:sp>
        <p:nvSpPr>
          <p:cNvPr id="16" name="Callout C">
            <a:extLst xmlns:a="http://schemas.openxmlformats.org/drawingml/2006/main">
              <a:ext uri="{FF2B5EF4-FFF2-40B4-BE49-F238E27FC236}">
                <a16:creationId xmlns:a16="http://schemas.microsoft.com/office/drawing/2014/main" id="{7E90276F-544A-4257-9C94-A4C9AE98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2800" y="64548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</a:t>
            </a:r>
          </a:p>
        </p:txBody>
      </p:sp>
      <p:sp>
        <p:nvSpPr>
          <p:cNvPr id="17" name="Callout D">
            <a:extLst xmlns:a="http://schemas.openxmlformats.org/drawingml/2006/main">
              <a:ext uri="{FF2B5EF4-FFF2-40B4-BE49-F238E27FC236}">
                <a16:creationId xmlns:a16="http://schemas.microsoft.com/office/drawing/2014/main" id="{E6FF74B3-31A3-46AA-BE47-AF7F32B86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0000" y="102240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</a:t>
            </a:r>
          </a:p>
        </p:txBody>
      </p:sp>
      <p:sp>
        <p:nvSpPr>
          <p:cNvPr id="18" name="Callout E">
            <a:extLst xmlns:a="http://schemas.openxmlformats.org/drawingml/2006/main">
              <a:ext uri="{FF2B5EF4-FFF2-40B4-BE49-F238E27FC236}">
                <a16:creationId xmlns:a16="http://schemas.microsoft.com/office/drawing/2014/main" id="{7945F291-C2CD-49CF-AACC-A8A9F997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0000" y="6426000"/>
            <a:ext cx="540000" cy="54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</a:t>
            </a:r>
          </a:p>
        </p:txBody>
      </p:sp>
      <p:sp>
        <p:nvSpPr>
          <p:cNvPr id="19" name="Callout A">
            <a:extLst xmlns:a="http://schemas.openxmlformats.org/drawingml/2006/main">
              <a:ext uri="{FF2B5EF4-FFF2-40B4-BE49-F238E27FC236}">
                <a16:creationId xmlns:a16="http://schemas.microsoft.com/office/drawing/2014/main" id="{662378C9-2F83-4E19-A62D-24D9FD2D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2000" y="6264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</a:t>
            </a:r>
          </a:p>
        </p:txBody>
      </p:sp>
      <p:sp>
        <p:nvSpPr>
          <p:cNvPr id="20" name="Callout A heading">
            <a:extLst xmlns:a="http://schemas.openxmlformats.org/drawingml/2006/main">
              <a:ext uri="{FF2B5EF4-FFF2-40B4-BE49-F238E27FC236}">
                <a16:creationId xmlns:a16="http://schemas.microsoft.com/office/drawing/2014/main" id="{F5D9699D-5C8E-411C-956C-B09A1DB7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6228000"/>
            <a:ext cx="7627320" cy="4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The Chamber</a:t>
            </a:r>
          </a:p>
        </p:txBody>
      </p:sp>
      <p:sp>
        <p:nvSpPr>
          <p:cNvPr id="21" name="Callout A detail">
            <a:extLst xmlns:a="http://schemas.openxmlformats.org/drawingml/2006/main">
              <a:ext uri="{FF2B5EF4-FFF2-40B4-BE49-F238E27FC236}">
                <a16:creationId xmlns:a16="http://schemas.microsoft.com/office/drawing/2014/main" id="{F53446FA-118A-4C3C-ABC3-4AF41FB1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6750000"/>
            <a:ext cx="762732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Members light up as they speak.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Party roles appear in the chamber.</a:t>
            </a:r>
          </a:p>
        </p:txBody>
      </p:sp>
      <p:sp>
        <p:nvSpPr>
          <p:cNvPr id="22" name="Callout B">
            <a:extLst xmlns:a="http://schemas.openxmlformats.org/drawingml/2006/main">
              <a:ext uri="{FF2B5EF4-FFF2-40B4-BE49-F238E27FC236}">
                <a16:creationId xmlns:a16="http://schemas.microsoft.com/office/drawing/2014/main" id="{06EA18E8-B4BA-48B6-85A7-7550B44C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2000" y="7632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</a:t>
            </a:r>
          </a:p>
        </p:txBody>
      </p:sp>
      <p:sp>
        <p:nvSpPr>
          <p:cNvPr id="23" name="Callout B heading">
            <a:extLst xmlns:a="http://schemas.openxmlformats.org/drawingml/2006/main">
              <a:ext uri="{FF2B5EF4-FFF2-40B4-BE49-F238E27FC236}">
                <a16:creationId xmlns:a16="http://schemas.microsoft.com/office/drawing/2014/main" id="{DCE00158-F753-4B07-BB7E-C6D1200D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7596000"/>
            <a:ext cx="7627320" cy="4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Live Hansard</a:t>
            </a:r>
          </a:p>
        </p:txBody>
      </p:sp>
      <p:sp>
        <p:nvSpPr>
          <p:cNvPr id="24" name="Callout B detail">
            <a:extLst xmlns:a="http://schemas.openxmlformats.org/drawingml/2006/main">
              <a:ext uri="{FF2B5EF4-FFF2-40B4-BE49-F238E27FC236}">
                <a16:creationId xmlns:a16="http://schemas.microsoft.com/office/drawing/2014/main" id="{6B772EA7-7C82-4C01-9085-B103C682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8118000"/>
            <a:ext cx="762732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Speeches stream into Hansard.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Saved sittings reopen after restart.</a:t>
            </a:r>
          </a:p>
        </p:txBody>
      </p:sp>
      <p:sp>
        <p:nvSpPr>
          <p:cNvPr id="25" name="Callout C">
            <a:extLst xmlns:a="http://schemas.openxmlformats.org/drawingml/2006/main">
              <a:ext uri="{FF2B5EF4-FFF2-40B4-BE49-F238E27FC236}">
                <a16:creationId xmlns:a16="http://schemas.microsoft.com/office/drawing/2014/main" id="{B67403E3-FC74-4B26-AC97-BE503CAA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2000" y="9000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</a:t>
            </a:r>
          </a:p>
        </p:txBody>
      </p:sp>
      <p:sp>
        <p:nvSpPr>
          <p:cNvPr id="26" name="Callout C heading">
            <a:extLst xmlns:a="http://schemas.openxmlformats.org/drawingml/2006/main">
              <a:ext uri="{FF2B5EF4-FFF2-40B4-BE49-F238E27FC236}">
                <a16:creationId xmlns:a16="http://schemas.microsoft.com/office/drawing/2014/main" id="{AF056640-2E9E-43D2-9632-8251314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8964000"/>
            <a:ext cx="7627320" cy="4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The Speaker’s Chair</a:t>
            </a:r>
          </a:p>
        </p:txBody>
      </p:sp>
      <p:sp>
        <p:nvSpPr>
          <p:cNvPr id="27" name="Callout C detail">
            <a:extLst xmlns:a="http://schemas.openxmlformats.org/drawingml/2006/main">
              <a:ext uri="{FF2B5EF4-FFF2-40B4-BE49-F238E27FC236}">
                <a16:creationId xmlns:a16="http://schemas.microsoft.com/office/drawing/2014/main" id="{35E0A6D7-C7D4-4108-BD2B-7A18386BC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9486000"/>
            <a:ext cx="762732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Your rulings reach every member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before the next scheduled speech.</a:t>
            </a:r>
          </a:p>
        </p:txBody>
      </p:sp>
      <p:sp>
        <p:nvSpPr>
          <p:cNvPr id="28" name="Callout D">
            <a:extLst xmlns:a="http://schemas.openxmlformats.org/drawingml/2006/main">
              <a:ext uri="{FF2B5EF4-FFF2-40B4-BE49-F238E27FC236}">
                <a16:creationId xmlns:a16="http://schemas.microsoft.com/office/drawing/2014/main" id="{6E754E0F-092A-4B29-80A9-72C88D9A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2000" y="10368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</a:t>
            </a:r>
          </a:p>
        </p:txBody>
      </p:sp>
      <p:sp>
        <p:nvSpPr>
          <p:cNvPr id="29" name="Callout D heading">
            <a:extLst xmlns:a="http://schemas.openxmlformats.org/drawingml/2006/main">
              <a:ext uri="{FF2B5EF4-FFF2-40B4-BE49-F238E27FC236}">
                <a16:creationId xmlns:a16="http://schemas.microsoft.com/office/drawing/2014/main" id="{34191CEC-7FE2-45C2-BBC0-B4F8B08D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10332000"/>
            <a:ext cx="7627320" cy="4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Order Paper and Tally</a:t>
            </a:r>
          </a:p>
        </p:txBody>
      </p:sp>
      <p:sp>
        <p:nvSpPr>
          <p:cNvPr id="30" name="Callout D detail">
            <a:extLst xmlns:a="http://schemas.openxmlformats.org/drawingml/2006/main">
              <a:ext uri="{FF2B5EF4-FFF2-40B4-BE49-F238E27FC236}">
                <a16:creationId xmlns:a16="http://schemas.microsoft.com/office/drawing/2014/main" id="{193ACA6D-6B83-4920-907A-E20FE7CA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10854000"/>
            <a:ext cx="762732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Topics progress through the agenda.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Speeches and interjections count live.</a:t>
            </a:r>
          </a:p>
        </p:txBody>
      </p:sp>
      <p:sp>
        <p:nvSpPr>
          <p:cNvPr id="31" name="Callout E">
            <a:extLst xmlns:a="http://schemas.openxmlformats.org/drawingml/2006/main">
              <a:ext uri="{FF2B5EF4-FFF2-40B4-BE49-F238E27FC236}">
                <a16:creationId xmlns:a16="http://schemas.microsoft.com/office/drawing/2014/main" id="{9C877C35-571B-43B9-BCAC-ABF9A676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2000" y="11736000"/>
            <a:ext cx="594000" cy="59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14288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</a:t>
            </a:r>
          </a:p>
        </p:txBody>
      </p:sp>
      <p:sp>
        <p:nvSpPr>
          <p:cNvPr id="32" name="Callout E heading">
            <a:extLst xmlns:a="http://schemas.openxmlformats.org/drawingml/2006/main">
              <a:ext uri="{FF2B5EF4-FFF2-40B4-BE49-F238E27FC236}">
                <a16:creationId xmlns:a16="http://schemas.microsoft.com/office/drawing/2014/main" id="{81D5F344-A289-4786-887C-8CE02DD7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11700000"/>
            <a:ext cx="7627320" cy="4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2A24"/>
                </a:solidFill>
                <a:latin typeface="Cambria"/>
                <a:ea typeface="Cambria"/>
                <a:cs typeface="Cambria"/>
              </a:rPr>
              <a:t>Exports and evaluation</a:t>
            </a:r>
          </a:p>
        </p:txBody>
      </p:sp>
      <p:sp>
        <p:nvSpPr>
          <p:cNvPr id="33" name="Callout E detail">
            <a:extLst xmlns:a="http://schemas.openxmlformats.org/drawingml/2006/main">
              <a:ext uri="{FF2B5EF4-FFF2-40B4-BE49-F238E27FC236}">
                <a16:creationId xmlns:a16="http://schemas.microsoft.com/office/drawing/2014/main" id="{D3708402-09B1-4DAE-9744-BCFDDB6F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0000" y="12222000"/>
            <a:ext cx="762732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Download JSON or text. Run local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5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analysis or the separate LLM rubric.</a:t>
            </a:r>
          </a:p>
        </p:txBody>
      </p:sp>
      <p:sp>
        <p:nvSpPr>
          <p:cNvPr id="34" name="Frontend caption">
            <a:extLst xmlns:a="http://schemas.openxmlformats.org/drawingml/2006/main">
              <a:ext uri="{FF2B5EF4-FFF2-40B4-BE49-F238E27FC236}">
                <a16:creationId xmlns:a16="http://schemas.microsoft.com/office/drawing/2014/main" id="{DBFFF7E2-6124-4472-9699-6B811917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2456000"/>
            <a:ext cx="11160000" cy="79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00" b="0" i="1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Fig. 1 Updated browser in deterministic demo mode.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2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200" b="0" i="1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Browser, guided CLI and commands share one backend.</a:t>
            </a:r>
          </a:p>
        </p:txBody>
      </p:sp>
      <p:sp>
        <p:nvSpPr>
          <p:cNvPr id="35" name="Section 2 number">
            <a:extLst xmlns:a="http://schemas.openxmlformats.org/drawingml/2006/main">
              <a:ext uri="{FF2B5EF4-FFF2-40B4-BE49-F238E27FC236}">
                <a16:creationId xmlns:a16="http://schemas.microsoft.com/office/drawing/2014/main" id="{EE963207-0B83-421D-BEDD-8EE7D868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536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36" name="Section 2 title">
            <a:extLst xmlns:a="http://schemas.openxmlformats.org/drawingml/2006/main">
              <a:ext uri="{FF2B5EF4-FFF2-40B4-BE49-F238E27FC236}">
                <a16:creationId xmlns:a16="http://schemas.microsoft.com/office/drawing/2014/main" id="{A06A18A8-0322-4B43-A186-F99E5DF7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13482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Private agents, reproducible debates</a:t>
            </a:r>
          </a:p>
        </p:txBody>
      </p:sp>
      <p:sp>
        <p:nvSpPr>
          <p:cNvPr id="37" name="Hansard corpus">
            <a:extLst xmlns:a="http://schemas.openxmlformats.org/drawingml/2006/main">
              <a:ext uri="{FF2B5EF4-FFF2-40B4-BE49-F238E27FC236}">
                <a16:creationId xmlns:a16="http://schemas.microsoft.com/office/drawing/2014/main" id="{F9DFD882-C997-4C7F-B12A-2768C375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508000"/>
            <a:ext cx="3590640" cy="16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38" name="Hansard corpus title">
            <a:extLst xmlns:a="http://schemas.openxmlformats.org/drawingml/2006/main">
              <a:ext uri="{FF2B5EF4-FFF2-40B4-BE49-F238E27FC236}">
                <a16:creationId xmlns:a16="http://schemas.microsoft.com/office/drawing/2014/main" id="{44776AB9-F98E-4AB7-BE55-289859B6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680" y="14652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Real Hansard</a:t>
            </a:r>
          </a:p>
        </p:txBody>
      </p:sp>
      <p:sp>
        <p:nvSpPr>
          <p:cNvPr id="39" name="Hansard corpus description">
            <a:extLst xmlns:a="http://schemas.openxmlformats.org/drawingml/2006/main">
              <a:ext uri="{FF2B5EF4-FFF2-40B4-BE49-F238E27FC236}">
                <a16:creationId xmlns:a16="http://schemas.microsoft.com/office/drawing/2014/main" id="{34662A16-5AFE-47E2-A678-2118F65BA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680" y="15228000"/>
            <a:ext cx="330264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500 reviewed excerpts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100 per party [1]</a:t>
            </a:r>
          </a:p>
        </p:txBody>
      </p:sp>
      <p:sp>
        <p:nvSpPr>
          <p:cNvPr id="40" name="Agent setup">
            <a:extLst xmlns:a="http://schemas.openxmlformats.org/drawingml/2006/main">
              <a:ext uri="{FF2B5EF4-FFF2-40B4-BE49-F238E27FC236}">
                <a16:creationId xmlns:a16="http://schemas.microsoft.com/office/drawing/2014/main" id="{51E186DC-E1B8-4969-BA89-08330B66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0680" y="14508000"/>
            <a:ext cx="3590640" cy="16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41" name="Agent setup title">
            <a:extLst xmlns:a="http://schemas.openxmlformats.org/drawingml/2006/main">
              <a:ext uri="{FF2B5EF4-FFF2-40B4-BE49-F238E27FC236}">
                <a16:creationId xmlns:a16="http://schemas.microsoft.com/office/drawing/2014/main" id="{D4455769-D602-4587-9B57-148D98815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8680" y="14652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Private setup</a:t>
            </a:r>
          </a:p>
        </p:txBody>
      </p:sp>
      <p:sp>
        <p:nvSpPr>
          <p:cNvPr id="42" name="Agent setup description">
            <a:extLst xmlns:a="http://schemas.openxmlformats.org/drawingml/2006/main">
              <a:ext uri="{FF2B5EF4-FFF2-40B4-BE49-F238E27FC236}">
                <a16:creationId xmlns:a16="http://schemas.microsoft.com/office/drawing/2014/main" id="{12BD6865-43E3-45C4-AB39-19FD80405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4680" y="15228000"/>
            <a:ext cx="330264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Own persona, excerpts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and optional tactic</a:t>
            </a:r>
          </a:p>
        </p:txBody>
      </p:sp>
      <p:sp>
        <p:nvSpPr>
          <p:cNvPr id="43" name="MP agents">
            <a:extLst xmlns:a="http://schemas.openxmlformats.org/drawingml/2006/main">
              <a:ext uri="{FF2B5EF4-FFF2-40B4-BE49-F238E27FC236}">
                <a16:creationId xmlns:a16="http://schemas.microsoft.com/office/drawing/2014/main" id="{F26AD4AD-E772-4F67-A2FD-32E8DA66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2680" y="14508000"/>
            <a:ext cx="3590640" cy="16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44" name="MP agents title">
            <a:extLst xmlns:a="http://schemas.openxmlformats.org/drawingml/2006/main">
              <a:ext uri="{FF2B5EF4-FFF2-40B4-BE49-F238E27FC236}">
                <a16:creationId xmlns:a16="http://schemas.microsoft.com/office/drawing/2014/main" id="{9CC7923A-9E5B-4B74-9C95-789FC43F0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680" y="14652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Five AI MPs</a:t>
            </a:r>
          </a:p>
        </p:txBody>
      </p:sp>
      <p:sp>
        <p:nvSpPr>
          <p:cNvPr id="45" name="MP agents description">
            <a:extLst xmlns:a="http://schemas.openxmlformats.org/drawingml/2006/main">
              <a:ext uri="{FF2B5EF4-FFF2-40B4-BE49-F238E27FC236}">
                <a16:creationId xmlns:a16="http://schemas.microsoft.com/office/drawing/2014/main" id="{72CFE1BD-97CC-46C8-9E32-73718A86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6680" y="15228000"/>
            <a:ext cx="330264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Own setup +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public debate evidence</a:t>
            </a:r>
          </a:p>
        </p:txBody>
      </p:sp>
      <p:sp>
        <p:nvSpPr>
          <p:cNvPr id="46" name="Debate scheduler">
            <a:extLst xmlns:a="http://schemas.openxmlformats.org/drawingml/2006/main">
              <a:ext uri="{FF2B5EF4-FFF2-40B4-BE49-F238E27FC236}">
                <a16:creationId xmlns:a16="http://schemas.microsoft.com/office/drawing/2014/main" id="{4B3881A6-6B56-4094-A205-D866BB71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4680" y="14508000"/>
            <a:ext cx="3590640" cy="16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47" name="Debate scheduler title">
            <a:extLst xmlns:a="http://schemas.openxmlformats.org/drawingml/2006/main">
              <a:ext uri="{FF2B5EF4-FFF2-40B4-BE49-F238E27FC236}">
                <a16:creationId xmlns:a16="http://schemas.microsoft.com/office/drawing/2014/main" id="{E0E9F200-EBCD-46F1-B877-CD5A4CB4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2680" y="14652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Debate engine</a:t>
            </a:r>
          </a:p>
        </p:txBody>
      </p:sp>
      <p:sp>
        <p:nvSpPr>
          <p:cNvPr id="48" name="Debate scheduler description">
            <a:extLst xmlns:a="http://schemas.openxmlformats.org/drawingml/2006/main">
              <a:ext uri="{FF2B5EF4-FFF2-40B4-BE49-F238E27FC236}">
                <a16:creationId xmlns:a16="http://schemas.microsoft.com/office/drawing/2014/main" id="{5B3EC711-5BC0-4DEB-ABCB-75C2BA807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8680" y="15228000"/>
            <a:ext cx="330264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Turns, topics,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reply cues and rulings</a:t>
            </a:r>
          </a:p>
        </p:txBody>
      </p:sp>
      <p:sp>
        <p:nvSpPr>
          <p:cNvPr id="49" name="Public results">
            <a:extLst xmlns:a="http://schemas.openxmlformats.org/drawingml/2006/main">
              <a:ext uri="{FF2B5EF4-FFF2-40B4-BE49-F238E27FC236}">
                <a16:creationId xmlns:a16="http://schemas.microsoft.com/office/drawing/2014/main" id="{96EBE6A3-B677-40B5-9BAB-C9C21D518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56680" y="14508000"/>
            <a:ext cx="3590640" cy="169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D6D0C2"/>
            </a:solidFill>
            <a:prstDash val="solid"/>
          </a:ln>
        </p:spPr>
      </p:sp>
      <p:sp>
        <p:nvSpPr>
          <p:cNvPr id="50" name="Public results title">
            <a:extLst xmlns:a="http://schemas.openxmlformats.org/drawingml/2006/main">
              <a:ext uri="{FF2B5EF4-FFF2-40B4-BE49-F238E27FC236}">
                <a16:creationId xmlns:a16="http://schemas.microsoft.com/office/drawing/2014/main" id="{753EF102-A7D8-4A11-B562-52F2E3F4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4680" y="14652000"/>
            <a:ext cx="3374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Saved evidence</a:t>
            </a:r>
          </a:p>
        </p:txBody>
      </p:sp>
      <p:sp>
        <p:nvSpPr>
          <p:cNvPr id="51" name="Public results description">
            <a:extLst xmlns:a="http://schemas.openxmlformats.org/drawingml/2006/main">
              <a:ext uri="{FF2B5EF4-FFF2-40B4-BE49-F238E27FC236}">
                <a16:creationId xmlns:a16="http://schemas.microsoft.com/office/drawing/2014/main" id="{49B2CA7F-DF53-42E7-8649-D4BF8DE5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00680" y="15228000"/>
            <a:ext cx="3302640" cy="8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Public transcript +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separate evaluations</a:t>
            </a:r>
          </a:p>
        </p:txBody>
      </p:sp>
      <p:sp>
        <p:nvSpPr>
          <p:cNvPr id="56" name="Model and snapshot detail">
            <a:extLst xmlns:a="http://schemas.openxmlformats.org/drawingml/2006/main">
              <a:ext uri="{FF2B5EF4-FFF2-40B4-BE49-F238E27FC236}">
                <a16:creationId xmlns:a16="http://schemas.microsoft.com/office/drawing/2014/main" id="{54385973-CD99-4B3F-86F2-2F8ADBDE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452000"/>
            <a:ext cx="20078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8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Independent debate and judge models, including Ollama. Captured prompts and settings preserve each run.</a:t>
            </a:r>
          </a:p>
        </p:txBody>
      </p:sp>
      <p:sp>
        <p:nvSpPr>
          <p:cNvPr id="57" name="Analysis and privacy detail">
            <a:extLst xmlns:a="http://schemas.openxmlformats.org/drawingml/2006/main">
              <a:ext uri="{FF2B5EF4-FFF2-40B4-BE49-F238E27FC236}">
                <a16:creationId xmlns:a16="http://schemas.microsoft.com/office/drawing/2014/main" id="{EC796F0B-FF8A-4F7F-985C-D0A4A7D5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064000"/>
            <a:ext cx="20078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8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Five separate rubric metrics plus local sentiment and stance. Private setup stays out of public exports.</a:t>
            </a:r>
          </a:p>
        </p:txBody>
      </p:sp>
      <p:sp>
        <p:nvSpPr>
          <p:cNvPr id="58" name="Section 3 number">
            <a:extLst xmlns:a="http://schemas.openxmlformats.org/drawingml/2006/main">
              <a:ext uri="{FF2B5EF4-FFF2-40B4-BE49-F238E27FC236}">
                <a16:creationId xmlns:a16="http://schemas.microsoft.com/office/drawing/2014/main" id="{E1ABA709-7338-45EE-A103-AFB6FC57B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784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59" name="Section 3 title">
            <a:extLst xmlns:a="http://schemas.openxmlformats.org/drawingml/2006/main">
              <a:ext uri="{FF2B5EF4-FFF2-40B4-BE49-F238E27FC236}">
                <a16:creationId xmlns:a16="http://schemas.microsoft.com/office/drawing/2014/main" id="{CD7DA6B2-F5A8-4566-9F19-C8F1D5DE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17730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More grounding gave no consistent gain</a:t>
            </a:r>
          </a:p>
        </p:txBody>
      </p:sp>
      <p:sp>
        <p:nvSpPr>
          <p:cNvPr id="60" name="Study matrix">
            <a:extLst xmlns:a="http://schemas.openxmlformats.org/drawingml/2006/main">
              <a:ext uri="{FF2B5EF4-FFF2-40B4-BE49-F238E27FC236}">
                <a16:creationId xmlns:a16="http://schemas.microsoft.com/office/drawing/2014/main" id="{10A6A563-B0AC-482A-ACDE-03AFA158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756000"/>
            <a:ext cx="2007864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2 models × 3 topics × 3 grounding levels × 3 repetitions = 54 debates, 1,350 speeches [2]</a:t>
            </a:r>
          </a:p>
        </p:txBody>
      </p:sp>
      <p:sp>
        <p:nvSpPr>
          <p:cNvPr id="61" name="Study conditions">
            <a:extLst xmlns:a="http://schemas.openxmlformats.org/drawingml/2006/main">
              <a:ext uri="{FF2B5EF4-FFF2-40B4-BE49-F238E27FC236}">
                <a16:creationId xmlns:a16="http://schemas.microsoft.com/office/drawing/2014/main" id="{E58234A4-F9E3-4700-8535-97B257F37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368000"/>
            <a:ext cx="20078640" cy="82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7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7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Five parties, five rounds. Retirement age, nuclear power and the four-day workweek. No adversarial tactics or interruptions.</a:t>
            </a:r>
          </a:p>
        </p:txBody>
      </p:sp>
      <p:graphicFrame>
        <p:nvGraphicFramePr>
          <p:cNvPr id="62" name="Chart">
            <a:extLst xmlns:a="http://schemas.openxmlformats.org/drawingml/2006/main">
              <a:ext uri="{FF2B5EF4-FFF2-40B4-BE49-F238E27FC236}">
                <a16:creationId xmlns:a16="http://schemas.microsoft.com/office/drawing/2014/main" id="{0753D30E-89BB-4DA5-8C32-553AB9EA5AA5}"/>
              </a:ext>
            </a:extLst>
          </p:cNvPr>
          <p:cNvGraphicFramePr/>
          <p:nvPr/>
        </p:nvGraphicFramePr>
        <p:xfrm>
          <a:off xmlns:a="http://schemas.openxmlformats.org/drawingml/2006/main" x="868680" y="20376000"/>
          <a:ext xmlns:a="http://schemas.openxmlformats.org/drawingml/2006/main" cx="6542640" cy="324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5bde43cbfb4c63"/>
          </a:graphicData>
        </a:graphic>
      </p:graphicFrame>
      <p:graphicFrame>
        <p:nvGraphicFramePr>
          <p:cNvPr id="63" name="Chart">
            <a:extLst xmlns:a="http://schemas.openxmlformats.org/drawingml/2006/main">
              <a:ext uri="{FF2B5EF4-FFF2-40B4-BE49-F238E27FC236}">
                <a16:creationId xmlns:a16="http://schemas.microsoft.com/office/drawing/2014/main" id="{AC9B5128-DAF2-47E6-A010-06F49816F901}"/>
              </a:ext>
            </a:extLst>
          </p:cNvPr>
          <p:cNvGraphicFramePr/>
          <p:nvPr/>
        </p:nvGraphicFramePr>
        <p:xfrm>
          <a:off xmlns:a="http://schemas.openxmlformats.org/drawingml/2006/main" x="7636680" y="20376000"/>
          <a:ext xmlns:a="http://schemas.openxmlformats.org/drawingml/2006/main" cx="6542640" cy="324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9bff7bfd254e59"/>
          </a:graphicData>
        </a:graphic>
      </p:graphicFrame>
      <p:graphicFrame>
        <p:nvGraphicFramePr>
          <p:cNvPr id="64" name="Chart">
            <a:extLst xmlns:a="http://schemas.openxmlformats.org/drawingml/2006/main">
              <a:ext uri="{FF2B5EF4-FFF2-40B4-BE49-F238E27FC236}">
                <a16:creationId xmlns:a16="http://schemas.microsoft.com/office/drawing/2014/main" id="{258FAEAD-A3B2-4BDC-B415-291D6B4A24A7}"/>
              </a:ext>
            </a:extLst>
          </p:cNvPr>
          <p:cNvGraphicFramePr/>
          <p:nvPr/>
        </p:nvGraphicFramePr>
        <p:xfrm>
          <a:off xmlns:a="http://schemas.openxmlformats.org/drawingml/2006/main" x="14404680" y="20376000"/>
          <a:ext xmlns:a="http://schemas.openxmlformats.org/drawingml/2006/main" cx="6542640" cy="324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877207c77348e9"/>
          </a:graphicData>
        </a:graphic>
      </p:graphicFrame>
      <p:sp>
        <p:nvSpPr>
          <p:cNvPr id="65" name="Observed consistency drop">
            <a:extLst xmlns:a="http://schemas.openxmlformats.org/drawingml/2006/main">
              <a:ext uri="{FF2B5EF4-FFF2-40B4-BE49-F238E27FC236}">
                <a16:creationId xmlns:a16="http://schemas.microsoft.com/office/drawing/2014/main" id="{8336BCC5-346B-4042-943D-B6519427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832000"/>
            <a:ext cx="2007864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8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8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Qwen consistency: 3.93 at 0 excerpts, 3.62 at 100 (-0.31 points). Other changes were small or mixed.</a:t>
            </a:r>
          </a:p>
        </p:txBody>
      </p:sp>
      <p:sp>
        <p:nvSpPr>
          <p:cNvPr id="66" name="Other rubric metrics">
            <a:extLst xmlns:a="http://schemas.openxmlformats.org/drawingml/2006/main">
              <a:ext uri="{FF2B5EF4-FFF2-40B4-BE49-F238E27FC236}">
                <a16:creationId xmlns:a16="http://schemas.microsoft.com/office/drawing/2014/main" id="{5952B3D3-D38D-4E7B-A14A-366A4136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480000"/>
            <a:ext cx="2007864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6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6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Relevance endpoints were unchanged (Luna 4.00, Qwen 3.98). Disruptive rhetoric averaged 0.00-0.04.</a:t>
            </a:r>
          </a:p>
        </p:txBody>
      </p:sp>
      <p:sp>
        <p:nvSpPr>
          <p:cNvPr id="67" name="Rubric interpretation">
            <a:extLst xmlns:a="http://schemas.openxmlformats.org/drawingml/2006/main">
              <a:ext uri="{FF2B5EF4-FFF2-40B4-BE49-F238E27FC236}">
                <a16:creationId xmlns:a16="http://schemas.microsoft.com/office/drawing/2014/main" id="{EB8F58FC-4949-4998-9F73-659D657F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128000"/>
            <a:ext cx="2007864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300" b="0" i="0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300" b="0" i="0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Nine debates per model/level, 45 party scores per metric. Common GPT-6 Luna judge. Higher rhetoric means more disruption.</a:t>
            </a:r>
          </a:p>
        </p:txBody>
      </p:sp>
      <p:sp>
        <p:nvSpPr>
          <p:cNvPr id="68" name="Research limitations">
            <a:extLst xmlns:a="http://schemas.openxmlformats.org/drawingml/2006/main">
              <a:ext uri="{FF2B5EF4-FFF2-40B4-BE49-F238E27FC236}">
                <a16:creationId xmlns:a16="http://schemas.microsoft.com/office/drawing/2014/main" id="{33EFBB0A-8772-4FCA-AEEB-145BBAEB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740000"/>
            <a:ext cx="20078640" cy="50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00" b="0" i="1">
                <a:solidFill>
                  <a:srgbClr val="56615B"/>
                </a:solidFill>
                <a:latin typeface="Calibri"/>
                <a:ea typeface="Calibri"/>
                <a:cs typeface="Calibri"/>
              </a:defRPr>
            </a:pPr>
            <a:r>
              <a:rPr sz="2500" b="0" i="1">
                <a:solidFill>
                  <a:srgbClr val="56615B"/>
                </a:solidFill>
                <a:latin typeface="Calibri"/>
                <a:ea typeface="Calibri"/>
                <a:cs typeface="Calibri"/>
              </a:rPr>
              <a:t>Exploratory automated scores without human validation. These baseline runs do not test adversarial robustness.</a:t>
            </a:r>
          </a:p>
        </p:txBody>
      </p:sp>
      <p:sp>
        <p:nvSpPr>
          <p:cNvPr id="69" name="Section 4 number">
            <a:extLst xmlns:a="http://schemas.openxmlformats.org/drawingml/2006/main">
              <a:ext uri="{FF2B5EF4-FFF2-40B4-BE49-F238E27FC236}">
                <a16:creationId xmlns:a16="http://schemas.microsoft.com/office/drawing/2014/main" id="{307E73CD-7F41-4B57-9B40-A4774F37E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6568000"/>
            <a:ext cx="712800" cy="712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971C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ctr">
              <a:defRPr sz="3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70" name="Section 4 title">
            <a:extLst xmlns:a="http://schemas.openxmlformats.org/drawingml/2006/main">
              <a:ext uri="{FF2B5EF4-FFF2-40B4-BE49-F238E27FC236}">
                <a16:creationId xmlns:a16="http://schemas.microsoft.com/office/drawing/2014/main" id="{2655BC4B-EBA1-4F3B-9C15-C5A61672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000" y="26514000"/>
            <a:ext cx="1908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53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Outcomes and next steps</a:t>
            </a:r>
          </a:p>
        </p:txBody>
      </p:sp>
      <p:sp>
        <p:nvSpPr>
          <p:cNvPr id="71" name="Outcome heading">
            <a:extLst xmlns:a="http://schemas.openxmlformats.org/drawingml/2006/main">
              <a:ext uri="{FF2B5EF4-FFF2-40B4-BE49-F238E27FC236}">
                <a16:creationId xmlns:a16="http://schemas.microsoft.com/office/drawing/2014/main" id="{5E5BABA5-4C22-4468-A08B-81CAFFA4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7504000"/>
            <a:ext cx="6408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Outcome</a:t>
            </a:r>
          </a:p>
        </p:txBody>
      </p:sp>
      <p:sp>
        <p:nvSpPr>
          <p:cNvPr id="72" name="Outcome detail">
            <a:extLst xmlns:a="http://schemas.openxmlformats.org/drawingml/2006/main">
              <a:ext uri="{FF2B5EF4-FFF2-40B4-BE49-F238E27FC236}">
                <a16:creationId xmlns:a16="http://schemas.microsoft.com/office/drawing/2014/main" id="{7CD3697E-169E-464B-8D59-16E92B27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044000"/>
            <a:ext cx="64080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 reproducible debate platform. Extra Hansard showed no consistent gain in rubric scores.</a:t>
            </a:r>
          </a:p>
        </p:txBody>
      </p:sp>
      <p:sp>
        <p:nvSpPr>
          <p:cNvPr id="73" name="Next work heading">
            <a:extLst xmlns:a="http://schemas.openxmlformats.org/drawingml/2006/main">
              <a:ext uri="{FF2B5EF4-FFF2-40B4-BE49-F238E27FC236}">
                <a16:creationId xmlns:a16="http://schemas.microsoft.com/office/drawing/2014/main" id="{579273E4-E5DD-4B5F-967E-916DF32B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000" y="27504000"/>
            <a:ext cx="630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Next work</a:t>
            </a:r>
          </a:p>
        </p:txBody>
      </p:sp>
      <p:sp>
        <p:nvSpPr>
          <p:cNvPr id="74" name="Next work detail">
            <a:extLst xmlns:a="http://schemas.openxmlformats.org/drawingml/2006/main">
              <a:ext uri="{FF2B5EF4-FFF2-40B4-BE49-F238E27FC236}">
                <a16:creationId xmlns:a16="http://schemas.microsoft.com/office/drawing/2014/main" id="{9107FDC2-2F92-42A3-8FF4-4E5E2BA8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000" y="28044000"/>
            <a:ext cx="63000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5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Test adversarial tactics. Add human review, more topics and more repetitions.</a:t>
            </a:r>
          </a:p>
        </p:txBody>
      </p:sp>
      <p:sp>
        <p:nvSpPr>
          <p:cNvPr id="75" name="Contributions heading">
            <a:extLst xmlns:a="http://schemas.openxmlformats.org/drawingml/2006/main">
              <a:ext uri="{FF2B5EF4-FFF2-40B4-BE49-F238E27FC236}">
                <a16:creationId xmlns:a16="http://schemas.microsoft.com/office/drawing/2014/main" id="{427EEDCB-EE9E-4A18-89AC-3DF11272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0000" y="27504000"/>
            <a:ext cx="6372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defRPr>
            </a:pPr>
            <a:r>
              <a:rPr sz="2900" b="1" i="0">
                <a:solidFill>
                  <a:srgbClr val="1F4D36"/>
                </a:solidFill>
                <a:latin typeface="Cambria"/>
                <a:ea typeface="Cambria"/>
                <a:cs typeface="Cambria"/>
              </a:rPr>
              <a:t>Contributions</a:t>
            </a:r>
          </a:p>
        </p:txBody>
      </p:sp>
      <p:sp>
        <p:nvSpPr>
          <p:cNvPr id="76" name="Contributions detail">
            <a:extLst xmlns:a="http://schemas.openxmlformats.org/drawingml/2006/main">
              <a:ext uri="{FF2B5EF4-FFF2-40B4-BE49-F238E27FC236}">
                <a16:creationId xmlns:a16="http://schemas.microsoft.com/office/drawing/2014/main" id="{9CAA1770-2E87-42B0-B7F7-5FEF2A956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80000" y="28044000"/>
            <a:ext cx="63720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4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4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Albert Sun: frontend and live chamber.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4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4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Kieran Joe: architecture and MP agents.</a:t>
            </a:r>
          </a:p>
        </p:txBody>
      </p:sp>
      <p:sp>
        <p:nvSpPr>
          <p:cNvPr id="77" name="Footer band">
            <a:extLst xmlns:a="http://schemas.openxmlformats.org/drawingml/2006/main">
              <a:ext uri="{FF2B5EF4-FFF2-40B4-BE49-F238E27FC236}">
                <a16:creationId xmlns:a16="http://schemas.microsoft.com/office/drawing/2014/main" id="{E67215E2-5A6F-4525-B208-30808E8A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124000"/>
            <a:ext cx="21816000" cy="158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2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References heading">
            <a:extLst xmlns:a="http://schemas.openxmlformats.org/drawingml/2006/main">
              <a:ext uri="{FF2B5EF4-FFF2-40B4-BE49-F238E27FC236}">
                <a16:creationId xmlns:a16="http://schemas.microsoft.com/office/drawing/2014/main" id="{1F621FB1-46EF-44B4-AA59-9211CE96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412000"/>
            <a:ext cx="8424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References</a:t>
            </a:r>
          </a:p>
        </p:txBody>
      </p:sp>
      <p:sp>
        <p:nvSpPr>
          <p:cNvPr id="79" name="References detail">
            <a:extLst xmlns:a="http://schemas.openxmlformats.org/drawingml/2006/main">
              <a:ext uri="{FF2B5EF4-FFF2-40B4-BE49-F238E27FC236}">
                <a16:creationId xmlns:a16="http://schemas.microsoft.com/office/drawing/2014/main" id="{0F5B3DDB-9D08-4B88-B2BF-B0FE77BD5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844000"/>
            <a:ext cx="8424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[1] Rauh &amp; Schwalbach (2020). ParlSpeech V2.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[2] Project 123 debate evaluation study, October 2026.</a:t>
            </a:r>
          </a:p>
        </p:txBody>
      </p:sp>
      <p:sp>
        <p:nvSpPr>
          <p:cNvPr id="80" name="Acknowledgements heading">
            <a:extLst xmlns:a="http://schemas.openxmlformats.org/drawingml/2006/main">
              <a:ext uri="{FF2B5EF4-FFF2-40B4-BE49-F238E27FC236}">
                <a16:creationId xmlns:a16="http://schemas.microsoft.com/office/drawing/2014/main" id="{54AE509E-E1AA-4014-8C45-E5FD848A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000" y="29412000"/>
            <a:ext cx="68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Acknowledgements</a:t>
            </a:r>
          </a:p>
        </p:txBody>
      </p:sp>
      <p:sp>
        <p:nvSpPr>
          <p:cNvPr id="81" name="Acknowledgements detail">
            <a:extLst xmlns:a="http://schemas.openxmlformats.org/drawingml/2006/main">
              <a:ext uri="{FF2B5EF4-FFF2-40B4-BE49-F238E27FC236}">
                <a16:creationId xmlns:a16="http://schemas.microsoft.com/office/drawing/2014/main" id="{A9473B90-D417-40E0-BF8B-BBFBF0AF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8000" y="29844000"/>
            <a:ext cx="6840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Political science collaborators, Georgetown University.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Members are AI archetypes, not real MPs.</a:t>
            </a:r>
          </a:p>
        </p:txBody>
      </p:sp>
      <p:sp>
        <p:nvSpPr>
          <p:cNvPr id="82" name="Contact heading">
            <a:extLst xmlns:a="http://schemas.openxmlformats.org/drawingml/2006/main">
              <a:ext uri="{FF2B5EF4-FFF2-40B4-BE49-F238E27FC236}">
                <a16:creationId xmlns:a16="http://schemas.microsoft.com/office/drawing/2014/main" id="{524891D8-06CE-4A2C-A5D2-E059A8AC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4000" y="29412000"/>
            <a:ext cx="3888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defRPr>
            </a:pPr>
            <a:r>
              <a:rPr sz="2200" b="1" i="0">
                <a:solidFill>
                  <a:srgbClr val="1F4D36"/>
                </a:solidFill>
                <a:latin typeface="Calibri"/>
                <a:ea typeface="Calibri"/>
                <a:cs typeface="Calibri"/>
              </a:rPr>
              <a:t>Contact</a:t>
            </a:r>
          </a:p>
        </p:txBody>
      </p:sp>
      <p:sp>
        <p:nvSpPr>
          <p:cNvPr id="83" name="Contact detail">
            <a:extLst xmlns:a="http://schemas.openxmlformats.org/drawingml/2006/main">
              <a:ext uri="{FF2B5EF4-FFF2-40B4-BE49-F238E27FC236}">
                <a16:creationId xmlns:a16="http://schemas.microsoft.com/office/drawing/2014/main" id="{92128D22-F9C4-43A2-A2E1-699FDB3D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4000" y="29844000"/>
            <a:ext cx="3888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defPPr>
          </a:lstStyle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asun555@aucklanduni.ac.nz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defRPr>
            </a:pPr>
            <a:r>
              <a:rPr sz="2000" b="0" i="0">
                <a:solidFill>
                  <a:srgbClr val="1F2A24"/>
                </a:solidFill>
                <a:latin typeface="Calibri"/>
                <a:ea typeface="Calibri"/>
                <a:cs typeface="Calibri"/>
              </a:rPr>
              <a:t>kjoe685@aucklanduni.ac.nz</a:t>
            </a:r>
          </a:p>
        </p:txBody>
      </p:sp>
    </p:spTree>
    <p:extLst>
      <p:ext uri="{BB962C8B-B14F-4D97-AF65-F5344CB8AC3E}">
        <p14:creationId xmlns:p14="http://schemas.microsoft.com/office/powerpoint/2010/main" val="189980899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2026-10-09T00:11:07.0280000Z</dcterms:created>
  <dcterms:modified xsi:type="dcterms:W3CDTF">2026-10-09T00:11:07.0280000Z</dcterms:modified>
</coreProperties>
</file>