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1dbe4a420d4783" /><Relationship Type="http://schemas.openxmlformats.org/officeDocument/2006/relationships/extended-properties" Target="/docProps/app.xml" Id="R747edc052824442a" /><Relationship Type="http://schemas.openxmlformats.org/officeDocument/2006/relationships/officeDocument" Target="/ppt/presentation.xml" Id="R029cdd6983a44e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060e8d9b354550"/>
  </p:sldMasterIdLst>
  <p:notesMasterIdLst>
    <p:notesMasterId xmlns:r="http://schemas.openxmlformats.org/officeDocument/2006/relationships" r:id="R708543664cd84d99"/>
  </p:notesMasterIdLst>
  <p:sldIdLst>
    <p:sldId xmlns:r="http://schemas.openxmlformats.org/officeDocument/2006/relationships" id="256" r:id="R775c8bbe8f3e4e59"/>
  </p:sldIdLst>
  <p:sldSz cx="21816000" cy="3070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6532858a23496d" /><Relationship Type="http://schemas.openxmlformats.org/officeDocument/2006/relationships/slideMaster" Target="/ppt/slideMasters/slideMaster1.xml" Id="Rb6060e8d9b354550" /><Relationship Type="http://schemas.openxmlformats.org/officeDocument/2006/relationships/notesMaster" Target="/ppt/notesMasters/notesMaster1.xml" Id="R708543664cd84d99" /><Relationship Type="http://schemas.openxmlformats.org/officeDocument/2006/relationships/presProps" Target="/ppt/presProps.xml" Id="R170878acafd54757" /><Relationship Type="http://schemas.openxmlformats.org/officeDocument/2006/relationships/viewProps" Target="/ppt/viewProps.xml" Id="R0ccce66de13a4399" /><Relationship Type="http://schemas.openxmlformats.org/officeDocument/2006/relationships/tableStyles" Target="/ppt/tableStyles.xml" Id="R5edc93da88d9443f" /><Relationship Type="http://schemas.openxmlformats.org/officeDocument/2006/relationships/slide" Target="/ppt/slides/slide1.xml" Id="R775c8bbe8f3e4e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a3a92fbcf4c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f735856023403d" /><Relationship Type="http://schemas.openxmlformats.org/officeDocument/2006/relationships/notesMaster" Target="/ppt/notesMasters/notesMaster1.xml" Id="Re7432eaf709a47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Poster_123.pptx (original branding, project title, author/supervisor names, contributions, acknowledgements and contacts). Current implementation at a7acbdf with application source 1ee449b: README.md, docs/grounding.md, docs/debate-behaviour.md, docs/interface-parity.md, engine/agent/AdversarialStrategy.java. The screenshot is a current-frontend deterministic demonstration with National assigned STRAW_MAN. DemoChatManager supplies fixed text without genuine model inference; it illustrates assignment/control UI, not successful disruptive behaviour. Study source: debate-evaluation.xlsx, Summary G8:K13 and its rubric.csv/runs.csv. 54 complete debates, 1350 speeches, two models, three topics, 0/10/100 excerpts per party, three repetitions per condition, five parties and five rounds, strategy NONE and zero interruptions. Each displayed mean pools 45 participant/topic metric scores across 9 debates per model/grounding level. Speeches and participant scores within a debate are dependent. Rubric scores are separate 0-4 scales, with disruptive rhetoric higher meaning more disruption. All figures are descriptive. Same-model judging and absent human validation limit generalization. Corpus: 500 reviewed excerpts, 100 per party, from ParlSpeech V2, DOI 10.7910/DVN/L4OAKN. Automated software checks do not establish model behaviour or research accuracy.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592f6f57f419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8c9455d3f54fdd" /><Relationship Type="http://schemas.openxmlformats.org/officeDocument/2006/relationships/slideLayout" Target="/ppt/slideLayouts/slideLayout1.xml" Id="Rfdc34b580d0347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c34b580d034775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5472ac0e8401e" /><Relationship Type="http://schemas.openxmlformats.org/officeDocument/2006/relationships/image" Target="/ppt/media/image.png" Id="Rd51f35f6ded64a71" /><Relationship Type="http://schemas.openxmlformats.org/officeDocument/2006/relationships/image" Target="/ppt/media/image2.png" Id="Rb9524fdd0b2c4ad9" /><Relationship Type="http://schemas.openxmlformats.org/officeDocument/2006/relationships/chart" Target="/ppt/slides/charts/chart1.xml" Id="Rf474750986af4f54" /><Relationship Type="http://schemas.openxmlformats.org/officeDocument/2006/relationships/chart" Target="/ppt/slides/charts/chart2.xml" Id="R05339ef120bd4b06" /><Relationship Type="http://schemas.openxmlformats.org/officeDocument/2006/relationships/chart" Target="/ppt/slides/charts/chart3.xml" Id="Rf3b2799f438b4b81" /><Relationship Type="http://schemas.openxmlformats.org/officeDocument/2006/relationships/notesSlide" Target="/ppt/notesSlides/notesSlide1.xml" Id="Rb8483d49ca20401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Consistency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3.93333333333333</c:v>
                </c:pt>
                <c:pt idx="1">
                  <c:v>3.91111111111111</c:v>
                </c:pt>
                <c:pt idx="2">
                  <c:v>3.62222222222222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Logical reasoning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</c:v>
                </c:pt>
                <c:pt idx="1">
                  <c:v>2.97777777777778</c:v>
                </c:pt>
                <c:pt idx="2">
                  <c:v>3.06666666666667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2.64444444444444</c:v>
                </c:pt>
                <c:pt idx="1">
                  <c:v>2.66666666666667</c:v>
                </c:pt>
                <c:pt idx="2">
                  <c:v>2.62222222222222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Responsiveness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6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3.48888888888889</c:v>
                </c:pt>
                <c:pt idx="1">
                  <c:v>3.4</c:v>
                </c:pt>
                <c:pt idx="2">
                  <c:v>3.42222222222222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2.66666666666667</c:v>
                </c:pt>
                <c:pt idx="1">
                  <c:v>2.68888888888889</c:v>
                </c:pt>
                <c:pt idx="2">
                  <c:v>2.71111111111111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847D159-D2A8-4633-8AB1-D0E0B505AE0A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16825320" y="15336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06E137-A832-4BF9-B06C-139721BE96E2}"/>
              </a:ext>
            </a:extLst>
          </p:cNvPr>
          <p:cNvCxnSpPr>
            <a:stCxn xmlns:a="http://schemas.openxmlformats.org/drawingml/2006/main" id="43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12703320" y="15336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73B0D0-D71B-42B0-B526-4D3CC18D384E}"/>
              </a:ext>
            </a:extLst>
          </p:cNvPr>
          <p:cNvCxnSpPr>
            <a:stCxn xmlns:a="http://schemas.openxmlformats.org/drawingml/2006/main" id="40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8581320" y="15336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B33C27-2F7B-41A6-B4CF-CD825AC2EA36}"/>
              </a:ext>
            </a:extLst>
          </p:cNvPr>
          <p:cNvCxnSpPr>
            <a:stCxn xmlns:a="http://schemas.openxmlformats.org/drawingml/2006/main" id="3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459320" y="15336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4CCB0B-2F23-4A81-96F7-229DEE0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816000" cy="34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2C"/>
          </a:solidFill>
        </p:spPr>
      </p:sp>
      <p:pic>
        <p:nvPicPr>
          <p:cNvPr id="3" name="Image 0">
            <a:extLst xmlns:a="http://schemas.openxmlformats.org/drawingml/2006/main">
              <a:ext uri="{FF2B5EF4-FFF2-40B4-BE49-F238E27FC236}">
                <a16:creationId xmlns:a16="http://schemas.microsoft.com/office/drawing/2014/main" id="{B24482A1-0E80-46C3-B896-8C9F71933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f35f6ded64a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432000"/>
            <a:ext cx="2520000" cy="991620"/>
          </a:xfrm>
          <a:prstGeom xmlns:a="http://schemas.openxmlformats.org/drawingml/2006/main" prst="rect">
            <a:avLst/>
          </a:prstGeom>
        </p:spPr>
      </p:pic>
      <p:sp>
        <p:nvSpPr>
          <p:cNvPr id="4" name="Header project number">
            <a:extLst xmlns:a="http://schemas.openxmlformats.org/drawingml/2006/main">
              <a:ext uri="{FF2B5EF4-FFF2-40B4-BE49-F238E27FC236}">
                <a16:creationId xmlns:a16="http://schemas.microsoft.com/office/drawing/2014/main" id="{5F15569D-6194-4980-AB51-D8EE1BFD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432000"/>
            <a:ext cx="100584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F2C14E"/>
                </a:solidFill>
                <a:latin typeface="Calibri"/>
                <a:ea typeface="Calibri"/>
                <a:cs typeface="Calibri"/>
              </a:rPr>
              <a:t>Part IV Project #123</a:t>
            </a:r>
          </a:p>
        </p:txBody>
      </p:sp>
      <p:sp>
        <p:nvSpPr>
          <p:cNvPr id="5" name="Header department">
            <a:extLst xmlns:a="http://schemas.openxmlformats.org/drawingml/2006/main">
              <a:ext uri="{FF2B5EF4-FFF2-40B4-BE49-F238E27FC236}">
                <a16:creationId xmlns:a16="http://schemas.microsoft.com/office/drawing/2014/main" id="{0D21370D-D180-4B96-8AE2-DE265142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900000"/>
            <a:ext cx="100584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Department of Electrical, Computer,</a:t>
            </a:r>
          </a:p>
          <a:p xmlns:a="http://schemas.openxmlformats.org/drawingml/2006/main">
            <a:pPr algn="r">
              <a:lnSpc>
                <a:spcPct val="108000"/>
              </a:lnSpc>
              <a:buNone/>
              <a:def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and Software Engineering</a:t>
            </a:r>
          </a:p>
        </p:txBody>
      </p:sp>
      <p:sp>
        <p:nvSpPr>
          <p:cNvPr id="6" name="Header title">
            <a:extLst xmlns:a="http://schemas.openxmlformats.org/drawingml/2006/main">
              <a:ext uri="{FF2B5EF4-FFF2-40B4-BE49-F238E27FC236}">
                <a16:creationId xmlns:a16="http://schemas.microsoft.com/office/drawing/2014/main" id="{8B889488-4B6D-4AB8-82C6-239A4DEC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32000"/>
            <a:ext cx="2007864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7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AI-Based Virtual Parliament</a:t>
            </a:r>
          </a:p>
        </p:txBody>
      </p:sp>
      <p:sp>
        <p:nvSpPr>
          <p:cNvPr id="7" name="Header research question">
            <a:extLst xmlns:a="http://schemas.openxmlformats.org/drawingml/2006/main">
              <a:ext uri="{FF2B5EF4-FFF2-40B4-BE49-F238E27FC236}">
                <a16:creationId xmlns:a16="http://schemas.microsoft.com/office/drawing/2014/main" id="{34D093BB-77DF-413D-881F-BE4B57FF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76000"/>
            <a:ext cx="20078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pPr>
            <a:r>
              <a:rPr sz="3100" b="0" i="1">
                <a:solidFill>
                  <a:srgbClr val="F2C14E"/>
                </a:solidFill>
                <a:latin typeface="Cambria"/>
                <a:ea typeface="Cambria"/>
                <a:cs typeface="Cambria"/>
              </a:rPr>
              <a:t>Cooperative debate and hidden adversarial strategies</a:t>
            </a:r>
          </a:p>
        </p:txBody>
      </p:sp>
      <p:sp>
        <p:nvSpPr>
          <p:cNvPr id="8" name="Header authors">
            <a:extLst xmlns:a="http://schemas.openxmlformats.org/drawingml/2006/main">
              <a:ext uri="{FF2B5EF4-FFF2-40B4-BE49-F238E27FC236}">
                <a16:creationId xmlns:a16="http://schemas.microsoft.com/office/drawing/2014/main" id="{AE1E232E-CE1E-4960-8F40-F1C13CD7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88000"/>
            <a:ext cx="2007864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Albert Sun &amp; Kieran Joe</a:t>
            </a:r>
            <a:r>
              <a:rPr sz="25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·   Supervisor: Dr Joerg Wicker</a:t>
            </a:r>
          </a:p>
        </p:txBody>
      </p:sp>
      <p:sp>
        <p:nvSpPr>
          <p:cNvPr id="9" name="Project overview">
            <a:extLst xmlns:a="http://schemas.openxmlformats.org/drawingml/2006/main">
              <a:ext uri="{FF2B5EF4-FFF2-40B4-BE49-F238E27FC236}">
                <a16:creationId xmlns:a16="http://schemas.microsoft.com/office/drawing/2014/main" id="{48923637-CE79-4AD4-BD35-74369588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44000"/>
            <a:ext cx="20078640" cy="10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9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We built a virtual New Zealand Parliament with cooperative and adversarial AI MPs. Each follows a party persona, and selected agents get private disruption tactics. The latest study tests whether Hansard grounding improves debate quality.</a:t>
            </a:r>
          </a:p>
        </p:txBody>
      </p:sp>
      <p:sp>
        <p:nvSpPr>
          <p:cNvPr id="10" name="Section 1 number">
            <a:extLst xmlns:a="http://schemas.openxmlformats.org/drawingml/2006/main">
              <a:ext uri="{FF2B5EF4-FFF2-40B4-BE49-F238E27FC236}">
                <a16:creationId xmlns:a16="http://schemas.microsoft.com/office/drawing/2014/main" id="{A1888ED6-C1A8-4788-8ED9-AF67303D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04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1" name="Section 1 title">
            <a:extLst xmlns:a="http://schemas.openxmlformats.org/drawingml/2006/main">
              <a:ext uri="{FF2B5EF4-FFF2-40B4-BE49-F238E27FC236}">
                <a16:creationId xmlns:a16="http://schemas.microsoft.com/office/drawing/2014/main" id="{BE1AB3E1-D608-4B87-8281-9A6451D7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4950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One platform, three interfaces</a:t>
            </a:r>
          </a:p>
        </p:txBody>
      </p:sp>
      <p:sp>
        <p:nvSpPr>
          <p:cNvPr id="12" name="Screenshot border">
            <a:extLst xmlns:a="http://schemas.openxmlformats.org/drawingml/2006/main">
              <a:ext uri="{FF2B5EF4-FFF2-40B4-BE49-F238E27FC236}">
                <a16:creationId xmlns:a16="http://schemas.microsoft.com/office/drawing/2014/main" id="{96806CDD-5694-4F2C-89A7-CE0F80F3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00" y="5904000"/>
            <a:ext cx="10843200" cy="577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4AB6D-73AC-4725-935F-07134ECA3B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24fdd0b2c4ad9"/>
          <a:stretch xmlns:a="http://schemas.openxmlformats.org/drawingml/2006/main"/>
        </p:blipFill>
        <p:spPr>
          <a:xfrm xmlns:a="http://schemas.openxmlformats.org/drawingml/2006/main">
            <a:off x="868680" y="5923649"/>
            <a:ext cx="10800000" cy="5724302"/>
          </a:xfrm>
          <a:prstGeom xmlns:a="http://schemas.openxmlformats.org/drawingml/2006/main" prst="rect">
            <a:avLst/>
          </a:prstGeom>
        </p:spPr>
      </p:pic>
      <p:sp>
        <p:nvSpPr>
          <p:cNvPr id="14" name="Callout A">
            <a:extLst xmlns:a="http://schemas.openxmlformats.org/drawingml/2006/main">
              <a:ext uri="{FF2B5EF4-FFF2-40B4-BE49-F238E27FC236}">
                <a16:creationId xmlns:a16="http://schemas.microsoft.com/office/drawing/2014/main" id="{F0E481D2-AFEF-4B0F-99EE-629F9E68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000" y="68508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15" name="Callout B">
            <a:extLst xmlns:a="http://schemas.openxmlformats.org/drawingml/2006/main">
              <a:ext uri="{FF2B5EF4-FFF2-40B4-BE49-F238E27FC236}">
                <a16:creationId xmlns:a16="http://schemas.microsoft.com/office/drawing/2014/main" id="{A45C15FA-2FA0-4E6A-9972-1D4A7954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6000" y="77472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16" name="Callout C">
            <a:extLst xmlns:a="http://schemas.openxmlformats.org/drawingml/2006/main">
              <a:ext uri="{FF2B5EF4-FFF2-40B4-BE49-F238E27FC236}">
                <a16:creationId xmlns:a16="http://schemas.microsoft.com/office/drawing/2014/main" id="{7B82A37F-B416-45BF-9F14-76C43D05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4400" y="60732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17" name="Callout D">
            <a:extLst xmlns:a="http://schemas.openxmlformats.org/drawingml/2006/main">
              <a:ext uri="{FF2B5EF4-FFF2-40B4-BE49-F238E27FC236}">
                <a16:creationId xmlns:a16="http://schemas.microsoft.com/office/drawing/2014/main" id="{A713A3B0-B5AE-47FA-B134-8A0A2F30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000" y="97200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18" name="Callout E">
            <a:extLst xmlns:a="http://schemas.openxmlformats.org/drawingml/2006/main">
              <a:ext uri="{FF2B5EF4-FFF2-40B4-BE49-F238E27FC236}">
                <a16:creationId xmlns:a16="http://schemas.microsoft.com/office/drawing/2014/main" id="{991D1AD5-2FEC-4C53-A099-44081BA7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000" y="60408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19" name="Callout A">
            <a:extLst xmlns:a="http://schemas.openxmlformats.org/drawingml/2006/main">
              <a:ext uri="{FF2B5EF4-FFF2-40B4-BE49-F238E27FC236}">
                <a16:creationId xmlns:a16="http://schemas.microsoft.com/office/drawing/2014/main" id="{6A75FDA2-49CC-442E-A0BE-68496F3E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5904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20" name="Callout A heading">
            <a:extLst xmlns:a="http://schemas.openxmlformats.org/drawingml/2006/main">
              <a:ext uri="{FF2B5EF4-FFF2-40B4-BE49-F238E27FC236}">
                <a16:creationId xmlns:a16="http://schemas.microsoft.com/office/drawing/2014/main" id="{BA302027-8AD1-4031-88DF-EBE44A18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5868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Chamber</a:t>
            </a:r>
          </a:p>
        </p:txBody>
      </p:sp>
      <p:sp>
        <p:nvSpPr>
          <p:cNvPr id="21" name="Callout A detail">
            <a:extLst xmlns:a="http://schemas.openxmlformats.org/drawingml/2006/main">
              <a:ext uri="{FF2B5EF4-FFF2-40B4-BE49-F238E27FC236}">
                <a16:creationId xmlns:a16="http://schemas.microsoft.com/office/drawing/2014/main" id="{6F3F51E9-B857-4910-B482-A4B26D84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6354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One MP represents each chosen party.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Speakers light up; adversarial roles appear in red.</a:t>
            </a:r>
          </a:p>
        </p:txBody>
      </p:sp>
      <p:sp>
        <p:nvSpPr>
          <p:cNvPr id="22" name="Callout B">
            <a:extLst xmlns:a="http://schemas.openxmlformats.org/drawingml/2006/main">
              <a:ext uri="{FF2B5EF4-FFF2-40B4-BE49-F238E27FC236}">
                <a16:creationId xmlns:a16="http://schemas.microsoft.com/office/drawing/2014/main" id="{25C40114-E205-47A4-8116-7D59123E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7236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23" name="Callout B heading">
            <a:extLst xmlns:a="http://schemas.openxmlformats.org/drawingml/2006/main">
              <a:ext uri="{FF2B5EF4-FFF2-40B4-BE49-F238E27FC236}">
                <a16:creationId xmlns:a16="http://schemas.microsoft.com/office/drawing/2014/main" id="{3A30294E-DCA7-46F3-AF09-5FA4E6B8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7200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Live Hansard</a:t>
            </a:r>
          </a:p>
        </p:txBody>
      </p:sp>
      <p:sp>
        <p:nvSpPr>
          <p:cNvPr id="24" name="Callout B detail">
            <a:extLst xmlns:a="http://schemas.openxmlformats.org/drawingml/2006/main">
              <a:ext uri="{FF2B5EF4-FFF2-40B4-BE49-F238E27FC236}">
                <a16:creationId xmlns:a16="http://schemas.microsoft.com/office/drawing/2014/main" id="{860ED18F-F8C1-4508-ACA9-B78BA24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7686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Speeches and interjections stream into Hansard.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Saved sittings can be replayed after a restart.</a:t>
            </a:r>
          </a:p>
        </p:txBody>
      </p:sp>
      <p:sp>
        <p:nvSpPr>
          <p:cNvPr id="25" name="Callout C">
            <a:extLst xmlns:a="http://schemas.openxmlformats.org/drawingml/2006/main">
              <a:ext uri="{FF2B5EF4-FFF2-40B4-BE49-F238E27FC236}">
                <a16:creationId xmlns:a16="http://schemas.microsoft.com/office/drawing/2014/main" id="{1BDEB3B8-C17A-4C6E-AC7A-1290AA45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8568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26" name="Callout C heading">
            <a:extLst xmlns:a="http://schemas.openxmlformats.org/drawingml/2006/main">
              <a:ext uri="{FF2B5EF4-FFF2-40B4-BE49-F238E27FC236}">
                <a16:creationId xmlns:a16="http://schemas.microsoft.com/office/drawing/2014/main" id="{2CD83C8F-9FE0-4D34-8CA8-C6CF656D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8532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Speaker’s Chair</a:t>
            </a:r>
          </a:p>
        </p:txBody>
      </p:sp>
      <p:sp>
        <p:nvSpPr>
          <p:cNvPr id="27" name="Callout C detail">
            <a:extLst xmlns:a="http://schemas.openxmlformats.org/drawingml/2006/main">
              <a:ext uri="{FF2B5EF4-FFF2-40B4-BE49-F238E27FC236}">
                <a16:creationId xmlns:a16="http://schemas.microsoft.com/office/drawing/2014/main" id="{F904B140-66A1-4737-B99B-A9B84929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9018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Chair rulings enter the shared public record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and reach every MP before the next speech.</a:t>
            </a:r>
          </a:p>
        </p:txBody>
      </p:sp>
      <p:sp>
        <p:nvSpPr>
          <p:cNvPr id="28" name="Callout D">
            <a:extLst xmlns:a="http://schemas.openxmlformats.org/drawingml/2006/main">
              <a:ext uri="{FF2B5EF4-FFF2-40B4-BE49-F238E27FC236}">
                <a16:creationId xmlns:a16="http://schemas.microsoft.com/office/drawing/2014/main" id="{71C336D0-3D1A-44B3-80BE-E1C3A07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9900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29" name="Callout D heading">
            <a:extLst xmlns:a="http://schemas.openxmlformats.org/drawingml/2006/main">
              <a:ext uri="{FF2B5EF4-FFF2-40B4-BE49-F238E27FC236}">
                <a16:creationId xmlns:a16="http://schemas.microsoft.com/office/drawing/2014/main" id="{3F073359-BD1E-4B28-936D-F9E47F8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9864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Order Paper and Tally</a:t>
            </a:r>
          </a:p>
        </p:txBody>
      </p:sp>
      <p:sp>
        <p:nvSpPr>
          <p:cNvPr id="30" name="Callout D detail">
            <a:extLst xmlns:a="http://schemas.openxmlformats.org/drawingml/2006/main">
              <a:ext uri="{FF2B5EF4-FFF2-40B4-BE49-F238E27FC236}">
                <a16:creationId xmlns:a16="http://schemas.microsoft.com/office/drawing/2014/main" id="{C847ADBA-C966-403C-9855-E092DDD7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0350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The agenda advances through topics in order.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Live totals track speeches, interjections and rulings.</a:t>
            </a:r>
          </a:p>
        </p:txBody>
      </p:sp>
      <p:sp>
        <p:nvSpPr>
          <p:cNvPr id="31" name="Callout E">
            <a:extLst xmlns:a="http://schemas.openxmlformats.org/drawingml/2006/main">
              <a:ext uri="{FF2B5EF4-FFF2-40B4-BE49-F238E27FC236}">
                <a16:creationId xmlns:a16="http://schemas.microsoft.com/office/drawing/2014/main" id="{71646275-FD10-4E9C-ADBF-7EF60370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2000" y="11232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32" name="Callout E heading">
            <a:extLst xmlns:a="http://schemas.openxmlformats.org/drawingml/2006/main">
              <a:ext uri="{FF2B5EF4-FFF2-40B4-BE49-F238E27FC236}">
                <a16:creationId xmlns:a16="http://schemas.microsoft.com/office/drawing/2014/main" id="{C1D5D19D-575C-4829-8112-36086F73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1196000"/>
            <a:ext cx="798732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8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Exports and evaluation</a:t>
            </a:r>
          </a:p>
        </p:txBody>
      </p:sp>
      <p:sp>
        <p:nvSpPr>
          <p:cNvPr id="33" name="Callout E detail">
            <a:extLst xmlns:a="http://schemas.openxmlformats.org/drawingml/2006/main">
              <a:ext uri="{FF2B5EF4-FFF2-40B4-BE49-F238E27FC236}">
                <a16:creationId xmlns:a16="http://schemas.microsoft.com/office/drawing/2014/main" id="{D94287BA-0C3C-4AB1-99B3-A569392F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000" y="11682000"/>
            <a:ext cx="798732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Download public JSON or text, then run local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4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sentiment/stance analysis or separate rubric scores.</a:t>
            </a:r>
          </a:p>
        </p:txBody>
      </p:sp>
      <p:sp>
        <p:nvSpPr>
          <p:cNvPr id="34" name="Frontend caption">
            <a:extLst xmlns:a="http://schemas.openxmlformats.org/drawingml/2006/main">
              <a:ext uri="{FF2B5EF4-FFF2-40B4-BE49-F238E27FC236}">
                <a16:creationId xmlns:a16="http://schemas.microsoft.com/office/drawing/2014/main" id="{CBB46CCA-4CCE-4540-BFF4-D3B8F8F6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1880000"/>
            <a:ext cx="111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Fig. 1 Deterministic demo: National has a straw-man assignment.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1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Browser, guided CLI and commands share one backend.</a:t>
            </a:r>
          </a:p>
        </p:txBody>
      </p:sp>
      <p:sp>
        <p:nvSpPr>
          <p:cNvPr id="35" name="Section 2 number">
            <a:extLst xmlns:a="http://schemas.openxmlformats.org/drawingml/2006/main">
              <a:ext uri="{FF2B5EF4-FFF2-40B4-BE49-F238E27FC236}">
                <a16:creationId xmlns:a16="http://schemas.microsoft.com/office/drawing/2014/main" id="{07F3298A-5B49-410D-B687-862B646B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816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36" name="Section 2 title">
            <a:extLst xmlns:a="http://schemas.openxmlformats.org/drawingml/2006/main">
              <a:ext uri="{FF2B5EF4-FFF2-40B4-BE49-F238E27FC236}">
                <a16:creationId xmlns:a16="http://schemas.microsoft.com/office/drawing/2014/main" id="{4C51A352-8E54-45BC-99CC-D137999E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2762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Cooperative and adversarial agents</a:t>
            </a:r>
          </a:p>
        </p:txBody>
      </p:sp>
      <p:sp>
        <p:nvSpPr>
          <p:cNvPr id="37" name="Hansard corpus">
            <a:extLst xmlns:a="http://schemas.openxmlformats.org/drawingml/2006/main">
              <a:ext uri="{FF2B5EF4-FFF2-40B4-BE49-F238E27FC236}">
                <a16:creationId xmlns:a16="http://schemas.microsoft.com/office/drawing/2014/main" id="{2F963DBD-8947-4F09-845F-DED4755C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752000"/>
            <a:ext cx="3590640" cy="31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38" name="Hansard corpus title">
            <a:extLst xmlns:a="http://schemas.openxmlformats.org/drawingml/2006/main">
              <a:ext uri="{FF2B5EF4-FFF2-40B4-BE49-F238E27FC236}">
                <a16:creationId xmlns:a16="http://schemas.microsoft.com/office/drawing/2014/main" id="{8CD550B4-A44B-48D5-BC0D-D141CCC2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Real Hansard</a:t>
            </a:r>
          </a:p>
        </p:txBody>
      </p:sp>
      <p:sp>
        <p:nvSpPr>
          <p:cNvPr id="39" name="Hansard corpus description">
            <a:extLst xmlns:a="http://schemas.openxmlformats.org/drawingml/2006/main">
              <a:ext uri="{FF2B5EF4-FFF2-40B4-BE49-F238E27FC236}">
                <a16:creationId xmlns:a16="http://schemas.microsoft.com/office/drawing/2014/main" id="{91527E0A-9366-4A58-A529-4F4DEDE9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80" y="14472000"/>
            <a:ext cx="3302640" cy="23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500 reviewed excerpts, 100 per party, from real NZ speeches. The study uses 0, 10 or 100 per party, selected in fixed corpus order [1].</a:t>
            </a:r>
          </a:p>
        </p:txBody>
      </p:sp>
      <p:sp>
        <p:nvSpPr>
          <p:cNvPr id="40" name="Agent setup">
            <a:extLst xmlns:a="http://schemas.openxmlformats.org/drawingml/2006/main">
              <a:ext uri="{FF2B5EF4-FFF2-40B4-BE49-F238E27FC236}">
                <a16:creationId xmlns:a16="http://schemas.microsoft.com/office/drawing/2014/main" id="{AAF61A3D-D58E-4F1C-983D-15B9AB1D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0680" y="13752000"/>
            <a:ext cx="3590640" cy="31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1" name="Agent setup title">
            <a:extLst xmlns:a="http://schemas.openxmlformats.org/drawingml/2006/main">
              <a:ext uri="{FF2B5EF4-FFF2-40B4-BE49-F238E27FC236}">
                <a16:creationId xmlns:a16="http://schemas.microsoft.com/office/drawing/2014/main" id="{B839E11F-724D-41E7-8312-BE4DC499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Private setup</a:t>
            </a:r>
          </a:p>
        </p:txBody>
      </p:sp>
      <p:sp>
        <p:nvSpPr>
          <p:cNvPr id="42" name="Agent setup description">
            <a:extLst xmlns:a="http://schemas.openxmlformats.org/drawingml/2006/main">
              <a:ext uri="{FF2B5EF4-FFF2-40B4-BE49-F238E27FC236}">
                <a16:creationId xmlns:a16="http://schemas.microsoft.com/office/drawing/2014/main" id="{9740C35F-2AA1-4A3A-8A5F-0607DDE1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4680" y="14472000"/>
            <a:ext cx="3302640" cy="23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Each MP gets its own persona, grounding and any hidden tactic. Editable prompts and settings freeze at run start. Other MPs cannot inspect this setup.</a:t>
            </a:r>
          </a:p>
        </p:txBody>
      </p:sp>
      <p:sp>
        <p:nvSpPr>
          <p:cNvPr id="43" name="MP agents">
            <a:extLst xmlns:a="http://schemas.openxmlformats.org/drawingml/2006/main">
              <a:ext uri="{FF2B5EF4-FFF2-40B4-BE49-F238E27FC236}">
                <a16:creationId xmlns:a16="http://schemas.microsoft.com/office/drawing/2014/main" id="{6FF07794-9D9B-4AEC-B1F5-F627FF31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2680" y="13752000"/>
            <a:ext cx="3590640" cy="31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A92F24"/>
            </a:solidFill>
            <a:prstDash val="solid"/>
          </a:ln>
        </p:spPr>
      </p:sp>
      <p:sp>
        <p:nvSpPr>
          <p:cNvPr id="44" name="MP agents title">
            <a:extLst xmlns:a="http://schemas.openxmlformats.org/drawingml/2006/main">
              <a:ext uri="{FF2B5EF4-FFF2-40B4-BE49-F238E27FC236}">
                <a16:creationId xmlns:a16="http://schemas.microsoft.com/office/drawing/2014/main" id="{FCCC5CE9-0511-40BD-BCBC-0273883C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MP agents</a:t>
            </a:r>
          </a:p>
        </p:txBody>
      </p:sp>
      <p:sp>
        <p:nvSpPr>
          <p:cNvPr id="45" name="MP agents description">
            <a:extLst xmlns:a="http://schemas.openxmlformats.org/drawingml/2006/main">
              <a:ext uri="{FF2B5EF4-FFF2-40B4-BE49-F238E27FC236}">
                <a16:creationId xmlns:a16="http://schemas.microsoft.com/office/drawing/2014/main" id="{44193BB6-378D-4217-9679-A904AABD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680" y="14472000"/>
            <a:ext cx="3302640" cy="23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Cloud or local models represent selected parties. Cooperative MPs argue policy. </a:t>
            </a:r>
            <a:r>
              <a:rPr sz="2250" b="1" i="0">
                <a:solidFill>
                  <a:srgbClr val="A92F24"/>
                </a:solidFill>
                <a:latin typeface="Calibri"/>
                <a:ea typeface="Calibri"/>
                <a:cs typeface="Calibri"/>
              </a:rPr>
              <a:t>Adversarial MPs</a:t>
            </a: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 privately receive a tactic to attempt disruption.</a:t>
            </a:r>
          </a:p>
        </p:txBody>
      </p:sp>
      <p:sp>
        <p:nvSpPr>
          <p:cNvPr id="46" name="Debate scheduler">
            <a:extLst xmlns:a="http://schemas.openxmlformats.org/drawingml/2006/main">
              <a:ext uri="{FF2B5EF4-FFF2-40B4-BE49-F238E27FC236}">
                <a16:creationId xmlns:a16="http://schemas.microsoft.com/office/drawing/2014/main" id="{C6531205-1431-4001-8B4A-48FE4A56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4680" y="13752000"/>
            <a:ext cx="3590640" cy="31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7" name="Debate scheduler title">
            <a:extLst xmlns:a="http://schemas.openxmlformats.org/drawingml/2006/main">
              <a:ext uri="{FF2B5EF4-FFF2-40B4-BE49-F238E27FC236}">
                <a16:creationId xmlns:a16="http://schemas.microsoft.com/office/drawing/2014/main" id="{FF56D1D7-01AD-409A-9CB7-4B35A388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2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Debate engine</a:t>
            </a:r>
          </a:p>
        </p:txBody>
      </p:sp>
      <p:sp>
        <p:nvSpPr>
          <p:cNvPr id="48" name="Debate scheduler description">
            <a:extLst xmlns:a="http://schemas.openxmlformats.org/drawingml/2006/main">
              <a:ext uri="{FF2B5EF4-FFF2-40B4-BE49-F238E27FC236}">
                <a16:creationId xmlns:a16="http://schemas.microsoft.com/office/drawing/2014/main" id="{C9AB93AD-7817-4829-9FB9-CF42307E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8680" y="14472000"/>
            <a:ext cx="3302640" cy="23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One scheduler manages turns, topics, interjections and chair rulings. Public claim references and each MP’s position history guide replies and concessions.</a:t>
            </a:r>
          </a:p>
        </p:txBody>
      </p:sp>
      <p:sp>
        <p:nvSpPr>
          <p:cNvPr id="49" name="Public results">
            <a:extLst xmlns:a="http://schemas.openxmlformats.org/drawingml/2006/main">
              <a:ext uri="{FF2B5EF4-FFF2-40B4-BE49-F238E27FC236}">
                <a16:creationId xmlns:a16="http://schemas.microsoft.com/office/drawing/2014/main" id="{65AC0B4F-9C79-430B-BAAB-9BB4B495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56680" y="13752000"/>
            <a:ext cx="3590640" cy="31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50" name="Public results title">
            <a:extLst xmlns:a="http://schemas.openxmlformats.org/drawingml/2006/main">
              <a:ext uri="{FF2B5EF4-FFF2-40B4-BE49-F238E27FC236}">
                <a16:creationId xmlns:a16="http://schemas.microsoft.com/office/drawing/2014/main" id="{B48B3F1D-3DF3-476E-853E-4A804F4C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4680" y="13896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Saved evidence</a:t>
            </a:r>
          </a:p>
        </p:txBody>
      </p:sp>
      <p:sp>
        <p:nvSpPr>
          <p:cNvPr id="51" name="Public results description">
            <a:extLst xmlns:a="http://schemas.openxmlformats.org/drawingml/2006/main">
              <a:ext uri="{FF2B5EF4-FFF2-40B4-BE49-F238E27FC236}">
                <a16:creationId xmlns:a16="http://schemas.microsoft.com/office/drawing/2014/main" id="{5D4EACC6-6EE0-40A4-8CB8-CC9B2153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0680" y="14472000"/>
            <a:ext cx="3302640" cy="23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Save public speeches and chair events with stable IDs. Replay/export transcripts and separate reports while keeping private prompts and credentials out.</a:t>
            </a:r>
          </a:p>
        </p:txBody>
      </p:sp>
      <p:sp>
        <p:nvSpPr>
          <p:cNvPr id="56" name="Topic derailment heading">
            <a:extLst xmlns:a="http://schemas.openxmlformats.org/drawingml/2006/main">
              <a:ext uri="{FF2B5EF4-FFF2-40B4-BE49-F238E27FC236}">
                <a16:creationId xmlns:a16="http://schemas.microsoft.com/office/drawing/2014/main" id="{1C5C49E1-0754-4939-9EB0-F15EC1C3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136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Topic derailment</a:t>
            </a:r>
          </a:p>
        </p:txBody>
      </p:sp>
      <p:sp>
        <p:nvSpPr>
          <p:cNvPr id="57" name="Topic derailment definition">
            <a:extLst xmlns:a="http://schemas.openxmlformats.org/drawingml/2006/main">
              <a:ext uri="{FF2B5EF4-FFF2-40B4-BE49-F238E27FC236}">
                <a16:creationId xmlns:a16="http://schemas.microsoft.com/office/drawing/2014/main" id="{CCA4A6DA-08EE-4EC1-8CB4-8DB47237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712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Steer discussion away from the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agenda without acknowledging it.</a:t>
            </a:r>
          </a:p>
        </p:txBody>
      </p:sp>
      <p:sp>
        <p:nvSpPr>
          <p:cNvPr id="58" name="Straw man heading">
            <a:extLst xmlns:a="http://schemas.openxmlformats.org/drawingml/2006/main">
              <a:ext uri="{FF2B5EF4-FFF2-40B4-BE49-F238E27FC236}">
                <a16:creationId xmlns:a16="http://schemas.microsoft.com/office/drawing/2014/main" id="{2D6F14CC-2D7E-4EE1-B920-595C07A3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80" y="17136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Straw man</a:t>
            </a:r>
          </a:p>
        </p:txBody>
      </p:sp>
      <p:sp>
        <p:nvSpPr>
          <p:cNvPr id="59" name="Straw man definition">
            <a:extLst xmlns:a="http://schemas.openxmlformats.org/drawingml/2006/main">
              <a:ext uri="{FF2B5EF4-FFF2-40B4-BE49-F238E27FC236}">
                <a16:creationId xmlns:a16="http://schemas.microsoft.com/office/drawing/2014/main" id="{6EC9D806-EE83-4984-A418-A1A8882F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80" y="17712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Misrepresent an opponent’s claim,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then attack the distorted version.</a:t>
            </a:r>
          </a:p>
        </p:txBody>
      </p:sp>
      <p:sp>
        <p:nvSpPr>
          <p:cNvPr id="60" name="Procedural manipulation heading">
            <a:extLst xmlns:a="http://schemas.openxmlformats.org/drawingml/2006/main">
              <a:ext uri="{FF2B5EF4-FFF2-40B4-BE49-F238E27FC236}">
                <a16:creationId xmlns:a16="http://schemas.microsoft.com/office/drawing/2014/main" id="{207EF371-542B-4E53-99DC-1621F9D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8680" y="17136000"/>
            <a:ext cx="639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defRPr>
            </a:pPr>
            <a:r>
              <a:rPr sz="2700" b="1" i="0">
                <a:solidFill>
                  <a:srgbClr val="A92F24"/>
                </a:solidFill>
                <a:latin typeface="Cambria"/>
                <a:ea typeface="Cambria"/>
                <a:cs typeface="Cambria"/>
              </a:rPr>
              <a:t>Procedural manipulation</a:t>
            </a:r>
          </a:p>
        </p:txBody>
      </p:sp>
      <p:sp>
        <p:nvSpPr>
          <p:cNvPr id="61" name="Procedural manipulation definition">
            <a:extLst xmlns:a="http://schemas.openxmlformats.org/drawingml/2006/main">
              <a:ext uri="{FF2B5EF4-FFF2-40B4-BE49-F238E27FC236}">
                <a16:creationId xmlns:a16="http://schemas.microsoft.com/office/drawing/2014/main" id="{2A5917AA-CBCC-4312-81A3-CD326ED2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8680" y="17712000"/>
            <a:ext cx="639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Exploit rules or points of order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to obstruct substantive debate.</a:t>
            </a:r>
          </a:p>
        </p:txBody>
      </p:sp>
      <p:sp>
        <p:nvSpPr>
          <p:cNvPr id="62" name="Privacy and evaluation detail">
            <a:extLst xmlns:a="http://schemas.openxmlformats.org/drawingml/2006/main">
              <a:ext uri="{FF2B5EF4-FFF2-40B4-BE49-F238E27FC236}">
                <a16:creationId xmlns:a16="http://schemas.microsoft.com/office/drawing/2014/main" id="{B5A46087-F02B-45DA-BBDB-7AB0B194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576000"/>
            <a:ext cx="2007864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Only assigned MPs see their tactic. Other agents receive their own setup and public evidence, with no notice of hidden assignments.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3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Select debate and judge models independently. Five rubric metrics, VADER/Cardiff sentiment and DeBERTa stance stay separate.</a:t>
            </a:r>
          </a:p>
        </p:txBody>
      </p:sp>
      <p:sp>
        <p:nvSpPr>
          <p:cNvPr id="63" name="Section 3 number">
            <a:extLst xmlns:a="http://schemas.openxmlformats.org/drawingml/2006/main">
              <a:ext uri="{FF2B5EF4-FFF2-40B4-BE49-F238E27FC236}">
                <a16:creationId xmlns:a16="http://schemas.microsoft.com/office/drawing/2014/main" id="{E55243A4-C430-43CE-AA65-A5AE287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6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64" name="Section 3 title">
            <a:extLst xmlns:a="http://schemas.openxmlformats.org/drawingml/2006/main">
              <a:ext uri="{FF2B5EF4-FFF2-40B4-BE49-F238E27FC236}">
                <a16:creationId xmlns:a16="http://schemas.microsoft.com/office/drawing/2014/main" id="{CFD18A59-71E9-411B-AE4E-30A561F0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9602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More grounding gave no consistent gain</a:t>
            </a:r>
          </a:p>
        </p:txBody>
      </p:sp>
      <p:sp>
        <p:nvSpPr>
          <p:cNvPr id="65" name="Baseline study design">
            <a:extLst xmlns:a="http://schemas.openxmlformats.org/drawingml/2006/main">
              <a:ext uri="{FF2B5EF4-FFF2-40B4-BE49-F238E27FC236}">
                <a16:creationId xmlns:a16="http://schemas.microsoft.com/office/drawing/2014/main" id="{12325A53-41CA-49FB-AEE4-AD6D4E13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592000"/>
            <a:ext cx="2007864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50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54 baseline debates and 1,350 speeches</a:t>
            </a: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[2]. GPT-6 Luna and Qwen3:8b each ran three topics × three grounding levels (0/10/100) × three repetitions, with five parties and five rounds. Topics: retirement age, nuclear power and a four-day workweek. </a:t>
            </a:r>
            <a:r>
              <a:rPr sz="250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All agents were cooperative</a:t>
            </a: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, with interruptions disabled.</a:t>
            </a:r>
          </a:p>
        </p:txBody>
      </p:sp>
      <p:graphicFrame>
        <p:nvGraphicFramePr>
          <p:cNvPr id="66" name="Chart">
            <a:extLst xmlns:a="http://schemas.openxmlformats.org/drawingml/2006/main">
              <a:ext uri="{FF2B5EF4-FFF2-40B4-BE49-F238E27FC236}">
                <a16:creationId xmlns:a16="http://schemas.microsoft.com/office/drawing/2014/main" id="{623D1039-16CC-4079-8567-69328CA7CDAB}"/>
              </a:ext>
            </a:extLst>
          </p:cNvPr>
          <p:cNvGraphicFramePr/>
          <p:nvPr/>
        </p:nvGraphicFramePr>
        <p:xfrm>
          <a:off xmlns:a="http://schemas.openxmlformats.org/drawingml/2006/main" x="868680" y="21528000"/>
          <a:ext xmlns:a="http://schemas.openxmlformats.org/drawingml/2006/main" cx="6542640" cy="291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74750986af4f54"/>
          </a:graphicData>
        </a:graphic>
      </p:graphicFrame>
      <p:graphicFrame>
        <p:nvGraphicFramePr>
          <p:cNvPr id="67" name="Chart">
            <a:extLst xmlns:a="http://schemas.openxmlformats.org/drawingml/2006/main">
              <a:ext uri="{FF2B5EF4-FFF2-40B4-BE49-F238E27FC236}">
                <a16:creationId xmlns:a16="http://schemas.microsoft.com/office/drawing/2014/main" id="{0AFB3D7C-FD15-4D73-9FE5-1B725E548274}"/>
              </a:ext>
            </a:extLst>
          </p:cNvPr>
          <p:cNvGraphicFramePr/>
          <p:nvPr/>
        </p:nvGraphicFramePr>
        <p:xfrm>
          <a:off xmlns:a="http://schemas.openxmlformats.org/drawingml/2006/main" x="7636680" y="21528000"/>
          <a:ext xmlns:a="http://schemas.openxmlformats.org/drawingml/2006/main" cx="6542640" cy="291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339ef120bd4b06"/>
          </a:graphicData>
        </a:graphic>
      </p:graphicFrame>
      <p:graphicFrame>
        <p:nvGraphicFramePr>
          <p:cNvPr id="68" name="Chart">
            <a:extLst xmlns:a="http://schemas.openxmlformats.org/drawingml/2006/main">
              <a:ext uri="{FF2B5EF4-FFF2-40B4-BE49-F238E27FC236}">
                <a16:creationId xmlns:a16="http://schemas.microsoft.com/office/drawing/2014/main" id="{A93EAB67-F74D-4D2F-9A0E-9187D140310A}"/>
              </a:ext>
            </a:extLst>
          </p:cNvPr>
          <p:cNvGraphicFramePr/>
          <p:nvPr/>
        </p:nvGraphicFramePr>
        <p:xfrm>
          <a:off xmlns:a="http://schemas.openxmlformats.org/drawingml/2006/main" x="14404680" y="21528000"/>
          <a:ext xmlns:a="http://schemas.openxmlformats.org/drawingml/2006/main" cx="6542640" cy="291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b2799f438b4b81"/>
          </a:graphicData>
        </a:graphic>
      </p:graphicFrame>
      <p:sp>
        <p:nvSpPr>
          <p:cNvPr id="69" name="Observed consistency drop">
            <a:extLst xmlns:a="http://schemas.openxmlformats.org/drawingml/2006/main">
              <a:ext uri="{FF2B5EF4-FFF2-40B4-BE49-F238E27FC236}">
                <a16:creationId xmlns:a16="http://schemas.microsoft.com/office/drawing/2014/main" id="{A8D17142-28B7-4694-9470-41FCA1B6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696000"/>
            <a:ext cx="2007864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45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Qwen consistency</a:t>
            </a:r>
            <a:r>
              <a:rPr sz="2450" b="0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 fell from 3.93 to 3.62 (-0.31) between 0 and 100 excerpts. Other changes were small or mixed. Relevance endpoints were unchanged (Luna 4.00, Qwen 3.98), and disruptive rhetoric stayed near zero (0.00-0.04). Higher rhetoric means more disruption.</a:t>
            </a:r>
          </a:p>
        </p:txBody>
      </p:sp>
      <p:sp>
        <p:nvSpPr>
          <p:cNvPr id="70" name="Research limitations">
            <a:extLst xmlns:a="http://schemas.openxmlformats.org/drawingml/2006/main">
              <a:ext uri="{FF2B5EF4-FFF2-40B4-BE49-F238E27FC236}">
                <a16:creationId xmlns:a16="http://schemas.microsoft.com/office/drawing/2014/main" id="{E4A1AF19-65F9-42D9-BC39-63AF8459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560000"/>
            <a:ext cx="2007864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05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Means pool 9 debates per model/level and 45 party scores per metric. One common GPT-6 Luna judge rates public evidence. Scores within a debate are dependent, and automated ratings lack human validation. These baseline runs do not establish adversarial robustness.</a:t>
            </a:r>
          </a:p>
        </p:txBody>
      </p:sp>
      <p:sp>
        <p:nvSpPr>
          <p:cNvPr id="71" name="Section 4 number">
            <a:extLst xmlns:a="http://schemas.openxmlformats.org/drawingml/2006/main">
              <a:ext uri="{FF2B5EF4-FFF2-40B4-BE49-F238E27FC236}">
                <a16:creationId xmlns:a16="http://schemas.microsoft.com/office/drawing/2014/main" id="{D2653AAC-6138-4BCE-9DEB-721BECFA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460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72" name="Section 4 title">
            <a:extLst xmlns:a="http://schemas.openxmlformats.org/drawingml/2006/main">
              <a:ext uri="{FF2B5EF4-FFF2-40B4-BE49-F238E27FC236}">
                <a16:creationId xmlns:a16="http://schemas.microsoft.com/office/drawing/2014/main" id="{0754824F-5702-4660-9CC7-B285D815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26406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Outcomes and next steps</a:t>
            </a:r>
          </a:p>
        </p:txBody>
      </p:sp>
      <p:sp>
        <p:nvSpPr>
          <p:cNvPr id="73" name="Outcome detail">
            <a:extLst xmlns:a="http://schemas.openxmlformats.org/drawingml/2006/main">
              <a:ext uri="{FF2B5EF4-FFF2-40B4-BE49-F238E27FC236}">
                <a16:creationId xmlns:a16="http://schemas.microsoft.com/office/drawing/2014/main" id="{5D319FEF-C9B1-4BFE-A8CF-178FD9C0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0"/>
            <a:ext cx="6408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Platform: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Private personas, hidden tactics and frozen settings support reproducible comparisons. Extra Hansard showed no consistent score gain in the baseline study.</a:t>
            </a:r>
          </a:p>
        </p:txBody>
      </p:sp>
      <p:sp>
        <p:nvSpPr>
          <p:cNvPr id="74" name="Next work detail">
            <a:extLst xmlns:a="http://schemas.openxmlformats.org/drawingml/2006/main">
              <a:ext uri="{FF2B5EF4-FFF2-40B4-BE49-F238E27FC236}">
                <a16:creationId xmlns:a16="http://schemas.microsoft.com/office/drawing/2014/main" id="{1BF58020-9565-4E77-ACBD-CF17AECE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000" y="27432000"/>
            <a:ext cx="6300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Next: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Test each hidden tactic against cooperative baselines. Expand topics and repetitions, and use human reviewers to assess disruption, reasoning and concessions.</a:t>
            </a:r>
          </a:p>
        </p:txBody>
      </p:sp>
      <p:sp>
        <p:nvSpPr>
          <p:cNvPr id="75" name="Contributions detail">
            <a:extLst xmlns:a="http://schemas.openxmlformats.org/drawingml/2006/main">
              <a:ext uri="{FF2B5EF4-FFF2-40B4-BE49-F238E27FC236}">
                <a16:creationId xmlns:a16="http://schemas.microsoft.com/office/drawing/2014/main" id="{4932C4E2-E64C-4A9E-A604-6FED278C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0000" y="27432000"/>
            <a:ext cx="6372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Albert Sun: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frontend, live chamber,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initial CLI and Hansard grounding.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1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Kieran Joe:</a:t>
            </a: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 architecture, agent engine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15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and supervisor coordination.</a:t>
            </a:r>
          </a:p>
        </p:txBody>
      </p:sp>
      <p:sp>
        <p:nvSpPr>
          <p:cNvPr id="76" name="Footer band">
            <a:extLst xmlns:a="http://schemas.openxmlformats.org/drawingml/2006/main">
              <a:ext uri="{FF2B5EF4-FFF2-40B4-BE49-F238E27FC236}">
                <a16:creationId xmlns:a16="http://schemas.microsoft.com/office/drawing/2014/main" id="{460408DA-9D7D-4A65-AA1D-C2B6870D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124000"/>
            <a:ext cx="21816000" cy="158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References heading">
            <a:extLst xmlns:a="http://schemas.openxmlformats.org/drawingml/2006/main">
              <a:ext uri="{FF2B5EF4-FFF2-40B4-BE49-F238E27FC236}">
                <a16:creationId xmlns:a16="http://schemas.microsoft.com/office/drawing/2014/main" id="{80DE88A3-DA94-45F4-BA33-F74FBC7A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412000"/>
            <a:ext cx="842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78" name="References detail">
            <a:extLst xmlns:a="http://schemas.openxmlformats.org/drawingml/2006/main">
              <a:ext uri="{FF2B5EF4-FFF2-40B4-BE49-F238E27FC236}">
                <a16:creationId xmlns:a16="http://schemas.microsoft.com/office/drawing/2014/main" id="{FAF6418A-7FDF-4F88-A891-ADCED6CB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844000"/>
            <a:ext cx="842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[1] Rauh &amp; Schwalbach (2020). ParlSpeech V2.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[2] Project 123 debate evaluation study, October 2026.</a:t>
            </a:r>
          </a:p>
        </p:txBody>
      </p:sp>
      <p:sp>
        <p:nvSpPr>
          <p:cNvPr id="79" name="Acknowledgements heading">
            <a:extLst xmlns:a="http://schemas.openxmlformats.org/drawingml/2006/main">
              <a:ext uri="{FF2B5EF4-FFF2-40B4-BE49-F238E27FC236}">
                <a16:creationId xmlns:a16="http://schemas.microsoft.com/office/drawing/2014/main" id="{B5D991CC-E766-4A53-B848-A22EE825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412000"/>
            <a:ext cx="68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Acknowledgements</a:t>
            </a:r>
          </a:p>
        </p:txBody>
      </p:sp>
      <p:sp>
        <p:nvSpPr>
          <p:cNvPr id="80" name="Acknowledgements detail">
            <a:extLst xmlns:a="http://schemas.openxmlformats.org/drawingml/2006/main">
              <a:ext uri="{FF2B5EF4-FFF2-40B4-BE49-F238E27FC236}">
                <a16:creationId xmlns:a16="http://schemas.microsoft.com/office/drawing/2014/main" id="{967B8CFD-4CBC-4A14-9F9A-10FECF49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844000"/>
            <a:ext cx="68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Political science collaborators, Georgetown University.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Members are AI archetypes, not real MPs.</a:t>
            </a:r>
          </a:p>
        </p:txBody>
      </p:sp>
      <p:sp>
        <p:nvSpPr>
          <p:cNvPr id="81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B4F6B225-DE50-4203-8A08-E56A0D59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412000"/>
            <a:ext cx="3888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Contact</a:t>
            </a:r>
          </a:p>
        </p:txBody>
      </p:sp>
      <p:sp>
        <p:nvSpPr>
          <p:cNvPr id="82" name="Contact detail">
            <a:extLst xmlns:a="http://schemas.openxmlformats.org/drawingml/2006/main">
              <a:ext uri="{FF2B5EF4-FFF2-40B4-BE49-F238E27FC236}">
                <a16:creationId xmlns:a16="http://schemas.microsoft.com/office/drawing/2014/main" id="{7956CB2A-50ED-419A-A4A4-5BCF7DC8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844000"/>
            <a:ext cx="3888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asun555@aucklanduni.ac.nz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kjoe685@aucklanduni.ac.nz</a:t>
            </a:r>
          </a:p>
        </p:txBody>
      </p:sp>
    </p:spTree>
    <p:extLst>
      <p:ext uri="{BB962C8B-B14F-4D97-AF65-F5344CB8AC3E}">
        <p14:creationId xmlns:p14="http://schemas.microsoft.com/office/powerpoint/2010/main" val="476292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2026-10-09T01:03:14.1920000Z</dcterms:created>
  <dcterms:modified xsi:type="dcterms:W3CDTF">2026-10-09T01:03:14.1920000Z</dcterms:modified>
</coreProperties>
</file>