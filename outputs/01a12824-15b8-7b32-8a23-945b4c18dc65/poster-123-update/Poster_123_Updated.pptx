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slides/charts/chart3.xml" ContentType="application/vnd.openxmlformats-officedocument.drawingml.chart+xml"/>
  <Override PartName="/ppt/notesSlides/notesSlide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c453240f1224258" /><Relationship Type="http://schemas.openxmlformats.org/officeDocument/2006/relationships/extended-properties" Target="/docProps/app.xml" Id="R158b0de5d28f44bb" /><Relationship Type="http://schemas.openxmlformats.org/officeDocument/2006/relationships/officeDocument" Target="/ppt/presentation.xml" Id="Rdd4e7e8ac0e9479e" /></Relationships>
</file>

<file path=ppt/presentation.xml><?xml version="1.0" encoding="utf-8"?>
<p:presentation xmlns:p="http://schemas.openxmlformats.org/presentationml/2006/main">
  <p:sldMasterIdLst>
    <p:sldMasterId xmlns:r="http://schemas.openxmlformats.org/officeDocument/2006/relationships" id="2147483648" r:id="Rc2991d9627cd4f8b"/>
  </p:sldMasterIdLst>
  <p:notesMasterIdLst>
    <p:notesMasterId xmlns:r="http://schemas.openxmlformats.org/officeDocument/2006/relationships" r:id="R269f5dcbd5094de4"/>
  </p:notesMasterIdLst>
  <p:sldIdLst>
    <p:sldId xmlns:r="http://schemas.openxmlformats.org/officeDocument/2006/relationships" id="256" r:id="R7bff25e5a465418a"/>
  </p:sldIdLst>
  <p:sldSz cx="21816000" cy="3070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b447eba3f24a16" /><Relationship Type="http://schemas.openxmlformats.org/officeDocument/2006/relationships/slideMaster" Target="/ppt/slideMasters/slideMaster1.xml" Id="Rc2991d9627cd4f8b" /><Relationship Type="http://schemas.openxmlformats.org/officeDocument/2006/relationships/notesMaster" Target="/ppt/notesMasters/notesMaster1.xml" Id="R269f5dcbd5094de4" /><Relationship Type="http://schemas.openxmlformats.org/officeDocument/2006/relationships/presProps" Target="/ppt/presProps.xml" Id="Ra634409aa2d74cdb" /><Relationship Type="http://schemas.openxmlformats.org/officeDocument/2006/relationships/tableStyles" Target="/ppt/tableStyles.xml" Id="R79e4b4a40e044725" /><Relationship Type="http://schemas.openxmlformats.org/officeDocument/2006/relationships/slide" Target="/ppt/slides/slide1.xml" Id="R7bff25e5a46541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7552fac0f3740e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0d9708a1d3a40e7" /><Relationship Type="http://schemas.openxmlformats.org/officeDocument/2006/relationships/notesMaster" Target="/ppt/notesMasters/notesMaster1.xml" Id="R49672b7ff18b47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supplied Poster_123 (1).pptx for original branding, header, screenshot, interface annotations, references, names and acknowledgements. Original screenshot is a fixed DemoChatManager demonstration with National assigned STRAW_MAN. It does not establish genuine model inference or successful disruption.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Backend wording: src/main/java/engine/application/DebateApplication.java (configuration snapshot, party/Hansard prompt construction, private setup); engine/prompt/PromptManager.java; engine/agent/Agent.java and PrivateAgentContext.java (recipient-specific private system prompt plus public messages); engine/debate/DebateManager.java (serial scheduled turns and public publication); engine/provider/OpenAIChatManager.java and OllamaChatManager.java (chat endpoints). Private prompts never become a public state before isolation.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Evidence: completed T80 public delivery, outputs/01a11f04-d4c3-7b51-8f85-f996967db913/adversarial-batch1/runs.csv, rubric.csv, matched-rubric.csv and 72 retained public rubric reports. 54 all-NONE baseline debates / 1350 speeches, three topics, three grounding levels, three repetitions, two generators. 18 assigned debates / 450 speeches, one assigned repetition, one assigned party per debate and four NONE parties, zero interruptions. The 18 matched controls belong to the 54 baseline debates and do not add another 18 observations.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Original three baseline chart means remain exact. Each point averages 45 party/topic ratings from 9 debates. Consistency, logical reasoning and responsiveness retain separate 0-4 rubric score scales. The displayed vertical axes are truncated: consistency 3.5-4.1 at 0.1 intervals, reasoning 2.0-3.5 at 0.5 intervals, responsiveness 2.0-4.0 at 0.5 intervals. Each axis uses explicit decimal labels. Consistency has 0.1 visual headroom above the maximum valid score of 4. Relevance and disruptive rhetoric remain separate measures, without an overall quality score.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Each graph includes cooperative and adversarial means together for both generators. Luna uses green shades and Qwen contrasting blue shades throughout. All cooperative series are solid: darker filled-marker series are matched repetition-one cooperative controls and lighter thin series retain all three baseline repetitions. Dashed hollow-marker series are assigned conditions. Each matched point averages all five MPs equally over the three topics: 15 participant/topic metric scores in three debates, 75 ordinary speeches. Each assigned debate has one assigned MP and four NONE MPs. It does not isolate the assigned actor. Each pale baseline point averages 45 scores in nine debates. Matched controls have identical frozen LLM settings, corpus, topic, grounding and speaking order to their assigned runs.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The disruptive-rhetoric paragraph describes ONLY the assigned participants, a separate metric from the three plotted metrics. Qwen ACT control/assigned scores at 0,10,100 excerpts are 0/2, 0/0, 0/0. Qwen Green control/assigned scores are 0/1, 0/0, 1/0. All Luna assigned/control rhetoric values and Qwen NZ First values are zero. Higher rhetoric means greater observed disruption, not better quality.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Both generators retain frozen study settings and one common GPT-6 Luna judge that scores public evidence only. Topic, tactic and assigned party are confounded, with a single assigned repetition. Ratings within each debate are dependent. No human validation, causal effect, significance, successful tactic enactment, model availability or adversarial-robustness claim follows from this poster. Sentiment and stance are not combined with rubric scores. No model inference is performed for this revision.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Public data hashes: {"runs.csv":"c587c71b21feaddb9c99a091e65e98fa6e8a82b6728954cf0deb5a98edfdc6d8","rubric.csv":"733e1987d067a2a7b0170bbd911915cf274a918143a7c3ac1cb25623abf1f5ea","matched-rubric.csv":"8fef20bb4958ebdd4d10b63f84c1542ed506b538be471323bf4fcf67de4aa100"}. Supplied poster SHA256: d29df47fdb4b5772bee8e387fddeb6f64b0c71066b1a990575892e06c802e444. Print geometry: A1 portrait trim 594 x 841 mm, 6 mm bleed per edge, 606 x 853 mm canvas.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7f15b736984e1f"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00389dc46f84f16" /><Relationship Type="http://schemas.openxmlformats.org/officeDocument/2006/relationships/slideLayout" Target="/ppt/slideLayouts/slideLayout1.xml" Id="Rf0f4ff5ef0f94697"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f0f4ff5ef0f9469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3381b3db3704ddb" /><Relationship Type="http://schemas.openxmlformats.org/officeDocument/2006/relationships/image" Target="/ppt/media/image.png" Id="R0768b0e5d8534b67" /><Relationship Type="http://schemas.openxmlformats.org/officeDocument/2006/relationships/image" Target="/ppt/media/image2.png" Id="Rf8e7ec7ba876430e" /><Relationship Type="http://schemas.openxmlformats.org/officeDocument/2006/relationships/chart" Target="/ppt/slides/charts/chart1.xml" Id="Rbc0204d30c7f4414" /><Relationship Type="http://schemas.openxmlformats.org/officeDocument/2006/relationships/chart" Target="/ppt/slides/charts/chart2.xml" Id="Rc1fc64be948942d5" /><Relationship Type="http://schemas.openxmlformats.org/officeDocument/2006/relationships/chart" Target="/ppt/slides/charts/chart3.xml" Id="Rb8d3470053d040b4" /><Relationship Type="http://schemas.openxmlformats.org/officeDocument/2006/relationships/notesSlide" Target="/ppt/notesSlides/notesSlide1.xml" Id="R91f4957a67704d0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Consistency</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all baselines</c:v>
          </c:tx>
          <c:spPr>
            <a:ln xmlns:a="http://schemas.openxmlformats.org/drawingml/2006/main" w="19050">
              <a:solidFill>
                <a:srgbClr val="8C9F91"/>
              </a:solidFill>
              <a:prstDash val="solid"/>
            </a:ln>
          </c:spPr>
          <c:marker>
            <c:symbol val="circle"/>
            <c:size val="7"/>
            <c:spPr>
              <a:solidFill xmlns:a="http://schemas.openxmlformats.org/drawingml/2006/main">
                <a:srgbClr val="8C9F91"/>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4</c:v>
                </c:pt>
                <c:pt idx="1">
                  <c:v>4</c:v>
                </c:pt>
                <c:pt idx="2">
                  <c:v>4</c:v>
                </c:pt>
              </c:numCache>
            </c:numRef>
          </c:val>
          <c:smooth val="0"/>
        </c:ser>
        <c:ser>
          <c:idx val="1"/>
          <c:order val="1"/>
          <c:tx>
            <c:v>Luna: cooperative</c:v>
          </c:tx>
          <c:spPr>
            <a:ln xmlns:a="http://schemas.openxmlformats.org/drawingml/2006/main" w="38100">
              <a:solidFill>
                <a:srgbClr val="1F4D36"/>
              </a:solidFill>
              <a:prstDash val="solid"/>
            </a:ln>
          </c:spPr>
          <c:marker>
            <c:symbol val="circle"/>
            <c:size val="11"/>
            <c:spPr>
              <a:solidFill xmlns:a="http://schemas.openxmlformats.org/drawingml/2006/main">
                <a:srgbClr val="1F4D36"/>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4</c:v>
                </c:pt>
                <c:pt idx="1">
                  <c:v>4</c:v>
                </c:pt>
                <c:pt idx="2">
                  <c:v>4</c:v>
                </c:pt>
              </c:numCache>
            </c:numRef>
          </c:val>
          <c:smooth val="0"/>
        </c:ser>
        <c:ser>
          <c:idx val="2"/>
          <c:order val="2"/>
          <c:tx>
            <c:v>Luna: adversarial</c:v>
          </c:tx>
          <c:spPr>
            <a:ln xmlns:a="http://schemas.openxmlformats.org/drawingml/2006/main" w="38100">
              <a:solidFill>
                <a:srgbClr val="1F4D36"/>
              </a:solidFill>
              <a:prstDash val="dash"/>
            </a:ln>
          </c:spPr>
          <c:marker>
            <c:symbol val="circle"/>
            <c:size val="12"/>
            <c:spPr>
              <a:solidFill xmlns:a="http://schemas.openxmlformats.org/drawingml/2006/main">
                <a:srgbClr val="F4F1EA"/>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4</c:v>
                </c:pt>
                <c:pt idx="1">
                  <c:v>4</c:v>
                </c:pt>
                <c:pt idx="2">
                  <c:v>4</c:v>
                </c:pt>
              </c:numCache>
            </c:numRef>
          </c:val>
          <c:smooth val="0"/>
        </c:ser>
        <c:ser>
          <c:idx val="3"/>
          <c:order val="3"/>
          <c:tx>
            <c:v>Qwen: all baselines</c:v>
          </c:tx>
          <c:spPr>
            <a:ln xmlns:a="http://schemas.openxmlformats.org/drawingml/2006/main" w="19050">
              <a:solidFill>
                <a:srgbClr val="6386B9"/>
              </a:solidFill>
              <a:prstDash val="solid"/>
            </a:ln>
          </c:spPr>
          <c:marker>
            <c:symbol val="square"/>
            <c:size val="7"/>
            <c:spPr>
              <a:solidFill xmlns:a="http://schemas.openxmlformats.org/drawingml/2006/main">
                <a:srgbClr val="6386B9"/>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3.93333333333333</c:v>
                </c:pt>
                <c:pt idx="1">
                  <c:v>3.91111111111111</c:v>
                </c:pt>
                <c:pt idx="2">
                  <c:v>3.62222222222222</c:v>
                </c:pt>
              </c:numCache>
            </c:numRef>
          </c:val>
          <c:smooth val="0"/>
        </c:ser>
        <c:ser>
          <c:idx val="4"/>
          <c:order val="4"/>
          <c:tx>
            <c:v>Qwen: cooperative</c:v>
          </c:tx>
          <c:spPr>
            <a:ln xmlns:a="http://schemas.openxmlformats.org/drawingml/2006/main" w="38100">
              <a:solidFill>
                <a:srgbClr val="1E4F9B"/>
              </a:solidFill>
              <a:prstDash val="solid"/>
            </a:ln>
          </c:spPr>
          <c:marker>
            <c:symbol val="square"/>
            <c:size val="11"/>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4</c:v>
                </c:pt>
                <c:pt idx="1">
                  <c:v>3.93333333333333</c:v>
                </c:pt>
                <c:pt idx="2">
                  <c:v>4</c:v>
                </c:pt>
              </c:numCache>
            </c:numRef>
          </c:val>
          <c:smooth val="0"/>
        </c:ser>
        <c:ser>
          <c:idx val="5"/>
          <c:order val="5"/>
          <c:tx>
            <c:v>Qwen: adversarial</c:v>
          </c:tx>
          <c:spPr>
            <a:ln xmlns:a="http://schemas.openxmlformats.org/drawingml/2006/main" w="38100">
              <a:solidFill>
                <a:srgbClr val="1E4F9B"/>
              </a:solidFill>
              <a:prstDash val="dash"/>
            </a:ln>
          </c:spPr>
          <c:marker>
            <c:symbol val="square"/>
            <c:size val="12"/>
            <c:spPr>
              <a:solidFill xmlns:a="http://schemas.openxmlformats.org/drawingml/2006/main">
                <a:srgbClr val="F4F1EA"/>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3.86666666666667</c:v>
                </c:pt>
                <c:pt idx="1">
                  <c:v>4</c:v>
                </c:pt>
                <c:pt idx="2">
                  <c:v>4</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1"/>
          <c:min val="3.5"/>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1"/>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Logical reasoning</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all baselines</c:v>
          </c:tx>
          <c:spPr>
            <a:ln xmlns:a="http://schemas.openxmlformats.org/drawingml/2006/main" w="19050">
              <a:solidFill>
                <a:srgbClr val="8C9F91"/>
              </a:solidFill>
              <a:prstDash val="solid"/>
            </a:ln>
          </c:spPr>
          <c:marker>
            <c:symbol val="circle"/>
            <c:size val="7"/>
            <c:spPr>
              <a:solidFill xmlns:a="http://schemas.openxmlformats.org/drawingml/2006/main">
                <a:srgbClr val="8C9F91"/>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c:v>
                </c:pt>
                <c:pt idx="1">
                  <c:v>2.97777777777778</c:v>
                </c:pt>
                <c:pt idx="2">
                  <c:v>3.06666666666667</c:v>
                </c:pt>
              </c:numCache>
            </c:numRef>
          </c:val>
          <c:smooth val="0"/>
        </c:ser>
        <c:ser>
          <c:idx val="1"/>
          <c:order val="1"/>
          <c:tx>
            <c:v>Luna: cooperative</c:v>
          </c:tx>
          <c:spPr>
            <a:ln xmlns:a="http://schemas.openxmlformats.org/drawingml/2006/main" w="38100">
              <a:solidFill>
                <a:srgbClr val="1F4D36"/>
              </a:solidFill>
              <a:prstDash val="solid"/>
            </a:ln>
          </c:spPr>
          <c:marker>
            <c:symbol val="circle"/>
            <c:size val="11"/>
            <c:spPr>
              <a:solidFill xmlns:a="http://schemas.openxmlformats.org/drawingml/2006/main">
                <a:srgbClr val="1F4D36"/>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c:v>
                </c:pt>
                <c:pt idx="1">
                  <c:v>3</c:v>
                </c:pt>
                <c:pt idx="2">
                  <c:v>3.2</c:v>
                </c:pt>
              </c:numCache>
            </c:numRef>
          </c:val>
          <c:smooth val="0"/>
        </c:ser>
        <c:ser>
          <c:idx val="2"/>
          <c:order val="2"/>
          <c:tx>
            <c:v>Luna: adversarial</c:v>
          </c:tx>
          <c:spPr>
            <a:ln xmlns:a="http://schemas.openxmlformats.org/drawingml/2006/main" w="38100">
              <a:solidFill>
                <a:srgbClr val="1F4D36"/>
              </a:solidFill>
              <a:prstDash val="dash"/>
            </a:ln>
          </c:spPr>
          <c:marker>
            <c:symbol val="circle"/>
            <c:size val="12"/>
            <c:spPr>
              <a:solidFill xmlns:a="http://schemas.openxmlformats.org/drawingml/2006/main">
                <a:srgbClr val="F4F1EA"/>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c:v>
                </c:pt>
                <c:pt idx="1">
                  <c:v>3</c:v>
                </c:pt>
                <c:pt idx="2">
                  <c:v>3</c:v>
                </c:pt>
              </c:numCache>
            </c:numRef>
          </c:val>
          <c:smooth val="0"/>
        </c:ser>
        <c:ser>
          <c:idx val="3"/>
          <c:order val="3"/>
          <c:tx>
            <c:v>Qwen: all baselines</c:v>
          </c:tx>
          <c:spPr>
            <a:ln xmlns:a="http://schemas.openxmlformats.org/drawingml/2006/main" w="19050">
              <a:solidFill>
                <a:srgbClr val="6386B9"/>
              </a:solidFill>
              <a:prstDash val="solid"/>
            </a:ln>
          </c:spPr>
          <c:marker>
            <c:symbol val="square"/>
            <c:size val="7"/>
            <c:spPr>
              <a:solidFill xmlns:a="http://schemas.openxmlformats.org/drawingml/2006/main">
                <a:srgbClr val="6386B9"/>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2.64444444444444</c:v>
                </c:pt>
                <c:pt idx="1">
                  <c:v>2.66666666666667</c:v>
                </c:pt>
                <c:pt idx="2">
                  <c:v>2.62222222222222</c:v>
                </c:pt>
              </c:numCache>
            </c:numRef>
          </c:val>
          <c:smooth val="0"/>
        </c:ser>
        <c:ser>
          <c:idx val="4"/>
          <c:order val="4"/>
          <c:tx>
            <c:v>Qwen: cooperative</c:v>
          </c:tx>
          <c:spPr>
            <a:ln xmlns:a="http://schemas.openxmlformats.org/drawingml/2006/main" w="38100">
              <a:solidFill>
                <a:srgbClr val="1E4F9B"/>
              </a:solidFill>
              <a:prstDash val="solid"/>
            </a:ln>
          </c:spPr>
          <c:marker>
            <c:symbol val="square"/>
            <c:size val="11"/>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2.6</c:v>
                </c:pt>
                <c:pt idx="1">
                  <c:v>2.66666666666667</c:v>
                </c:pt>
                <c:pt idx="2">
                  <c:v>2.86666666666667</c:v>
                </c:pt>
              </c:numCache>
            </c:numRef>
          </c:val>
          <c:smooth val="0"/>
        </c:ser>
        <c:ser>
          <c:idx val="5"/>
          <c:order val="5"/>
          <c:tx>
            <c:v>Qwen: adversarial</c:v>
          </c:tx>
          <c:spPr>
            <a:ln xmlns:a="http://schemas.openxmlformats.org/drawingml/2006/main" w="38100">
              <a:solidFill>
                <a:srgbClr val="1E4F9B"/>
              </a:solidFill>
              <a:prstDash val="dash"/>
            </a:ln>
          </c:spPr>
          <c:marker>
            <c:symbol val="square"/>
            <c:size val="12"/>
            <c:spPr>
              <a:solidFill xmlns:a="http://schemas.openxmlformats.org/drawingml/2006/main">
                <a:srgbClr val="F4F1EA"/>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2.53333333333333</c:v>
                </c:pt>
                <c:pt idx="1">
                  <c:v>2.53333333333333</c:v>
                </c:pt>
                <c:pt idx="2">
                  <c:v>2.33333333333333</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3.5"/>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600" b="1">
                <a:solidFill>
                  <a:srgbClr val="1F4D36"/>
                </a:solidFill>
                <a:latin typeface="Calibri"/>
                <a:ea typeface="Calibri"/>
                <a:cs typeface="Calibri"/>
              </a:rPr>
              <a:t>Responsiveness</a:t>
            </a:r>
          </a:p>
        </c:rich>
      </c:tx>
      <c:overlay val="0"/>
      <c:txPr>
        <a:bodyPr xmlns:a="http://schemas.openxmlformats.org/drawingml/2006/main" anchorCtr="1"/>
        <a:lstStyle xmlns:a="http://schemas.openxmlformats.org/drawingml/2006/main"/>
        <a:p xmlns:a="http://schemas.openxmlformats.org/drawingml/2006/main">
          <a:pPr>
            <a:defRPr sz="2600" b="1">
              <a:solidFill>
                <a:srgbClr val="1F4D36"/>
              </a:solidFill>
              <a:latin typeface="Calibri"/>
              <a:ea typeface="Calibri"/>
              <a:cs typeface="Calibri"/>
            </a:defRPr>
          </a:pPr>
        </a:p>
      </c:txPr>
    </c:title>
    <c:plotArea>
      <c:lineChart>
        <c:grouping val="standard"/>
        <c:varyColors val="0"/>
        <c:ser>
          <c:idx val="0"/>
          <c:order val="0"/>
          <c:tx>
            <c:v>Luna: all baselines</c:v>
          </c:tx>
          <c:spPr>
            <a:ln xmlns:a="http://schemas.openxmlformats.org/drawingml/2006/main" w="19050">
              <a:solidFill>
                <a:srgbClr val="8C9F91"/>
              </a:solidFill>
              <a:prstDash val="solid"/>
            </a:ln>
          </c:spPr>
          <c:marker>
            <c:symbol val="circle"/>
            <c:size val="7"/>
            <c:spPr>
              <a:solidFill xmlns:a="http://schemas.openxmlformats.org/drawingml/2006/main">
                <a:srgbClr val="8C9F91"/>
              </a:solidFill>
            </c:spPr>
          </c:marker>
          <c:cat>
            <c:numRef>
              <c:f>'Chart Data'!$A$2:$A$4</c:f>
              <c:numCache>
                <c:formatCode>General</c:formatCode>
                <c:ptCount val="3"/>
                <c:pt idx="0">
                  <c:v>0</c:v>
                </c:pt>
                <c:pt idx="1">
                  <c:v>10</c:v>
                </c:pt>
                <c:pt idx="2">
                  <c:v>100</c:v>
                </c:pt>
              </c:numCache>
            </c:numRef>
          </c:cat>
          <c:val>
            <c:numRef>
              <c:f>'Chart Data'!$B$2:$B$4</c:f>
              <c:numCache>
                <c:formatCode>0.0</c:formatCode>
                <c:ptCount val="3"/>
                <c:pt idx="0">
                  <c:v>3.48888888888889</c:v>
                </c:pt>
                <c:pt idx="1">
                  <c:v>3.4</c:v>
                </c:pt>
                <c:pt idx="2">
                  <c:v>3.42222222222222</c:v>
                </c:pt>
              </c:numCache>
            </c:numRef>
          </c:val>
          <c:smooth val="0"/>
        </c:ser>
        <c:ser>
          <c:idx val="1"/>
          <c:order val="1"/>
          <c:tx>
            <c:v>Luna: cooperative</c:v>
          </c:tx>
          <c:spPr>
            <a:ln xmlns:a="http://schemas.openxmlformats.org/drawingml/2006/main" w="38100">
              <a:solidFill>
                <a:srgbClr val="1F4D36"/>
              </a:solidFill>
              <a:prstDash val="solid"/>
            </a:ln>
          </c:spPr>
          <c:marker>
            <c:symbol val="circle"/>
            <c:size val="11"/>
            <c:spPr>
              <a:solidFill xmlns:a="http://schemas.openxmlformats.org/drawingml/2006/main">
                <a:srgbClr val="1F4D36"/>
              </a:solidFill>
            </c:spPr>
          </c:marker>
          <c:cat>
            <c:numRef>
              <c:f>'Chart Data'!$C$2:$C$4</c:f>
              <c:numCache>
                <c:formatCode>General</c:formatCode>
                <c:ptCount val="3"/>
                <c:pt idx="0">
                  <c:v>0</c:v>
                </c:pt>
                <c:pt idx="1">
                  <c:v>10</c:v>
                </c:pt>
                <c:pt idx="2">
                  <c:v>100</c:v>
                </c:pt>
              </c:numCache>
            </c:numRef>
          </c:cat>
          <c:val>
            <c:numRef>
              <c:f>'Chart Data'!$D$2:$D$4</c:f>
              <c:numCache>
                <c:formatCode>0.0</c:formatCode>
                <c:ptCount val="3"/>
                <c:pt idx="0">
                  <c:v>3.53333333333333</c:v>
                </c:pt>
                <c:pt idx="1">
                  <c:v>3.33333333333333</c:v>
                </c:pt>
                <c:pt idx="2">
                  <c:v>3.53333333333333</c:v>
                </c:pt>
              </c:numCache>
            </c:numRef>
          </c:val>
          <c:smooth val="0"/>
        </c:ser>
        <c:ser>
          <c:idx val="2"/>
          <c:order val="2"/>
          <c:tx>
            <c:v>Luna: adversarial</c:v>
          </c:tx>
          <c:spPr>
            <a:ln xmlns:a="http://schemas.openxmlformats.org/drawingml/2006/main" w="38100">
              <a:solidFill>
                <a:srgbClr val="1F4D36"/>
              </a:solidFill>
              <a:prstDash val="dash"/>
            </a:ln>
          </c:spPr>
          <c:marker>
            <c:symbol val="circle"/>
            <c:size val="12"/>
            <c:spPr>
              <a:solidFill xmlns:a="http://schemas.openxmlformats.org/drawingml/2006/main">
                <a:srgbClr val="F4F1EA"/>
              </a:solidFill>
            </c:spPr>
          </c:marker>
          <c:cat>
            <c:numRef>
              <c:f>'Chart Data'!$E$2:$E$4</c:f>
              <c:numCache>
                <c:formatCode>General</c:formatCode>
                <c:ptCount val="3"/>
                <c:pt idx="0">
                  <c:v>0</c:v>
                </c:pt>
                <c:pt idx="1">
                  <c:v>10</c:v>
                </c:pt>
                <c:pt idx="2">
                  <c:v>100</c:v>
                </c:pt>
              </c:numCache>
            </c:numRef>
          </c:cat>
          <c:val>
            <c:numRef>
              <c:f>'Chart Data'!$F$2:$F$4</c:f>
              <c:numCache>
                <c:formatCode>0.0</c:formatCode>
                <c:ptCount val="3"/>
                <c:pt idx="0">
                  <c:v>3.26666666666667</c:v>
                </c:pt>
                <c:pt idx="1">
                  <c:v>3.6</c:v>
                </c:pt>
                <c:pt idx="2">
                  <c:v>3.33333333333333</c:v>
                </c:pt>
              </c:numCache>
            </c:numRef>
          </c:val>
          <c:smooth val="0"/>
        </c:ser>
        <c:ser>
          <c:idx val="3"/>
          <c:order val="3"/>
          <c:tx>
            <c:v>Qwen: all baselines</c:v>
          </c:tx>
          <c:spPr>
            <a:ln xmlns:a="http://schemas.openxmlformats.org/drawingml/2006/main" w="19050">
              <a:solidFill>
                <a:srgbClr val="6386B9"/>
              </a:solidFill>
              <a:prstDash val="solid"/>
            </a:ln>
          </c:spPr>
          <c:marker>
            <c:symbol val="square"/>
            <c:size val="7"/>
            <c:spPr>
              <a:solidFill xmlns:a="http://schemas.openxmlformats.org/drawingml/2006/main">
                <a:srgbClr val="6386B9"/>
              </a:solidFill>
            </c:spPr>
          </c:marker>
          <c:cat>
            <c:numRef>
              <c:f>'Chart Data'!$G$2:$G$4</c:f>
              <c:numCache>
                <c:formatCode>General</c:formatCode>
                <c:ptCount val="3"/>
                <c:pt idx="0">
                  <c:v>0</c:v>
                </c:pt>
                <c:pt idx="1">
                  <c:v>10</c:v>
                </c:pt>
                <c:pt idx="2">
                  <c:v>100</c:v>
                </c:pt>
              </c:numCache>
            </c:numRef>
          </c:cat>
          <c:val>
            <c:numRef>
              <c:f>'Chart Data'!$H$2:$H$4</c:f>
              <c:numCache>
                <c:formatCode>0.0</c:formatCode>
                <c:ptCount val="3"/>
                <c:pt idx="0">
                  <c:v>2.66666666666667</c:v>
                </c:pt>
                <c:pt idx="1">
                  <c:v>2.68888888888889</c:v>
                </c:pt>
                <c:pt idx="2">
                  <c:v>2.71111111111111</c:v>
                </c:pt>
              </c:numCache>
            </c:numRef>
          </c:val>
          <c:smooth val="0"/>
        </c:ser>
        <c:ser>
          <c:idx val="4"/>
          <c:order val="4"/>
          <c:tx>
            <c:v>Qwen: cooperative</c:v>
          </c:tx>
          <c:spPr>
            <a:ln xmlns:a="http://schemas.openxmlformats.org/drawingml/2006/main" w="38100">
              <a:solidFill>
                <a:srgbClr val="1E4F9B"/>
              </a:solidFill>
              <a:prstDash val="solid"/>
            </a:ln>
          </c:spPr>
          <c:marker>
            <c:symbol val="square"/>
            <c:size val="11"/>
            <c:spPr>
              <a:solidFill xmlns:a="http://schemas.openxmlformats.org/drawingml/2006/main">
                <a:srgbClr val="1E4F9B"/>
              </a:solidFill>
            </c:spPr>
          </c:marker>
          <c:cat>
            <c:numRef>
              <c:f>'Chart Data'!$I$2:$I$4</c:f>
              <c:numCache>
                <c:formatCode>General</c:formatCode>
                <c:ptCount val="3"/>
                <c:pt idx="0">
                  <c:v>0</c:v>
                </c:pt>
                <c:pt idx="1">
                  <c:v>10</c:v>
                </c:pt>
                <c:pt idx="2">
                  <c:v>100</c:v>
                </c:pt>
              </c:numCache>
            </c:numRef>
          </c:cat>
          <c:val>
            <c:numRef>
              <c:f>'Chart Data'!$J$2:$J$4</c:f>
              <c:numCache>
                <c:formatCode>0.0</c:formatCode>
                <c:ptCount val="3"/>
                <c:pt idx="0">
                  <c:v>2.4</c:v>
                </c:pt>
                <c:pt idx="1">
                  <c:v>2.53333333333333</c:v>
                </c:pt>
                <c:pt idx="2">
                  <c:v>2.66666666666667</c:v>
                </c:pt>
              </c:numCache>
            </c:numRef>
          </c:val>
          <c:smooth val="0"/>
        </c:ser>
        <c:ser>
          <c:idx val="5"/>
          <c:order val="5"/>
          <c:tx>
            <c:v>Qwen: adversarial</c:v>
          </c:tx>
          <c:spPr>
            <a:ln xmlns:a="http://schemas.openxmlformats.org/drawingml/2006/main" w="38100">
              <a:solidFill>
                <a:srgbClr val="1E4F9B"/>
              </a:solidFill>
              <a:prstDash val="dash"/>
            </a:ln>
          </c:spPr>
          <c:marker>
            <c:symbol val="square"/>
            <c:size val="12"/>
            <c:spPr>
              <a:solidFill xmlns:a="http://schemas.openxmlformats.org/drawingml/2006/main">
                <a:srgbClr val="F4F1EA"/>
              </a:solidFill>
            </c:spPr>
          </c:marker>
          <c:cat>
            <c:numRef>
              <c:f>'Chart Data'!$K$2:$K$4</c:f>
              <c:numCache>
                <c:formatCode>General</c:formatCode>
                <c:ptCount val="3"/>
                <c:pt idx="0">
                  <c:v>0</c:v>
                </c:pt>
                <c:pt idx="1">
                  <c:v>10</c:v>
                </c:pt>
                <c:pt idx="2">
                  <c:v>100</c:v>
                </c:pt>
              </c:numCache>
            </c:numRef>
          </c:cat>
          <c:val>
            <c:numRef>
              <c:f>'Chart Data'!$L$2:$L$4</c:f>
              <c:numCache>
                <c:formatCode>0.0</c:formatCode>
                <c:ptCount val="3"/>
                <c:pt idx="0">
                  <c:v>2.93333333333333</c:v>
                </c:pt>
                <c:pt idx="1">
                  <c:v>2.6</c:v>
                </c:pt>
                <c:pt idx="2">
                  <c:v>2.93333333333333</c:v>
                </c:pt>
              </c:numCache>
            </c:numRef>
          </c:val>
          <c:smooth val="0"/>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00">
                    <a:solidFill>
                      <a:srgbClr val="56615B"/>
                    </a:solidFill>
                    <a:latin typeface="Calibri"/>
                    <a:ea typeface="Calibri"/>
                    <a:cs typeface="Calibri"/>
                  </a:rPr>
                  <a:t>Hansard excerpts per party</a:t>
                </a:r>
              </a:p>
            </c:rich>
          </c:tx>
          <c:overlay val="0"/>
          <c:txPr>
            <a:bodyPr xmlns:a="http://schemas.openxmlformats.org/drawingml/2006/main" anchorCtr="1"/>
            <a:lstStyle xmlns:a="http://schemas.openxmlformats.org/drawingml/2006/main"/>
            <a:p xmlns:a="http://schemas.openxmlformats.org/drawingml/2006/main">
              <a:pPr>
                <a:defRPr sz="1700">
                  <a:solidFill>
                    <a:srgbClr val="56615B"/>
                  </a:solidFill>
                  <a:latin typeface="Calibri"/>
                  <a:ea typeface="Calibri"/>
                  <a:cs typeface="Calibri"/>
                </a:defRPr>
              </a:pPr>
            </a:p>
          </c:txPr>
        </c:title>
        <c:numFmt formatCode="General"/>
        <c:majorTickMark val="none"/>
        <c:minorTickMark val="none"/>
        <c:spPr>
          <a:ln xmlns:a="http://schemas.openxmlformats.org/drawingml/2006/main" w="9525">
            <a:solidFill>
              <a:srgbClr val="D6D0C2"/>
            </a:solid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72768"/>
      </c:catAx>
      <c:valAx>
        <c:axId val="48672768"/>
        <c:scaling>
          <c:orientation val="minMax"/>
          <c:max val="4"/>
          <c:min val="2"/>
        </c:scaling>
        <c:delete val="0"/>
        <c:axPos val="l"/>
        <c:majorGridlines>
          <c:spPr>
            <a:ln xmlns:a="http://schemas.openxmlformats.org/drawingml/2006/main" w="9525">
              <a:solidFill>
                <a:srgbClr val="D6D0C2"/>
              </a:solidFill>
              <a:prstDash val="solid"/>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F2A24"/>
                </a:solidFill>
                <a:latin typeface="Calibri"/>
                <a:ea typeface="Calibri"/>
                <a:cs typeface="Calibri"/>
              </a:defRPr>
            </a:pPr>
          </a:p>
        </c:txPr>
        <c:crossAx val="48650112"/>
        <c:crossBetween val="between"/>
        <c:majorUnit val="0.5"/>
      </c:valAx>
      <c:spPr>
        <a:solidFill xmlns:a="http://schemas.openxmlformats.org/drawingml/2006/main">
          <a:srgbClr val="F4F1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700">
              <a:solidFill>
                <a:srgbClr val="1F2A24"/>
              </a:solidFill>
              <a:latin typeface="Calibri"/>
              <a:ea typeface="Calibri"/>
              <a:cs typeface="Calibri"/>
            </a:defRPr>
          </a:pPr>
        </a:p>
      </c:txPr>
    </c:legend>
    <c:plotVisOnly val="1"/>
  </c:chart>
  <c:spPr>
    <a:solidFill xmlns:a="http://schemas.openxmlformats.org/drawingml/2006/main">
      <a:srgbClr val="F4F1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cxnSp>
        <p:nvCxnSpPr>
          <p:cNvPr id="16" name="Google Shape;16;p1">
            <a:extLst xmlns:a="http://schemas.openxmlformats.org/drawingml/2006/main">
              <a:ext uri="{FF2B5EF4-FFF2-40B4-BE49-F238E27FC236}">
                <a16:creationId xmlns:a16="http://schemas.microsoft.com/office/drawing/2014/main" id="{B80E50FA-2806-4C91-8776-55F0AF03FECB}"/>
              </a:ext>
            </a:extLst>
          </p:cNvPr>
          <p:cNvCxnSpPr>
            <a:stCxn xmlns:a="http://schemas.openxmlformats.org/drawingml/2006/main" id="17" idx="3"/>
            <a:endCxn xmlns:a="http://schemas.openxmlformats.org/drawingml/2006/main" id="18" idx="1"/>
          </p:cNvCxnSpPr>
          <p:nvPr/>
        </p:nvCxnSpPr>
        <p:spPr>
          <a:xfrm xmlns:a="http://schemas.openxmlformats.org/drawingml/2006/main">
            <a:off x="16825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19" name="Google Shape;19;p1">
            <a:extLst xmlns:a="http://schemas.openxmlformats.org/drawingml/2006/main">
              <a:ext uri="{FF2B5EF4-FFF2-40B4-BE49-F238E27FC236}">
                <a16:creationId xmlns:a16="http://schemas.microsoft.com/office/drawing/2014/main" id="{6A63D799-E927-4EB1-8654-341316835F90}"/>
              </a:ext>
            </a:extLst>
          </p:cNvPr>
          <p:cNvCxnSpPr>
            <a:stCxn xmlns:a="http://schemas.openxmlformats.org/drawingml/2006/main" id="20" idx="3"/>
            <a:endCxn xmlns:a="http://schemas.openxmlformats.org/drawingml/2006/main" id="17" idx="1"/>
          </p:cNvCxnSpPr>
          <p:nvPr/>
        </p:nvCxnSpPr>
        <p:spPr>
          <a:xfrm xmlns:a="http://schemas.openxmlformats.org/drawingml/2006/main">
            <a:off x="12703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1" name="Google Shape;21;p1">
            <a:extLst xmlns:a="http://schemas.openxmlformats.org/drawingml/2006/main">
              <a:ext uri="{FF2B5EF4-FFF2-40B4-BE49-F238E27FC236}">
                <a16:creationId xmlns:a16="http://schemas.microsoft.com/office/drawing/2014/main" id="{49ECBDE2-3999-4574-8FFF-D3AE6A1AE854}"/>
              </a:ext>
            </a:extLst>
          </p:cNvPr>
          <p:cNvCxnSpPr>
            <a:stCxn xmlns:a="http://schemas.openxmlformats.org/drawingml/2006/main" id="22" idx="3"/>
            <a:endCxn xmlns:a="http://schemas.openxmlformats.org/drawingml/2006/main" id="20" idx="1"/>
          </p:cNvCxnSpPr>
          <p:nvPr/>
        </p:nvCxnSpPr>
        <p:spPr>
          <a:xfrm xmlns:a="http://schemas.openxmlformats.org/drawingml/2006/main">
            <a:off x="8581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cxnSp>
        <p:nvCxnSpPr>
          <p:cNvPr id="23" name="Google Shape;23;p1">
            <a:extLst xmlns:a="http://schemas.openxmlformats.org/drawingml/2006/main">
              <a:ext uri="{FF2B5EF4-FFF2-40B4-BE49-F238E27FC236}">
                <a16:creationId xmlns:a16="http://schemas.microsoft.com/office/drawing/2014/main" id="{2357B865-BD24-42FC-A00C-27ABC387FF3C}"/>
              </a:ext>
            </a:extLst>
          </p:cNvPr>
          <p:cNvCxnSpPr>
            <a:stCxn xmlns:a="http://schemas.openxmlformats.org/drawingml/2006/main" id="24" idx="3"/>
            <a:endCxn xmlns:a="http://schemas.openxmlformats.org/drawingml/2006/main" id="22" idx="1"/>
          </p:cNvCxnSpPr>
          <p:nvPr/>
        </p:nvCxnSpPr>
        <p:spPr>
          <a:xfrm xmlns:a="http://schemas.openxmlformats.org/drawingml/2006/main">
            <a:off x="4459320" y="15750000"/>
            <a:ext cx="531360" cy="0"/>
          </a:xfrm>
          <a:prstGeom xmlns:a="http://schemas.openxmlformats.org/drawingml/2006/main" prst="straightConnector1">
            <a:avLst/>
          </a:prstGeom>
          <a:ln xmlns:a="http://schemas.openxmlformats.org/drawingml/2006/main" w="28575" cap="flat">
            <a:solidFill>
              <a:srgbClr val="C9971C"/>
            </a:solidFill>
            <a:prstDash val="solid"/>
            <a:round/>
            <a:headEnd type="none" w="sm" len="sm"/>
            <a:tailEnd type="triangle" w="med" len="med"/>
          </a:ln>
        </p:spPr>
      </p:cxnSp>
      <p:sp>
        <p:nvSpPr>
          <p:cNvPr id="25" name="Google Shape;25;p1">
            <a:extLst xmlns:a="http://schemas.openxmlformats.org/drawingml/2006/main">
              <a:ext uri="{FF2B5EF4-FFF2-40B4-BE49-F238E27FC236}">
                <a16:creationId xmlns:a16="http://schemas.microsoft.com/office/drawing/2014/main" id="{1A6AF1B0-A565-4C80-8BD1-99A1EC1643DF}"/>
              </a:ext>
            </a:extLst>
          </p:cNvPr>
          <p:cNvSpPr>
            <a:spLocks xmlns:a="http://schemas.openxmlformats.org/drawingml/2006/main" noGrp="1"/>
          </p:cNvSpPr>
          <p:nvPr/>
        </p:nvSpPr>
        <p:spPr>
          <a:xfrm xmlns:a="http://schemas.openxmlformats.org/drawingml/2006/main">
            <a:off x="0" y="0"/>
            <a:ext cx="21816000" cy="3492000"/>
          </a:xfrm>
          <a:prstGeom xmlns:a="http://schemas.openxmlformats.org/drawingml/2006/main" prst="rect">
            <a:avLst/>
          </a:prstGeom>
          <a:solidFill xmlns:a="http://schemas.openxmlformats.org/drawingml/2006/main">
            <a:srgbClr val="173F2C"/>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26" name="Google Shape;26;p1">
            <a:extLst xmlns:a="http://schemas.openxmlformats.org/drawingml/2006/main">
              <a:ext uri="{FF2B5EF4-FFF2-40B4-BE49-F238E27FC236}">
                <a16:creationId xmlns:a16="http://schemas.microsoft.com/office/drawing/2014/main" id="{88C2FBBF-0D27-4B3B-B7AB-05155AF9D6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768b0e5d8534b67">
            <a:alphaModFix/>
          </a:blip>
          <a:srcRect xmlns:a="http://schemas.openxmlformats.org/drawingml/2006/main" l="0" t="0" r="0" b="0"/>
          <a:stretch xmlns:a="http://schemas.openxmlformats.org/drawingml/2006/main"/>
        </p:blipFill>
        <p:spPr>
          <a:xfrm xmlns:a="http://schemas.openxmlformats.org/drawingml/2006/main">
            <a:off x="868680" y="432000"/>
            <a:ext cx="2520000" cy="991620"/>
          </a:xfrm>
          <a:prstGeom xmlns:a="http://schemas.openxmlformats.org/drawingml/2006/main" prst="rect">
            <a:avLst/>
          </a:prstGeom>
          <a:ln xmlns:a="http://schemas.openxmlformats.org/drawingml/2006/main">
            <a:noFill/>
          </a:ln>
        </p:spPr>
      </p:pic>
      <p:sp>
        <p:nvSpPr>
          <p:cNvPr id="27" name="Google Shape;27;p1">
            <a:extLst xmlns:a="http://schemas.openxmlformats.org/drawingml/2006/main">
              <a:ext uri="{FF2B5EF4-FFF2-40B4-BE49-F238E27FC236}">
                <a16:creationId xmlns:a16="http://schemas.microsoft.com/office/drawing/2014/main" id="{7C71D4C1-B86B-4925-83EA-8E00BB1A8DB3}"/>
              </a:ext>
            </a:extLst>
          </p:cNvPr>
          <p:cNvSpPr>
            <a:spLocks xmlns:a="http://schemas.openxmlformats.org/drawingml/2006/main" noGrp="1"/>
          </p:cNvSpPr>
          <p:nvPr/>
        </p:nvSpPr>
        <p:spPr>
          <a:xfrm xmlns:a="http://schemas.openxmlformats.org/drawingml/2006/main">
            <a:off x="10889172" y="432000"/>
            <a:ext cx="1005840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F2C14E"/>
              </a:buClr>
              <a:buSzPts val="2500"/>
              <a:buFont typeface="Calibri"/>
              <a:buNone/>
            </a:pPr>
            <a:r>
              <a:rPr sz="2500" b="1" i="0">
                <a:solidFill>
                  <a:srgbClr val="F2C14E"/>
                </a:solidFill>
                <a:latin typeface="Calibri"/>
                <a:ea typeface="Calibri"/>
                <a:cs typeface="Calibri"/>
              </a:rPr>
              <a:t>Part IV Project #123</a:t>
            </a:r>
            <a:endParaRPr/>
          </a:p>
        </p:txBody>
      </p:sp>
      <p:sp>
        <p:nvSpPr>
          <p:cNvPr id="28" name="Google Shape;28;p1">
            <a:extLst xmlns:a="http://schemas.openxmlformats.org/drawingml/2006/main">
              <a:ext uri="{FF2B5EF4-FFF2-40B4-BE49-F238E27FC236}">
                <a16:creationId xmlns:a16="http://schemas.microsoft.com/office/drawing/2014/main" id="{0CC9D0A0-FB4E-472C-834E-58CE50171EF8}"/>
              </a:ext>
            </a:extLst>
          </p:cNvPr>
          <p:cNvSpPr>
            <a:spLocks xmlns:a="http://schemas.openxmlformats.org/drawingml/2006/main" noGrp="1"/>
          </p:cNvSpPr>
          <p:nvPr/>
        </p:nvSpPr>
        <p:spPr>
          <a:xfrm xmlns:a="http://schemas.openxmlformats.org/drawingml/2006/main">
            <a:off x="10889172" y="900000"/>
            <a:ext cx="100584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Department of Electrical, Computer,</a:t>
            </a:r>
            <a:endParaRPr/>
          </a:p>
          <a:p xmlns:a="http://schemas.openxmlformats.org/drawingml/2006/main">
            <a:pPr marL="0" marR="0" lvl="0" indent="0" algn="r">
              <a:lnSpc>
                <a:spcPct val="108000"/>
              </a:lnSpc>
              <a:spcBef>
                <a:spcPts val="0"/>
              </a:spcBef>
              <a:spcAft>
                <a:spcPts val="0"/>
              </a:spcAft>
              <a:buClr>
                <a:srgbClr val="E6EFE9"/>
              </a:buClr>
              <a:buSzPts val="2000"/>
              <a:buFont typeface="Calibri"/>
              <a:buNone/>
            </a:pPr>
            <a:r>
              <a:rPr sz="2000" b="0" i="0">
                <a:solidFill>
                  <a:srgbClr val="E6EFE9"/>
                </a:solidFill>
                <a:latin typeface="Calibri"/>
                <a:ea typeface="Calibri"/>
                <a:cs typeface="Calibri"/>
              </a:rPr>
              <a:t>and Software Engineering</a:t>
            </a:r>
            <a:endParaRPr/>
          </a:p>
        </p:txBody>
      </p:sp>
      <p:sp>
        <p:nvSpPr>
          <p:cNvPr id="29" name="Google Shape;29;p1">
            <a:extLst xmlns:a="http://schemas.openxmlformats.org/drawingml/2006/main">
              <a:ext uri="{FF2B5EF4-FFF2-40B4-BE49-F238E27FC236}">
                <a16:creationId xmlns:a16="http://schemas.microsoft.com/office/drawing/2014/main" id="{2B997EDB-B949-4525-B37C-53B4B531BCE6}"/>
              </a:ext>
            </a:extLst>
          </p:cNvPr>
          <p:cNvSpPr>
            <a:spLocks xmlns:a="http://schemas.openxmlformats.org/drawingml/2006/main" noGrp="1"/>
          </p:cNvSpPr>
          <p:nvPr/>
        </p:nvSpPr>
        <p:spPr>
          <a:xfrm xmlns:a="http://schemas.openxmlformats.org/drawingml/2006/main">
            <a:off x="868680" y="1332000"/>
            <a:ext cx="20078640" cy="100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FFFFF"/>
              </a:buClr>
              <a:buSzPts val="7600"/>
              <a:buFont typeface="Cambria"/>
              <a:buNone/>
            </a:pPr>
            <a:r>
              <a:rPr sz="7600" b="1" i="0">
                <a:solidFill>
                  <a:srgbClr val="FFFFFF"/>
                </a:solidFill>
                <a:latin typeface="Cambria"/>
                <a:ea typeface="Cambria"/>
                <a:cs typeface="Cambria"/>
              </a:rPr>
              <a:t>AI-Based Virtual Parliament</a:t>
            </a:r>
            <a:endParaRPr/>
          </a:p>
        </p:txBody>
      </p:sp>
      <p:sp>
        <p:nvSpPr>
          <p:cNvPr id="30" name="Google Shape;30;p1">
            <a:extLst xmlns:a="http://schemas.openxmlformats.org/drawingml/2006/main">
              <a:ext uri="{FF2B5EF4-FFF2-40B4-BE49-F238E27FC236}">
                <a16:creationId xmlns:a16="http://schemas.microsoft.com/office/drawing/2014/main" id="{726D0724-A683-4B0F-87AB-BCC76DBB8DB4}"/>
              </a:ext>
            </a:extLst>
          </p:cNvPr>
          <p:cNvSpPr>
            <a:spLocks xmlns:a="http://schemas.openxmlformats.org/drawingml/2006/main" noGrp="1"/>
          </p:cNvSpPr>
          <p:nvPr/>
        </p:nvSpPr>
        <p:spPr>
          <a:xfrm xmlns:a="http://schemas.openxmlformats.org/drawingml/2006/main">
            <a:off x="868680" y="2376000"/>
            <a:ext cx="20078640" cy="46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2C14E"/>
              </a:buClr>
              <a:buSzPts val="3100"/>
              <a:buFont typeface="Cambria"/>
              <a:buNone/>
            </a:pPr>
            <a:r>
              <a:rPr sz="3100" b="0" i="1">
                <a:solidFill>
                  <a:srgbClr val="F2C14E"/>
                </a:solidFill>
                <a:latin typeface="Cambria"/>
                <a:ea typeface="Cambria"/>
                <a:cs typeface="Cambria"/>
              </a:rPr>
              <a:t>Cooperative debate and hidden adversarial strategies</a:t>
            </a:r>
            <a:endParaRPr/>
          </a:p>
        </p:txBody>
      </p:sp>
      <p:sp>
        <p:nvSpPr>
          <p:cNvPr id="31" name="Google Shape;31;p1">
            <a:extLst xmlns:a="http://schemas.openxmlformats.org/drawingml/2006/main">
              <a:ext uri="{FF2B5EF4-FFF2-40B4-BE49-F238E27FC236}">
                <a16:creationId xmlns:a16="http://schemas.microsoft.com/office/drawing/2014/main" id="{8D064BC4-EA96-4B9F-A54B-E427011C8B69}"/>
              </a:ext>
            </a:extLst>
          </p:cNvPr>
          <p:cNvSpPr>
            <a:spLocks xmlns:a="http://schemas.openxmlformats.org/drawingml/2006/main" noGrp="1"/>
          </p:cNvSpPr>
          <p:nvPr/>
        </p:nvSpPr>
        <p:spPr>
          <a:xfrm xmlns:a="http://schemas.openxmlformats.org/drawingml/2006/main">
            <a:off x="868680" y="2988000"/>
            <a:ext cx="20078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FFFFFF"/>
              </a:buClr>
              <a:buSzPts val="2500"/>
              <a:buFont typeface="Calibri"/>
              <a:buNone/>
            </a:pPr>
            <a:r>
              <a:rPr sz="2500" b="1" i="0">
                <a:solidFill>
                  <a:srgbClr val="FFFFFF"/>
                </a:solidFill>
                <a:latin typeface="Calibri"/>
                <a:ea typeface="Calibri"/>
                <a:cs typeface="Calibri"/>
              </a:rPr>
              <a:t>Albert Sun &amp; Kieran Joe</a:t>
            </a:r>
            <a:r>
              <a:rPr sz="2500" b="0" i="0">
                <a:solidFill>
                  <a:srgbClr val="FFFFFF"/>
                </a:solidFill>
                <a:latin typeface="Calibri"/>
                <a:ea typeface="Calibri"/>
                <a:cs typeface="Calibri"/>
              </a:rPr>
              <a:t>   ·   Supervisor: Dr Joerg Wicker</a:t>
            </a:r>
            <a:endParaRPr/>
          </a:p>
        </p:txBody>
      </p:sp>
      <p:sp>
        <p:nvSpPr>
          <p:cNvPr id="32" name="Google Shape;32;p1">
            <a:extLst xmlns:a="http://schemas.openxmlformats.org/drawingml/2006/main">
              <a:ext uri="{FF2B5EF4-FFF2-40B4-BE49-F238E27FC236}">
                <a16:creationId xmlns:a16="http://schemas.microsoft.com/office/drawing/2014/main" id="{F2DC64CC-796E-4F5B-B277-35D4E8F6B779}"/>
              </a:ext>
            </a:extLst>
          </p:cNvPr>
          <p:cNvSpPr>
            <a:spLocks xmlns:a="http://schemas.openxmlformats.org/drawingml/2006/main" noGrp="1"/>
          </p:cNvSpPr>
          <p:nvPr/>
        </p:nvSpPr>
        <p:spPr>
          <a:xfrm xmlns:a="http://schemas.openxmlformats.org/drawingml/2006/main">
            <a:off x="868680" y="3744000"/>
            <a:ext cx="20078640" cy="104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900"/>
              <a:buFont typeface="Calibri"/>
              <a:buNone/>
            </a:pPr>
            <a:r>
              <a:rPr sz="2900" b="0" i="0">
                <a:solidFill>
                  <a:srgbClr val="1F2A24"/>
                </a:solidFill>
                <a:latin typeface="Calibri"/>
                <a:ea typeface="Calibri"/>
                <a:cs typeface="Calibri"/>
              </a:rPr>
              <a:t>We built a virtual New Zealand Parliament with cooperative and adversarial AI MPs. Each follows a party persona, and selected agents get private disruption tactics. The latest study tests whether Hansard grounding improves debate quality.</a:t>
            </a:r>
            <a:endParaRPr/>
          </a:p>
        </p:txBody>
      </p:sp>
      <p:sp>
        <p:nvSpPr>
          <p:cNvPr id="33" name="Google Shape;33;p1">
            <a:extLst xmlns:a="http://schemas.openxmlformats.org/drawingml/2006/main">
              <a:ext uri="{FF2B5EF4-FFF2-40B4-BE49-F238E27FC236}">
                <a16:creationId xmlns:a16="http://schemas.microsoft.com/office/drawing/2014/main" id="{9AEB5DC9-8D24-4C01-BAD0-1366DB5F0E86}"/>
              </a:ext>
            </a:extLst>
          </p:cNvPr>
          <p:cNvSpPr>
            <a:spLocks xmlns:a="http://schemas.openxmlformats.org/drawingml/2006/main" noGrp="1"/>
          </p:cNvSpPr>
          <p:nvPr/>
        </p:nvSpPr>
        <p:spPr>
          <a:xfrm xmlns:a="http://schemas.openxmlformats.org/drawingml/2006/main">
            <a:off x="868680" y="5004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1</a:t>
            </a:r>
            <a:endParaRPr/>
          </a:p>
        </p:txBody>
      </p:sp>
      <p:sp>
        <p:nvSpPr>
          <p:cNvPr id="34" name="Google Shape;34;p1">
            <a:extLst xmlns:a="http://schemas.openxmlformats.org/drawingml/2006/main">
              <a:ext uri="{FF2B5EF4-FFF2-40B4-BE49-F238E27FC236}">
                <a16:creationId xmlns:a16="http://schemas.microsoft.com/office/drawing/2014/main" id="{AC759679-E80D-4617-8C40-E09067A35577}"/>
              </a:ext>
            </a:extLst>
          </p:cNvPr>
          <p:cNvSpPr>
            <a:spLocks xmlns:a="http://schemas.openxmlformats.org/drawingml/2006/main" noGrp="1"/>
          </p:cNvSpPr>
          <p:nvPr/>
        </p:nvSpPr>
        <p:spPr>
          <a:xfrm xmlns:a="http://schemas.openxmlformats.org/drawingml/2006/main">
            <a:off x="1836000" y="4950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a:solidFill>
                  <a:srgbClr val="1F4D36"/>
                </a:solidFill>
                <a:latin typeface="Cambria"/>
                <a:ea typeface="Cambria"/>
                <a:cs typeface="Cambria"/>
              </a:rPr>
              <a:t>Parliament web browser interface</a:t>
            </a:r>
            <a:endParaRPr/>
          </a:p>
        </p:txBody>
      </p:sp>
      <p:sp>
        <p:nvSpPr>
          <p:cNvPr id="35" name="Google Shape;35;p1">
            <a:extLst xmlns:a="http://schemas.openxmlformats.org/drawingml/2006/main">
              <a:ext uri="{FF2B5EF4-FFF2-40B4-BE49-F238E27FC236}">
                <a16:creationId xmlns:a16="http://schemas.microsoft.com/office/drawing/2014/main" id="{9D45AFC2-4FFF-436E-A682-DDA602A963B1}"/>
              </a:ext>
            </a:extLst>
          </p:cNvPr>
          <p:cNvSpPr>
            <a:spLocks xmlns:a="http://schemas.openxmlformats.org/drawingml/2006/main" noGrp="1"/>
          </p:cNvSpPr>
          <p:nvPr/>
        </p:nvSpPr>
        <p:spPr>
          <a:xfrm xmlns:a="http://schemas.openxmlformats.org/drawingml/2006/main">
            <a:off x="846000" y="5904000"/>
            <a:ext cx="10843200" cy="5770800"/>
          </a:xfrm>
          <a:prstGeom xmlns:a="http://schemas.openxmlformats.org/drawingml/2006/main" prst="rect">
            <a:avLst/>
          </a:prstGeom>
          <a:solidFill xmlns:a="http://schemas.openxmlformats.org/drawingml/2006/main">
            <a:srgbClr val="FFFFFF"/>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pic>
        <p:nvPicPr>
          <p:cNvPr id="36" name="Google Shape;36;p1">
            <a:extLst xmlns:a="http://schemas.openxmlformats.org/drawingml/2006/main">
              <a:ext uri="{FF2B5EF4-FFF2-40B4-BE49-F238E27FC236}">
                <a16:creationId xmlns:a16="http://schemas.microsoft.com/office/drawing/2014/main" id="{04D15EB4-AEDB-4DBC-B9D4-7063006831C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8e7ec7ba876430e">
            <a:alphaModFix/>
          </a:blip>
          <a:srcRect xmlns:a="http://schemas.openxmlformats.org/drawingml/2006/main" l="0" t="0" r="0" b="0"/>
          <a:stretch xmlns:a="http://schemas.openxmlformats.org/drawingml/2006/main"/>
        </p:blipFill>
        <p:spPr>
          <a:xfrm xmlns:a="http://schemas.openxmlformats.org/drawingml/2006/main">
            <a:off x="868680" y="5923649"/>
            <a:ext cx="10800000" cy="5724302"/>
          </a:xfrm>
          <a:prstGeom xmlns:a="http://schemas.openxmlformats.org/drawingml/2006/main" prst="rect">
            <a:avLst/>
          </a:prstGeom>
          <a:ln xmlns:a="http://schemas.openxmlformats.org/drawingml/2006/main">
            <a:noFill/>
          </a:ln>
        </p:spPr>
      </p:pic>
      <p:sp>
        <p:nvSpPr>
          <p:cNvPr id="37" name="Google Shape;37;p1">
            <a:extLst xmlns:a="http://schemas.openxmlformats.org/drawingml/2006/main">
              <a:ext uri="{FF2B5EF4-FFF2-40B4-BE49-F238E27FC236}">
                <a16:creationId xmlns:a16="http://schemas.microsoft.com/office/drawing/2014/main" id="{66AB1BAF-043B-4D7B-8522-8E391E265F3A}"/>
              </a:ext>
            </a:extLst>
          </p:cNvPr>
          <p:cNvSpPr>
            <a:spLocks xmlns:a="http://schemas.openxmlformats.org/drawingml/2006/main" noGrp="1"/>
          </p:cNvSpPr>
          <p:nvPr/>
        </p:nvSpPr>
        <p:spPr>
          <a:xfrm xmlns:a="http://schemas.openxmlformats.org/drawingml/2006/main">
            <a:off x="2646000" y="685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38" name="Google Shape;38;p1">
            <a:extLst xmlns:a="http://schemas.openxmlformats.org/drawingml/2006/main">
              <a:ext uri="{FF2B5EF4-FFF2-40B4-BE49-F238E27FC236}">
                <a16:creationId xmlns:a16="http://schemas.microsoft.com/office/drawing/2014/main" id="{B37C7A39-DCEE-416C-AE81-4173473B4189}"/>
              </a:ext>
            </a:extLst>
          </p:cNvPr>
          <p:cNvSpPr>
            <a:spLocks xmlns:a="http://schemas.openxmlformats.org/drawingml/2006/main" noGrp="1"/>
          </p:cNvSpPr>
          <p:nvPr/>
        </p:nvSpPr>
        <p:spPr>
          <a:xfrm xmlns:a="http://schemas.openxmlformats.org/drawingml/2006/main">
            <a:off x="3546000" y="7747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39" name="Google Shape;39;p1">
            <a:extLst xmlns:a="http://schemas.openxmlformats.org/drawingml/2006/main">
              <a:ext uri="{FF2B5EF4-FFF2-40B4-BE49-F238E27FC236}">
                <a16:creationId xmlns:a16="http://schemas.microsoft.com/office/drawing/2014/main" id="{FDBE097A-6106-44BA-B98E-B805C92BF28B}"/>
              </a:ext>
            </a:extLst>
          </p:cNvPr>
          <p:cNvSpPr>
            <a:spLocks xmlns:a="http://schemas.openxmlformats.org/drawingml/2006/main" noGrp="1"/>
          </p:cNvSpPr>
          <p:nvPr/>
        </p:nvSpPr>
        <p:spPr>
          <a:xfrm xmlns:a="http://schemas.openxmlformats.org/drawingml/2006/main">
            <a:off x="10994400" y="60732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0" name="Google Shape;40;p1">
            <a:extLst xmlns:a="http://schemas.openxmlformats.org/drawingml/2006/main">
              <a:ext uri="{FF2B5EF4-FFF2-40B4-BE49-F238E27FC236}">
                <a16:creationId xmlns:a16="http://schemas.microsoft.com/office/drawing/2014/main" id="{0E607BDC-5067-4C4B-84A1-361572687FB1}"/>
              </a:ext>
            </a:extLst>
          </p:cNvPr>
          <p:cNvSpPr>
            <a:spLocks xmlns:a="http://schemas.openxmlformats.org/drawingml/2006/main" noGrp="1"/>
          </p:cNvSpPr>
          <p:nvPr/>
        </p:nvSpPr>
        <p:spPr>
          <a:xfrm xmlns:a="http://schemas.openxmlformats.org/drawingml/2006/main">
            <a:off x="2646000" y="97200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41" name="Google Shape;41;p1">
            <a:extLst xmlns:a="http://schemas.openxmlformats.org/drawingml/2006/main">
              <a:ext uri="{FF2B5EF4-FFF2-40B4-BE49-F238E27FC236}">
                <a16:creationId xmlns:a16="http://schemas.microsoft.com/office/drawing/2014/main" id="{CB95EAB5-A4F2-4A3C-A58A-C207AA08BCEE}"/>
              </a:ext>
            </a:extLst>
          </p:cNvPr>
          <p:cNvSpPr>
            <a:spLocks xmlns:a="http://schemas.openxmlformats.org/drawingml/2006/main" noGrp="1"/>
          </p:cNvSpPr>
          <p:nvPr/>
        </p:nvSpPr>
        <p:spPr>
          <a:xfrm xmlns:a="http://schemas.openxmlformats.org/drawingml/2006/main">
            <a:off x="6822000" y="6040800"/>
            <a:ext cx="540000" cy="540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42" name="Google Shape;42;p1">
            <a:extLst xmlns:a="http://schemas.openxmlformats.org/drawingml/2006/main">
              <a:ext uri="{FF2B5EF4-FFF2-40B4-BE49-F238E27FC236}">
                <a16:creationId xmlns:a16="http://schemas.microsoft.com/office/drawing/2014/main" id="{BC1366C7-CA1D-4262-9CF2-6B12A042E698}"/>
              </a:ext>
            </a:extLst>
          </p:cNvPr>
          <p:cNvSpPr>
            <a:spLocks xmlns:a="http://schemas.openxmlformats.org/drawingml/2006/main" noGrp="1"/>
          </p:cNvSpPr>
          <p:nvPr/>
        </p:nvSpPr>
        <p:spPr>
          <a:xfrm xmlns:a="http://schemas.openxmlformats.org/drawingml/2006/main">
            <a:off x="12132000" y="5904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A</a:t>
            </a:r>
            <a:endParaRPr/>
          </a:p>
        </p:txBody>
      </p:sp>
      <p:sp>
        <p:nvSpPr>
          <p:cNvPr id="43" name="Google Shape;43;p1">
            <a:extLst xmlns:a="http://schemas.openxmlformats.org/drawingml/2006/main">
              <a:ext uri="{FF2B5EF4-FFF2-40B4-BE49-F238E27FC236}">
                <a16:creationId xmlns:a16="http://schemas.microsoft.com/office/drawing/2014/main" id="{ED18F867-5471-46C5-B17D-9CF83CD68F41}"/>
              </a:ext>
            </a:extLst>
          </p:cNvPr>
          <p:cNvSpPr>
            <a:spLocks xmlns:a="http://schemas.openxmlformats.org/drawingml/2006/main" noGrp="1"/>
          </p:cNvSpPr>
          <p:nvPr/>
        </p:nvSpPr>
        <p:spPr>
          <a:xfrm xmlns:a="http://schemas.openxmlformats.org/drawingml/2006/main">
            <a:off x="12960000" y="5868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Chamber</a:t>
            </a:r>
            <a:endParaRPr/>
          </a:p>
        </p:txBody>
      </p:sp>
      <p:sp>
        <p:nvSpPr>
          <p:cNvPr id="44" name="Google Shape;44;p1">
            <a:extLst xmlns:a="http://schemas.openxmlformats.org/drawingml/2006/main">
              <a:ext uri="{FF2B5EF4-FFF2-40B4-BE49-F238E27FC236}">
                <a16:creationId xmlns:a16="http://schemas.microsoft.com/office/drawing/2014/main" id="{708BFF64-617D-40A1-9712-30A1972C16BF}"/>
              </a:ext>
            </a:extLst>
          </p:cNvPr>
          <p:cNvSpPr>
            <a:spLocks xmlns:a="http://schemas.openxmlformats.org/drawingml/2006/main" noGrp="1"/>
          </p:cNvSpPr>
          <p:nvPr/>
        </p:nvSpPr>
        <p:spPr>
          <a:xfrm xmlns:a="http://schemas.openxmlformats.org/drawingml/2006/main">
            <a:off x="12960000" y="6354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One MP represents each chosen party.</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Speakers light up; adversarial roles appear in red.</a:t>
            </a:r>
            <a:endParaRPr/>
          </a:p>
        </p:txBody>
      </p:sp>
      <p:sp>
        <p:nvSpPr>
          <p:cNvPr id="45" name="Google Shape;45;p1">
            <a:extLst xmlns:a="http://schemas.openxmlformats.org/drawingml/2006/main">
              <a:ext uri="{FF2B5EF4-FFF2-40B4-BE49-F238E27FC236}">
                <a16:creationId xmlns:a16="http://schemas.microsoft.com/office/drawing/2014/main" id="{DA60D63E-4C25-455B-92A6-A14ABEBD3180}"/>
              </a:ext>
            </a:extLst>
          </p:cNvPr>
          <p:cNvSpPr>
            <a:spLocks xmlns:a="http://schemas.openxmlformats.org/drawingml/2006/main" noGrp="1"/>
          </p:cNvSpPr>
          <p:nvPr/>
        </p:nvSpPr>
        <p:spPr>
          <a:xfrm xmlns:a="http://schemas.openxmlformats.org/drawingml/2006/main">
            <a:off x="12132000" y="7236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B</a:t>
            </a:r>
            <a:endParaRPr/>
          </a:p>
        </p:txBody>
      </p:sp>
      <p:sp>
        <p:nvSpPr>
          <p:cNvPr id="46" name="Google Shape;46;p1">
            <a:extLst xmlns:a="http://schemas.openxmlformats.org/drawingml/2006/main">
              <a:ext uri="{FF2B5EF4-FFF2-40B4-BE49-F238E27FC236}">
                <a16:creationId xmlns:a16="http://schemas.microsoft.com/office/drawing/2014/main" id="{FF06CEFF-F5C1-4E18-BE03-A225432BC382}"/>
              </a:ext>
            </a:extLst>
          </p:cNvPr>
          <p:cNvSpPr>
            <a:spLocks xmlns:a="http://schemas.openxmlformats.org/drawingml/2006/main" noGrp="1"/>
          </p:cNvSpPr>
          <p:nvPr/>
        </p:nvSpPr>
        <p:spPr>
          <a:xfrm xmlns:a="http://schemas.openxmlformats.org/drawingml/2006/main">
            <a:off x="12960000" y="7200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Live Hansard</a:t>
            </a:r>
            <a:endParaRPr/>
          </a:p>
        </p:txBody>
      </p:sp>
      <p:sp>
        <p:nvSpPr>
          <p:cNvPr id="47" name="Google Shape;47;p1">
            <a:extLst xmlns:a="http://schemas.openxmlformats.org/drawingml/2006/main">
              <a:ext uri="{FF2B5EF4-FFF2-40B4-BE49-F238E27FC236}">
                <a16:creationId xmlns:a16="http://schemas.microsoft.com/office/drawing/2014/main" id="{7C92A510-3055-423D-B707-A705D813E8C2}"/>
              </a:ext>
            </a:extLst>
          </p:cNvPr>
          <p:cNvSpPr>
            <a:spLocks xmlns:a="http://schemas.openxmlformats.org/drawingml/2006/main" noGrp="1"/>
          </p:cNvSpPr>
          <p:nvPr/>
        </p:nvSpPr>
        <p:spPr>
          <a:xfrm xmlns:a="http://schemas.openxmlformats.org/drawingml/2006/main">
            <a:off x="12960000" y="7686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Speeches and interjections stream into </a:t>
            </a:r>
            <a:r>
              <a:rPr sz="2450">
                <a:solidFill>
                  <a:srgbClr val="56615B"/>
                </a:solidFill>
                <a:latin typeface="Calibri"/>
                <a:ea typeface="Calibri"/>
                <a:cs typeface="Calibri"/>
              </a:rPr>
              <a:t>the live transcript</a:t>
            </a:r>
            <a:r>
              <a:rPr sz="2450" b="0" i="0">
                <a:solidFill>
                  <a:srgbClr val="56615B"/>
                </a:solidFill>
                <a:latin typeface="Calibri"/>
                <a:ea typeface="Calibri"/>
                <a:cs typeface="Calibri"/>
              </a:rPr>
              <a:t>.</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Saved sittings can be replayed after a restart.</a:t>
            </a:r>
            <a:endParaRPr/>
          </a:p>
        </p:txBody>
      </p:sp>
      <p:sp>
        <p:nvSpPr>
          <p:cNvPr id="48" name="Google Shape;48;p1">
            <a:extLst xmlns:a="http://schemas.openxmlformats.org/drawingml/2006/main">
              <a:ext uri="{FF2B5EF4-FFF2-40B4-BE49-F238E27FC236}">
                <a16:creationId xmlns:a16="http://schemas.microsoft.com/office/drawing/2014/main" id="{6ABDA1F1-3DD8-46E2-876C-86FA6EBA727A}"/>
              </a:ext>
            </a:extLst>
          </p:cNvPr>
          <p:cNvSpPr>
            <a:spLocks xmlns:a="http://schemas.openxmlformats.org/drawingml/2006/main" noGrp="1"/>
          </p:cNvSpPr>
          <p:nvPr/>
        </p:nvSpPr>
        <p:spPr>
          <a:xfrm xmlns:a="http://schemas.openxmlformats.org/drawingml/2006/main">
            <a:off x="12132000" y="8568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C</a:t>
            </a:r>
            <a:endParaRPr/>
          </a:p>
        </p:txBody>
      </p:sp>
      <p:sp>
        <p:nvSpPr>
          <p:cNvPr id="49" name="Google Shape;49;p1">
            <a:extLst xmlns:a="http://schemas.openxmlformats.org/drawingml/2006/main">
              <a:ext uri="{FF2B5EF4-FFF2-40B4-BE49-F238E27FC236}">
                <a16:creationId xmlns:a16="http://schemas.microsoft.com/office/drawing/2014/main" id="{50AD6481-1265-43EA-A7B4-D439DAF72831}"/>
              </a:ext>
            </a:extLst>
          </p:cNvPr>
          <p:cNvSpPr>
            <a:spLocks xmlns:a="http://schemas.openxmlformats.org/drawingml/2006/main" noGrp="1"/>
          </p:cNvSpPr>
          <p:nvPr/>
        </p:nvSpPr>
        <p:spPr>
          <a:xfrm xmlns:a="http://schemas.openxmlformats.org/drawingml/2006/main">
            <a:off x="12960000" y="8532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The Speaker’s Chair</a:t>
            </a:r>
            <a:endParaRPr/>
          </a:p>
        </p:txBody>
      </p:sp>
      <p:sp>
        <p:nvSpPr>
          <p:cNvPr id="50" name="Google Shape;50;p1">
            <a:extLst xmlns:a="http://schemas.openxmlformats.org/drawingml/2006/main">
              <a:ext uri="{FF2B5EF4-FFF2-40B4-BE49-F238E27FC236}">
                <a16:creationId xmlns:a16="http://schemas.microsoft.com/office/drawing/2014/main" id="{2E52B68D-A1D5-4468-A0EC-FA97397081A7}"/>
              </a:ext>
            </a:extLst>
          </p:cNvPr>
          <p:cNvSpPr>
            <a:spLocks xmlns:a="http://schemas.openxmlformats.org/drawingml/2006/main" noGrp="1"/>
          </p:cNvSpPr>
          <p:nvPr/>
        </p:nvSpPr>
        <p:spPr>
          <a:xfrm xmlns:a="http://schemas.openxmlformats.org/drawingml/2006/main">
            <a:off x="12960000" y="9018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Chair rulings enter the shared public record</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and reach every MP before the next speech.</a:t>
            </a:r>
            <a:endParaRPr/>
          </a:p>
        </p:txBody>
      </p:sp>
      <p:sp>
        <p:nvSpPr>
          <p:cNvPr id="51" name="Google Shape;51;p1">
            <a:extLst xmlns:a="http://schemas.openxmlformats.org/drawingml/2006/main">
              <a:ext uri="{FF2B5EF4-FFF2-40B4-BE49-F238E27FC236}">
                <a16:creationId xmlns:a16="http://schemas.microsoft.com/office/drawing/2014/main" id="{A9C7B16E-B8AC-4B0F-9EF2-A19DF15FB9FC}"/>
              </a:ext>
            </a:extLst>
          </p:cNvPr>
          <p:cNvSpPr>
            <a:spLocks xmlns:a="http://schemas.openxmlformats.org/drawingml/2006/main" noGrp="1"/>
          </p:cNvSpPr>
          <p:nvPr/>
        </p:nvSpPr>
        <p:spPr>
          <a:xfrm xmlns:a="http://schemas.openxmlformats.org/drawingml/2006/main">
            <a:off x="12132000" y="9900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D</a:t>
            </a:r>
            <a:endParaRPr/>
          </a:p>
        </p:txBody>
      </p:sp>
      <p:sp>
        <p:nvSpPr>
          <p:cNvPr id="52" name="Google Shape;52;p1">
            <a:extLst xmlns:a="http://schemas.openxmlformats.org/drawingml/2006/main">
              <a:ext uri="{FF2B5EF4-FFF2-40B4-BE49-F238E27FC236}">
                <a16:creationId xmlns:a16="http://schemas.microsoft.com/office/drawing/2014/main" id="{994FB441-D09C-4F6B-94FF-CC41B48121DF}"/>
              </a:ext>
            </a:extLst>
          </p:cNvPr>
          <p:cNvSpPr>
            <a:spLocks xmlns:a="http://schemas.openxmlformats.org/drawingml/2006/main" noGrp="1"/>
          </p:cNvSpPr>
          <p:nvPr/>
        </p:nvSpPr>
        <p:spPr>
          <a:xfrm xmlns:a="http://schemas.openxmlformats.org/drawingml/2006/main">
            <a:off x="12960000" y="9864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Order Paper and Tally</a:t>
            </a:r>
            <a:endParaRPr/>
          </a:p>
        </p:txBody>
      </p:sp>
      <p:sp>
        <p:nvSpPr>
          <p:cNvPr id="53" name="Google Shape;53;p1">
            <a:extLst xmlns:a="http://schemas.openxmlformats.org/drawingml/2006/main">
              <a:ext uri="{FF2B5EF4-FFF2-40B4-BE49-F238E27FC236}">
                <a16:creationId xmlns:a16="http://schemas.microsoft.com/office/drawing/2014/main" id="{48FEFA9F-A564-4D49-9ABB-47DE76929D87}"/>
              </a:ext>
            </a:extLst>
          </p:cNvPr>
          <p:cNvSpPr>
            <a:spLocks xmlns:a="http://schemas.openxmlformats.org/drawingml/2006/main" noGrp="1"/>
          </p:cNvSpPr>
          <p:nvPr/>
        </p:nvSpPr>
        <p:spPr>
          <a:xfrm xmlns:a="http://schemas.openxmlformats.org/drawingml/2006/main">
            <a:off x="12960000" y="10350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The agenda advances through topics in order.</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Live totals track speeches, interjections and rulings.</a:t>
            </a:r>
            <a:endParaRPr/>
          </a:p>
        </p:txBody>
      </p:sp>
      <p:sp>
        <p:nvSpPr>
          <p:cNvPr id="54" name="Google Shape;54;p1">
            <a:extLst xmlns:a="http://schemas.openxmlformats.org/drawingml/2006/main">
              <a:ext uri="{FF2B5EF4-FFF2-40B4-BE49-F238E27FC236}">
                <a16:creationId xmlns:a16="http://schemas.microsoft.com/office/drawing/2014/main" id="{7F33FEC8-7727-4B79-945B-BF6EC269EAA5}"/>
              </a:ext>
            </a:extLst>
          </p:cNvPr>
          <p:cNvSpPr>
            <a:spLocks xmlns:a="http://schemas.openxmlformats.org/drawingml/2006/main" noGrp="1"/>
          </p:cNvSpPr>
          <p:nvPr/>
        </p:nvSpPr>
        <p:spPr>
          <a:xfrm xmlns:a="http://schemas.openxmlformats.org/drawingml/2006/main">
            <a:off x="12132000" y="11232000"/>
            <a:ext cx="594000" cy="594000"/>
          </a:xfrm>
          <a:prstGeom xmlns:a="http://schemas.openxmlformats.org/drawingml/2006/main" prst="ellipse">
            <a:avLst/>
          </a:prstGeom>
          <a:solidFill xmlns:a="http://schemas.openxmlformats.org/drawingml/2006/main">
            <a:srgbClr val="C9971C"/>
          </a:solidFill>
          <a:ln xmlns:a="http://schemas.openxmlformats.org/drawingml/2006/main" w="14275" cap="flat" cmpd="sng">
            <a:solidFill>
              <a:srgbClr val="FFFFFF"/>
            </a:solidFill>
            <a:prstDash val="solid"/>
            <a:round/>
            <a:headEnd type="none" w="sm" len="sm"/>
            <a:tailEnd type="none" w="sm" len="sm"/>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000"/>
              <a:buFont typeface="Cambria"/>
              <a:buNone/>
            </a:pPr>
            <a:r>
              <a:rPr sz="3000" b="1">
                <a:solidFill>
                  <a:srgbClr val="FFFFFF"/>
                </a:solidFill>
                <a:latin typeface="Cambria"/>
                <a:ea typeface="Cambria"/>
                <a:cs typeface="Cambria"/>
              </a:rPr>
              <a:t>E</a:t>
            </a:r>
            <a:endParaRPr/>
          </a:p>
        </p:txBody>
      </p:sp>
      <p:sp>
        <p:nvSpPr>
          <p:cNvPr id="55" name="Google Shape;55;p1">
            <a:extLst xmlns:a="http://schemas.openxmlformats.org/drawingml/2006/main">
              <a:ext uri="{FF2B5EF4-FFF2-40B4-BE49-F238E27FC236}">
                <a16:creationId xmlns:a16="http://schemas.microsoft.com/office/drawing/2014/main" id="{F9C8B696-4655-4647-B4EB-73A5EA1508DF}"/>
              </a:ext>
            </a:extLst>
          </p:cNvPr>
          <p:cNvSpPr>
            <a:spLocks xmlns:a="http://schemas.openxmlformats.org/drawingml/2006/main" noGrp="1"/>
          </p:cNvSpPr>
          <p:nvPr/>
        </p:nvSpPr>
        <p:spPr>
          <a:xfrm xmlns:a="http://schemas.openxmlformats.org/drawingml/2006/main">
            <a:off x="12960000" y="11196000"/>
            <a:ext cx="7987320" cy="45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800"/>
              <a:buFont typeface="Cambria"/>
              <a:buNone/>
            </a:pPr>
            <a:r>
              <a:rPr sz="2800" b="1" i="0">
                <a:solidFill>
                  <a:srgbClr val="1F2A24"/>
                </a:solidFill>
                <a:latin typeface="Cambria"/>
                <a:ea typeface="Cambria"/>
                <a:cs typeface="Cambria"/>
              </a:rPr>
              <a:t>Exports and evaluation</a:t>
            </a:r>
            <a:endParaRPr/>
          </a:p>
        </p:txBody>
      </p:sp>
      <p:sp>
        <p:nvSpPr>
          <p:cNvPr id="56" name="Google Shape;56;p1">
            <a:extLst xmlns:a="http://schemas.openxmlformats.org/drawingml/2006/main">
              <a:ext uri="{FF2B5EF4-FFF2-40B4-BE49-F238E27FC236}">
                <a16:creationId xmlns:a16="http://schemas.microsoft.com/office/drawing/2014/main" id="{DBA29A83-9B84-438F-9157-EB5D3A7A3A38}"/>
              </a:ext>
            </a:extLst>
          </p:cNvPr>
          <p:cNvSpPr>
            <a:spLocks xmlns:a="http://schemas.openxmlformats.org/drawingml/2006/main" noGrp="1"/>
          </p:cNvSpPr>
          <p:nvPr/>
        </p:nvSpPr>
        <p:spPr>
          <a:xfrm xmlns:a="http://schemas.openxmlformats.org/drawingml/2006/main">
            <a:off x="12960000" y="11682000"/>
            <a:ext cx="798732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Download public JSON or text, then run local</a:t>
            </a:r>
            <a:endParaRPr/>
          </a:p>
          <a:p xmlns:a="http://schemas.openxmlformats.org/drawingml/2006/main">
            <a:pPr marL="0" marR="0" lvl="0" indent="0" algn="l">
              <a:lnSpc>
                <a:spcPct val="108000"/>
              </a:lnSpc>
              <a:spcBef>
                <a:spcPts val="0"/>
              </a:spcBef>
              <a:spcAft>
                <a:spcPts val="0"/>
              </a:spcAft>
              <a:buClr>
                <a:srgbClr val="56615B"/>
              </a:buClr>
              <a:buSzPts val="2450"/>
              <a:buFont typeface="Calibri"/>
              <a:buNone/>
            </a:pPr>
            <a:r>
              <a:rPr sz="2450" b="0" i="0">
                <a:solidFill>
                  <a:srgbClr val="56615B"/>
                </a:solidFill>
                <a:latin typeface="Calibri"/>
                <a:ea typeface="Calibri"/>
                <a:cs typeface="Calibri"/>
              </a:rPr>
              <a:t>sentiment/stance analysis or separate rubric scores.</a:t>
            </a:r>
            <a:endParaRPr/>
          </a:p>
        </p:txBody>
      </p:sp>
      <p:sp>
        <p:nvSpPr>
          <p:cNvPr id="57" name="Google Shape;57;p1">
            <a:extLst xmlns:a="http://schemas.openxmlformats.org/drawingml/2006/main">
              <a:ext uri="{FF2B5EF4-FFF2-40B4-BE49-F238E27FC236}">
                <a16:creationId xmlns:a16="http://schemas.microsoft.com/office/drawing/2014/main" id="{3227FE5B-18D4-4B0A-B801-13184BECACFA}"/>
              </a:ext>
            </a:extLst>
          </p:cNvPr>
          <p:cNvSpPr>
            <a:spLocks xmlns:a="http://schemas.openxmlformats.org/drawingml/2006/main" noGrp="1"/>
          </p:cNvSpPr>
          <p:nvPr/>
        </p:nvSpPr>
        <p:spPr>
          <a:xfrm xmlns:a="http://schemas.openxmlformats.org/drawingml/2006/main">
            <a:off x="868680" y="11880000"/>
            <a:ext cx="11160000" cy="68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56615B"/>
              </a:buClr>
              <a:buSzPts val="2100"/>
              <a:buFont typeface="Calibri"/>
              <a:buNone/>
            </a:pPr>
            <a:r>
              <a:rPr sz="2100" b="0" i="1">
                <a:solidFill>
                  <a:srgbClr val="56615B"/>
                </a:solidFill>
                <a:latin typeface="Calibri"/>
                <a:ea typeface="Calibri"/>
                <a:cs typeface="Calibri"/>
              </a:rPr>
              <a:t>Fig. 1 </a:t>
            </a:r>
            <a:r>
              <a:rPr sz="2100" i="1">
                <a:solidFill>
                  <a:srgbClr val="56615B"/>
                </a:solidFill>
                <a:latin typeface="Calibri"/>
                <a:ea typeface="Calibri"/>
                <a:cs typeface="Calibri"/>
              </a:rPr>
              <a:t>A live sitting on the web platform: National is the straw-man disruptor.</a:t>
            </a:r>
            <a:endParaRPr sz="2100" i="1">
              <a:solidFill>
                <a:srgbClr val="56615B"/>
              </a:solidFill>
              <a:latin typeface="Calibri"/>
              <a:ea typeface="Calibri"/>
              <a:cs typeface="Calibri"/>
            </a:endParaRPr>
          </a:p>
          <a:p xmlns:a="http://schemas.openxmlformats.org/drawingml/2006/main">
            <a:pPr marL="0" marR="0" lvl="0" indent="0" algn="l">
              <a:lnSpc>
                <a:spcPct val="108000"/>
              </a:lnSpc>
              <a:spcBef>
                <a:spcPts val="0"/>
              </a:spcBef>
              <a:spcAft>
                <a:spcPts val="0"/>
              </a:spcAft>
              <a:buClr>
                <a:srgbClr val="56615B"/>
              </a:buClr>
              <a:buSzPts val="2100"/>
              <a:buFont typeface="Calibri"/>
              <a:buNone/>
            </a:pPr>
            <a:r>
              <a:rPr sz="2100" b="0" i="1">
                <a:solidFill>
                  <a:srgbClr val="56615B"/>
                </a:solidFill>
                <a:latin typeface="Calibri"/>
                <a:ea typeface="Calibri"/>
                <a:cs typeface="Calibri"/>
              </a:rPr>
              <a:t>Browser, guided CLI and commands share one backend.</a:t>
            </a:r>
            <a:endParaRPr/>
          </a:p>
        </p:txBody>
      </p:sp>
      <p:sp>
        <p:nvSpPr>
          <p:cNvPr id="58" name="Google Shape;58;p1">
            <a:extLst xmlns:a="http://schemas.openxmlformats.org/drawingml/2006/main">
              <a:ext uri="{FF2B5EF4-FFF2-40B4-BE49-F238E27FC236}">
                <a16:creationId xmlns:a16="http://schemas.microsoft.com/office/drawing/2014/main" id="{64596FB9-2B99-4FEA-841E-BF34E635110E}"/>
              </a:ext>
            </a:extLst>
          </p:cNvPr>
          <p:cNvSpPr>
            <a:spLocks xmlns:a="http://schemas.openxmlformats.org/drawingml/2006/main" noGrp="1"/>
          </p:cNvSpPr>
          <p:nvPr/>
        </p:nvSpPr>
        <p:spPr>
          <a:xfrm xmlns:a="http://schemas.openxmlformats.org/drawingml/2006/main">
            <a:off x="868680" y="12816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2</a:t>
            </a:r>
            <a:endParaRPr/>
          </a:p>
        </p:txBody>
      </p:sp>
      <p:sp>
        <p:nvSpPr>
          <p:cNvPr id="59" name="Google Shape;59;p1">
            <a:extLst xmlns:a="http://schemas.openxmlformats.org/drawingml/2006/main">
              <a:ext uri="{FF2B5EF4-FFF2-40B4-BE49-F238E27FC236}">
                <a16:creationId xmlns:a16="http://schemas.microsoft.com/office/drawing/2014/main" id="{01E4B75C-72A4-430D-A1B1-28E24143009E}"/>
              </a:ext>
            </a:extLst>
          </p:cNvPr>
          <p:cNvSpPr>
            <a:spLocks xmlns:a="http://schemas.openxmlformats.org/drawingml/2006/main" noGrp="1"/>
          </p:cNvSpPr>
          <p:nvPr/>
        </p:nvSpPr>
        <p:spPr>
          <a:xfrm xmlns:a="http://schemas.openxmlformats.org/drawingml/2006/main">
            <a:off x="1836000" y="12762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Cooperative and adversarial agents</a:t>
            </a:r>
            <a:endParaRPr/>
          </a:p>
        </p:txBody>
      </p:sp>
      <p:sp>
        <p:nvSpPr>
          <p:cNvPr id="24" name="Google Shape;24;p1">
            <a:extLst xmlns:a="http://schemas.openxmlformats.org/drawingml/2006/main">
              <a:ext uri="{FF2B5EF4-FFF2-40B4-BE49-F238E27FC236}">
                <a16:creationId xmlns:a16="http://schemas.microsoft.com/office/drawing/2014/main" id="{20570F24-2BA0-49EB-99B5-9B235B094388}"/>
              </a:ext>
            </a:extLst>
          </p:cNvPr>
          <p:cNvSpPr>
            <a:spLocks xmlns:a="http://schemas.openxmlformats.org/drawingml/2006/main" noGrp="1"/>
          </p:cNvSpPr>
          <p:nvPr/>
        </p:nvSpPr>
        <p:spPr>
          <a:xfrm xmlns:a="http://schemas.openxmlformats.org/drawingml/2006/main">
            <a:off x="868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0" name="Google Shape;60;p1">
            <a:extLst xmlns:a="http://schemas.openxmlformats.org/drawingml/2006/main">
              <a:ext uri="{FF2B5EF4-FFF2-40B4-BE49-F238E27FC236}">
                <a16:creationId xmlns:a16="http://schemas.microsoft.com/office/drawing/2014/main" id="{DB80A377-5BEE-4C34-BD47-A4DDF9244B96}"/>
              </a:ext>
            </a:extLst>
          </p:cNvPr>
          <p:cNvSpPr>
            <a:spLocks xmlns:a="http://schemas.openxmlformats.org/drawingml/2006/main" noGrp="1"/>
          </p:cNvSpPr>
          <p:nvPr/>
        </p:nvSpPr>
        <p:spPr>
          <a:xfrm xmlns:a="http://schemas.openxmlformats.org/drawingml/2006/main">
            <a:off x="976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Real Hansard</a:t>
            </a:r>
            <a:endParaRPr/>
          </a:p>
        </p:txBody>
      </p:sp>
      <p:sp>
        <p:nvSpPr>
          <p:cNvPr id="61" name="Google Shape;61;p1">
            <a:extLst xmlns:a="http://schemas.openxmlformats.org/drawingml/2006/main">
              <a:ext uri="{FF2B5EF4-FFF2-40B4-BE49-F238E27FC236}">
                <a16:creationId xmlns:a16="http://schemas.microsoft.com/office/drawing/2014/main" id="{EECE1AC7-8A83-45F3-95CD-58AF3EF5ABA9}"/>
              </a:ext>
            </a:extLst>
          </p:cNvPr>
          <p:cNvSpPr>
            <a:spLocks xmlns:a="http://schemas.openxmlformats.org/drawingml/2006/main" noGrp="1"/>
          </p:cNvSpPr>
          <p:nvPr/>
        </p:nvSpPr>
        <p:spPr>
          <a:xfrm xmlns:a="http://schemas.openxmlformats.org/drawingml/2006/main">
            <a:off x="994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500 reviewed excerpts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0/10/100 per party</a:t>
            </a:r>
            <a:endParaRPr/>
          </a:p>
        </p:txBody>
      </p:sp>
      <p:sp>
        <p:nvSpPr>
          <p:cNvPr id="22" name="Google Shape;22;p1">
            <a:extLst xmlns:a="http://schemas.openxmlformats.org/drawingml/2006/main">
              <a:ext uri="{FF2B5EF4-FFF2-40B4-BE49-F238E27FC236}">
                <a16:creationId xmlns:a16="http://schemas.microsoft.com/office/drawing/2014/main" id="{F615BE4A-BABD-4AD1-A2B9-DCE07CA2CD99}"/>
              </a:ext>
            </a:extLst>
          </p:cNvPr>
          <p:cNvSpPr>
            <a:spLocks xmlns:a="http://schemas.openxmlformats.org/drawingml/2006/main" noGrp="1"/>
          </p:cNvSpPr>
          <p:nvPr/>
        </p:nvSpPr>
        <p:spPr>
          <a:xfrm xmlns:a="http://schemas.openxmlformats.org/drawingml/2006/main">
            <a:off x="4990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2" name="Google Shape;62;p1">
            <a:extLst xmlns:a="http://schemas.openxmlformats.org/drawingml/2006/main">
              <a:ext uri="{FF2B5EF4-FFF2-40B4-BE49-F238E27FC236}">
                <a16:creationId xmlns:a16="http://schemas.microsoft.com/office/drawing/2014/main" id="{55A8F18D-3049-426B-A8AF-4C88AD812E5F}"/>
              </a:ext>
            </a:extLst>
          </p:cNvPr>
          <p:cNvSpPr>
            <a:spLocks xmlns:a="http://schemas.openxmlformats.org/drawingml/2006/main" noGrp="1"/>
          </p:cNvSpPr>
          <p:nvPr/>
        </p:nvSpPr>
        <p:spPr>
          <a:xfrm xmlns:a="http://schemas.openxmlformats.org/drawingml/2006/main">
            <a:off x="5098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Private setup</a:t>
            </a:r>
            <a:endParaRPr/>
          </a:p>
        </p:txBody>
      </p:sp>
      <p:sp>
        <p:nvSpPr>
          <p:cNvPr id="63" name="Google Shape;63;p1">
            <a:extLst xmlns:a="http://schemas.openxmlformats.org/drawingml/2006/main">
              <a:ext uri="{FF2B5EF4-FFF2-40B4-BE49-F238E27FC236}">
                <a16:creationId xmlns:a16="http://schemas.microsoft.com/office/drawing/2014/main" id="{E38D1C79-D5BC-4628-8238-09FCD05E7F08}"/>
              </a:ext>
            </a:extLst>
          </p:cNvPr>
          <p:cNvSpPr>
            <a:spLocks xmlns:a="http://schemas.openxmlformats.org/drawingml/2006/main" noGrp="1"/>
          </p:cNvSpPr>
          <p:nvPr/>
        </p:nvSpPr>
        <p:spPr>
          <a:xfrm xmlns:a="http://schemas.openxmlformats.org/drawingml/2006/main">
            <a:off x="5116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Frozen prompts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hidden tactics</a:t>
            </a:r>
            <a:endParaRPr/>
          </a:p>
        </p:txBody>
      </p:sp>
      <p:sp>
        <p:nvSpPr>
          <p:cNvPr id="20" name="Google Shape;20;p1">
            <a:extLst xmlns:a="http://schemas.openxmlformats.org/drawingml/2006/main">
              <a:ext uri="{FF2B5EF4-FFF2-40B4-BE49-F238E27FC236}">
                <a16:creationId xmlns:a16="http://schemas.microsoft.com/office/drawing/2014/main" id="{7CA790BD-C2E8-47DA-B859-907E58EC3C17}"/>
              </a:ext>
            </a:extLst>
          </p:cNvPr>
          <p:cNvSpPr>
            <a:spLocks xmlns:a="http://schemas.openxmlformats.org/drawingml/2006/main" noGrp="1"/>
          </p:cNvSpPr>
          <p:nvPr/>
        </p:nvSpPr>
        <p:spPr>
          <a:xfrm xmlns:a="http://schemas.openxmlformats.org/drawingml/2006/main">
            <a:off x="9112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A92F24"/>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4" name="Google Shape;64;p1">
            <a:extLst xmlns:a="http://schemas.openxmlformats.org/drawingml/2006/main">
              <a:ext uri="{FF2B5EF4-FFF2-40B4-BE49-F238E27FC236}">
                <a16:creationId xmlns:a16="http://schemas.microsoft.com/office/drawing/2014/main" id="{6AC7D18F-9E47-4548-BB01-1BA19CC288BA}"/>
              </a:ext>
            </a:extLst>
          </p:cNvPr>
          <p:cNvSpPr>
            <a:spLocks xmlns:a="http://schemas.openxmlformats.org/drawingml/2006/main" noGrp="1"/>
          </p:cNvSpPr>
          <p:nvPr/>
        </p:nvSpPr>
        <p:spPr>
          <a:xfrm xmlns:a="http://schemas.openxmlformats.org/drawingml/2006/main">
            <a:off x="9220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MP agents</a:t>
            </a:r>
            <a:endParaRPr/>
          </a:p>
        </p:txBody>
      </p:sp>
      <p:sp>
        <p:nvSpPr>
          <p:cNvPr id="65" name="Google Shape;65;p1">
            <a:extLst xmlns:a="http://schemas.openxmlformats.org/drawingml/2006/main">
              <a:ext uri="{FF2B5EF4-FFF2-40B4-BE49-F238E27FC236}">
                <a16:creationId xmlns:a16="http://schemas.microsoft.com/office/drawing/2014/main" id="{41C1FDE7-792C-4EDC-BDB9-6D3D5705DFD5}"/>
              </a:ext>
            </a:extLst>
          </p:cNvPr>
          <p:cNvSpPr>
            <a:spLocks xmlns:a="http://schemas.openxmlformats.org/drawingml/2006/main" noGrp="1"/>
          </p:cNvSpPr>
          <p:nvPr/>
        </p:nvSpPr>
        <p:spPr>
          <a:xfrm xmlns:a="http://schemas.openxmlformats.org/drawingml/2006/main">
            <a:off x="9238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Party personas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on cloud or local LLMs</a:t>
            </a:r>
            <a:endParaRPr/>
          </a:p>
        </p:txBody>
      </p:sp>
      <p:sp>
        <p:nvSpPr>
          <p:cNvPr id="17" name="Google Shape;17;p1">
            <a:extLst xmlns:a="http://schemas.openxmlformats.org/drawingml/2006/main">
              <a:ext uri="{FF2B5EF4-FFF2-40B4-BE49-F238E27FC236}">
                <a16:creationId xmlns:a16="http://schemas.microsoft.com/office/drawing/2014/main" id="{260DFC26-F631-491E-8DBE-1C1AF5D8A392}"/>
              </a:ext>
            </a:extLst>
          </p:cNvPr>
          <p:cNvSpPr>
            <a:spLocks xmlns:a="http://schemas.openxmlformats.org/drawingml/2006/main" noGrp="1"/>
          </p:cNvSpPr>
          <p:nvPr/>
        </p:nvSpPr>
        <p:spPr>
          <a:xfrm xmlns:a="http://schemas.openxmlformats.org/drawingml/2006/main">
            <a:off x="13234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6" name="Google Shape;66;p1">
            <a:extLst xmlns:a="http://schemas.openxmlformats.org/drawingml/2006/main">
              <a:ext uri="{FF2B5EF4-FFF2-40B4-BE49-F238E27FC236}">
                <a16:creationId xmlns:a16="http://schemas.microsoft.com/office/drawing/2014/main" id="{AF9C6A7D-71B2-48C2-A32B-EF3BA9C0B2EF}"/>
              </a:ext>
            </a:extLst>
          </p:cNvPr>
          <p:cNvSpPr>
            <a:spLocks xmlns:a="http://schemas.openxmlformats.org/drawingml/2006/main" noGrp="1"/>
          </p:cNvSpPr>
          <p:nvPr/>
        </p:nvSpPr>
        <p:spPr>
          <a:xfrm xmlns:a="http://schemas.openxmlformats.org/drawingml/2006/main">
            <a:off x="13342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Debate engine</a:t>
            </a:r>
            <a:endParaRPr/>
          </a:p>
        </p:txBody>
      </p:sp>
      <p:sp>
        <p:nvSpPr>
          <p:cNvPr id="67" name="Google Shape;67;p1">
            <a:extLst xmlns:a="http://schemas.openxmlformats.org/drawingml/2006/main">
              <a:ext uri="{FF2B5EF4-FFF2-40B4-BE49-F238E27FC236}">
                <a16:creationId xmlns:a16="http://schemas.microsoft.com/office/drawing/2014/main" id="{4AB49B1B-F9FC-4E83-9948-96F11C29B0AE}"/>
              </a:ext>
            </a:extLst>
          </p:cNvPr>
          <p:cNvSpPr>
            <a:spLocks xmlns:a="http://schemas.openxmlformats.org/drawingml/2006/main" noGrp="1"/>
          </p:cNvSpPr>
          <p:nvPr/>
        </p:nvSpPr>
        <p:spPr>
          <a:xfrm xmlns:a="http://schemas.openxmlformats.org/drawingml/2006/main">
            <a:off x="13360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Scheduled turns</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chat requests</a:t>
            </a:r>
            <a:endParaRPr/>
          </a:p>
        </p:txBody>
      </p:sp>
      <p:sp>
        <p:nvSpPr>
          <p:cNvPr id="18" name="Google Shape;18;p1">
            <a:extLst xmlns:a="http://schemas.openxmlformats.org/drawingml/2006/main">
              <a:ext uri="{FF2B5EF4-FFF2-40B4-BE49-F238E27FC236}">
                <a16:creationId xmlns:a16="http://schemas.microsoft.com/office/drawing/2014/main" id="{2031980C-B3BC-4969-B26B-B18AC2048936}"/>
              </a:ext>
            </a:extLst>
          </p:cNvPr>
          <p:cNvSpPr>
            <a:spLocks xmlns:a="http://schemas.openxmlformats.org/drawingml/2006/main" noGrp="1"/>
          </p:cNvSpPr>
          <p:nvPr/>
        </p:nvSpPr>
        <p:spPr>
          <a:xfrm xmlns:a="http://schemas.openxmlformats.org/drawingml/2006/main">
            <a:off x="17356680" y="15048000"/>
            <a:ext cx="3590640" cy="1404000"/>
          </a:xfrm>
          <a:prstGeom xmlns:a="http://schemas.openxmlformats.org/drawingml/2006/main" prst="rect">
            <a:avLst/>
          </a:prstGeom>
          <a:solidFill xmlns:a="http://schemas.openxmlformats.org/drawingml/2006/main">
            <a:srgbClr val="FFFDF8"/>
          </a:solidFill>
          <a:ln xmlns:a="http://schemas.openxmlformats.org/drawingml/2006/main" w="14275" cap="flat" cmpd="sng">
            <a:solidFill>
              <a:srgbClr val="D6D0C2"/>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68" name="Google Shape;68;p1">
            <a:extLst xmlns:a="http://schemas.openxmlformats.org/drawingml/2006/main">
              <a:ext uri="{FF2B5EF4-FFF2-40B4-BE49-F238E27FC236}">
                <a16:creationId xmlns:a16="http://schemas.microsoft.com/office/drawing/2014/main" id="{41E4B238-76B0-4799-A483-D62A0B9D1AF1}"/>
              </a:ext>
            </a:extLst>
          </p:cNvPr>
          <p:cNvSpPr>
            <a:spLocks xmlns:a="http://schemas.openxmlformats.org/drawingml/2006/main" noGrp="1"/>
          </p:cNvSpPr>
          <p:nvPr/>
        </p:nvSpPr>
        <p:spPr>
          <a:xfrm xmlns:a="http://schemas.openxmlformats.org/drawingml/2006/main">
            <a:off x="17464680" y="15156000"/>
            <a:ext cx="3374640" cy="39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700" b="1" i="0">
                <a:solidFill>
                  <a:srgbClr val="1F4D36"/>
                </a:solidFill>
                <a:latin typeface="Cambria"/>
                <a:ea typeface="Cambria"/>
                <a:cs typeface="Cambria"/>
              </a:defRPr>
            </a:defPPr>
          </a:lstStyle>
          <a:p xmlns:a="http://schemas.openxmlformats.org/drawingml/2006/main">
            <a:pPr marL="0" marR="0" lvl="0" indent="0" algn="ctr">
              <a:lnSpc>
                <a:spcPct val="108000"/>
              </a:lnSpc>
              <a:spcBef>
                <a:spcPts val="0"/>
              </a:spcBef>
              <a:spcAft>
                <a:spcPts val="0"/>
              </a:spcAft>
              <a:buClr>
                <a:srgbClr val="1F4D36"/>
              </a:buClr>
              <a:buSzPts val="2900"/>
              <a:buFont typeface="Cambria"/>
              <a:buNone/>
              <a:defRPr sz="2700" b="1" i="0">
                <a:solidFill>
                  <a:srgbClr val="1F4D36"/>
                </a:solidFill>
                <a:latin typeface="Cambria"/>
                <a:ea typeface="Cambria"/>
                <a:cs typeface="Cambria"/>
              </a:defRPr>
            </a:pPr>
            <a:r>
              <a:rPr sz="2700" b="1" i="0">
                <a:solidFill>
                  <a:srgbClr val="1F4D36"/>
                </a:solidFill>
                <a:latin typeface="Cambria"/>
                <a:ea typeface="Cambria"/>
                <a:cs typeface="Cambria"/>
              </a:rPr>
              <a:t>Saved evidence</a:t>
            </a:r>
            <a:endParaRPr/>
          </a:p>
        </p:txBody>
      </p:sp>
      <p:sp>
        <p:nvSpPr>
          <p:cNvPr id="69" name="Google Shape;69;p1">
            <a:extLst xmlns:a="http://schemas.openxmlformats.org/drawingml/2006/main">
              <a:ext uri="{FF2B5EF4-FFF2-40B4-BE49-F238E27FC236}">
                <a16:creationId xmlns:a16="http://schemas.microsoft.com/office/drawing/2014/main" id="{B33CE1A8-E989-4B76-BE9A-B8ED4AE57BD9}"/>
              </a:ext>
            </a:extLst>
          </p:cNvPr>
          <p:cNvSpPr>
            <a:spLocks xmlns:a="http://schemas.openxmlformats.org/drawingml/2006/main" noGrp="1"/>
          </p:cNvSpPr>
          <p:nvPr/>
        </p:nvSpPr>
        <p:spPr>
          <a:xfrm xmlns:a="http://schemas.openxmlformats.org/drawingml/2006/main">
            <a:off x="17482680" y="15606000"/>
            <a:ext cx="333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ctr">
              <a:defRPr sz="2250" b="0" i="0">
                <a:solidFill>
                  <a:srgbClr val="56615B"/>
                </a:solidFill>
                <a:latin typeface="Calibri"/>
                <a:ea typeface="Calibri"/>
                <a:cs typeface="Calibri"/>
              </a:defRPr>
            </a:defPPr>
          </a:lstStyle>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Public transcript</a:t>
            </a:r>
            <a:endParaRPr/>
          </a:p>
          <a:p xmlns:a="http://schemas.openxmlformats.org/drawingml/2006/main">
            <a:pPr marL="0" marR="0" lvl="0" indent="0" algn="ctr">
              <a:lnSpc>
                <a:spcPct val="102000"/>
              </a:lnSpc>
              <a:spcBef>
                <a:spcPts val="0"/>
              </a:spcBef>
              <a:spcAft>
                <a:spcPts val="0"/>
              </a:spcAft>
              <a:buClr>
                <a:srgbClr val="56615B"/>
              </a:buClr>
              <a:buSzPts val="2250"/>
              <a:buFont typeface="Calibri"/>
              <a:buNone/>
              <a:defRPr sz="2250" b="0" i="0">
                <a:solidFill>
                  <a:srgbClr val="56615B"/>
                </a:solidFill>
                <a:latin typeface="Calibri"/>
                <a:ea typeface="Calibri"/>
                <a:cs typeface="Calibri"/>
              </a:defRPr>
            </a:pPr>
            <a:r>
              <a:rPr sz="2250" b="0" i="0">
                <a:solidFill>
                  <a:srgbClr val="56615B"/>
                </a:solidFill>
                <a:latin typeface="Calibri"/>
                <a:ea typeface="Calibri"/>
                <a:cs typeface="Calibri"/>
              </a:rPr>
              <a:t>and separate reports</a:t>
            </a:r>
            <a:endParaRPr/>
          </a:p>
        </p:txBody>
      </p:sp>
      <p:sp>
        <p:nvSpPr>
          <p:cNvPr id="70" name="Google Shape;70;p1">
            <a:extLst xmlns:a="http://schemas.openxmlformats.org/drawingml/2006/main">
              <a:ext uri="{FF2B5EF4-FFF2-40B4-BE49-F238E27FC236}">
                <a16:creationId xmlns:a16="http://schemas.microsoft.com/office/drawing/2014/main" id="{853C86DA-AE97-4A9B-A45D-F080C90C5D35}"/>
              </a:ext>
            </a:extLst>
          </p:cNvPr>
          <p:cNvSpPr>
            <a:spLocks xmlns:a="http://schemas.openxmlformats.org/drawingml/2006/main" noGrp="1"/>
          </p:cNvSpPr>
          <p:nvPr/>
        </p:nvSpPr>
        <p:spPr>
          <a:xfrm xmlns:a="http://schemas.openxmlformats.org/drawingml/2006/main">
            <a:off x="86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Topic derailment</a:t>
            </a:r>
            <a:endParaRPr/>
          </a:p>
        </p:txBody>
      </p:sp>
      <p:sp>
        <p:nvSpPr>
          <p:cNvPr id="71" name="Google Shape;71;p1">
            <a:extLst xmlns:a="http://schemas.openxmlformats.org/drawingml/2006/main">
              <a:ext uri="{FF2B5EF4-FFF2-40B4-BE49-F238E27FC236}">
                <a16:creationId xmlns:a16="http://schemas.microsoft.com/office/drawing/2014/main" id="{3AB29414-DC8B-4A6A-8B7C-EAB4AB7283ED}"/>
              </a:ext>
            </a:extLst>
          </p:cNvPr>
          <p:cNvSpPr>
            <a:spLocks xmlns:a="http://schemas.openxmlformats.org/drawingml/2006/main" noGrp="1"/>
          </p:cNvSpPr>
          <p:nvPr/>
        </p:nvSpPr>
        <p:spPr>
          <a:xfrm xmlns:a="http://schemas.openxmlformats.org/drawingml/2006/main">
            <a:off x="86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Steer discussion away from the</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agenda without acknowledging it.</a:t>
            </a:r>
            <a:endParaRPr/>
          </a:p>
        </p:txBody>
      </p:sp>
      <p:sp>
        <p:nvSpPr>
          <p:cNvPr id="72" name="Google Shape;72;p1">
            <a:extLst xmlns:a="http://schemas.openxmlformats.org/drawingml/2006/main">
              <a:ext uri="{FF2B5EF4-FFF2-40B4-BE49-F238E27FC236}">
                <a16:creationId xmlns:a16="http://schemas.microsoft.com/office/drawing/2014/main" id="{A36EF102-BE44-4D3D-A6E2-08C5723E8031}"/>
              </a:ext>
            </a:extLst>
          </p:cNvPr>
          <p:cNvSpPr>
            <a:spLocks xmlns:a="http://schemas.openxmlformats.org/drawingml/2006/main" noGrp="1"/>
          </p:cNvSpPr>
          <p:nvPr/>
        </p:nvSpPr>
        <p:spPr>
          <a:xfrm xmlns:a="http://schemas.openxmlformats.org/drawingml/2006/main">
            <a:off x="770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Straw man</a:t>
            </a:r>
            <a:endParaRPr/>
          </a:p>
        </p:txBody>
      </p:sp>
      <p:sp>
        <p:nvSpPr>
          <p:cNvPr id="73" name="Google Shape;73;p1">
            <a:extLst xmlns:a="http://schemas.openxmlformats.org/drawingml/2006/main">
              <a:ext uri="{FF2B5EF4-FFF2-40B4-BE49-F238E27FC236}">
                <a16:creationId xmlns:a16="http://schemas.microsoft.com/office/drawing/2014/main" id="{61146CC5-A421-4EEC-9A13-B1EEC8BA277A}"/>
              </a:ext>
            </a:extLst>
          </p:cNvPr>
          <p:cNvSpPr>
            <a:spLocks xmlns:a="http://schemas.openxmlformats.org/drawingml/2006/main" noGrp="1"/>
          </p:cNvSpPr>
          <p:nvPr/>
        </p:nvSpPr>
        <p:spPr>
          <a:xfrm xmlns:a="http://schemas.openxmlformats.org/drawingml/2006/main">
            <a:off x="770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3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Misrepresent an opponent's claim,</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defRPr sz="2350" b="0" i="0">
                <a:solidFill>
                  <a:srgbClr val="1F2A24"/>
                </a:solidFill>
                <a:latin typeface="Calibri"/>
                <a:ea typeface="Calibri"/>
                <a:cs typeface="Calibri"/>
              </a:defRPr>
            </a:pPr>
            <a:r>
              <a:rPr sz="2350" b="0" i="0">
                <a:solidFill>
                  <a:srgbClr val="1F2A24"/>
                </a:solidFill>
                <a:latin typeface="Calibri"/>
                <a:ea typeface="Calibri"/>
                <a:cs typeface="Calibri"/>
              </a:rPr>
              <a:t>then attack the distorted version.</a:t>
            </a:r>
            <a:endParaRPr/>
          </a:p>
        </p:txBody>
      </p:sp>
      <p:sp>
        <p:nvSpPr>
          <p:cNvPr id="74" name="Google Shape;74;p1">
            <a:extLst xmlns:a="http://schemas.openxmlformats.org/drawingml/2006/main">
              <a:ext uri="{FF2B5EF4-FFF2-40B4-BE49-F238E27FC236}">
                <a16:creationId xmlns:a16="http://schemas.microsoft.com/office/drawing/2014/main" id="{41988586-520B-4630-876E-60112230CBC7}"/>
              </a:ext>
            </a:extLst>
          </p:cNvPr>
          <p:cNvSpPr>
            <a:spLocks xmlns:a="http://schemas.openxmlformats.org/drawingml/2006/main" noGrp="1"/>
          </p:cNvSpPr>
          <p:nvPr/>
        </p:nvSpPr>
        <p:spPr>
          <a:xfrm xmlns:a="http://schemas.openxmlformats.org/drawingml/2006/main">
            <a:off x="14548680" y="16668000"/>
            <a:ext cx="6398640" cy="43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A92F24"/>
              </a:buClr>
              <a:buSzPts val="2700"/>
              <a:buFont typeface="Cambria"/>
              <a:buNone/>
            </a:pPr>
            <a:r>
              <a:rPr sz="2700" b="1" i="0">
                <a:solidFill>
                  <a:srgbClr val="A92F24"/>
                </a:solidFill>
                <a:latin typeface="Cambria"/>
                <a:ea typeface="Cambria"/>
                <a:cs typeface="Cambria"/>
              </a:rPr>
              <a:t>Procedural manipulation</a:t>
            </a:r>
            <a:endParaRPr/>
          </a:p>
        </p:txBody>
      </p:sp>
      <p:sp>
        <p:nvSpPr>
          <p:cNvPr id="75" name="Google Shape;75;p1">
            <a:extLst xmlns:a="http://schemas.openxmlformats.org/drawingml/2006/main">
              <a:ext uri="{FF2B5EF4-FFF2-40B4-BE49-F238E27FC236}">
                <a16:creationId xmlns:a16="http://schemas.microsoft.com/office/drawing/2014/main" id="{341EB3DB-6EEB-4EC7-959C-D85BFD298860}"/>
              </a:ext>
            </a:extLst>
          </p:cNvPr>
          <p:cNvSpPr>
            <a:spLocks xmlns:a="http://schemas.openxmlformats.org/drawingml/2006/main" noGrp="1"/>
          </p:cNvSpPr>
          <p:nvPr/>
        </p:nvSpPr>
        <p:spPr>
          <a:xfrm xmlns:a="http://schemas.openxmlformats.org/drawingml/2006/main">
            <a:off x="14548680" y="17208000"/>
            <a:ext cx="639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Exploit rules or points of order</a:t>
            </a:r>
            <a:endParaRPr/>
          </a:p>
          <a:p xmlns:a="http://schemas.openxmlformats.org/drawingml/2006/main">
            <a:pPr marL="0" marR="0" lvl="0" indent="0" algn="l">
              <a:lnSpc>
                <a:spcPct val="108000"/>
              </a:lnSpc>
              <a:spcBef>
                <a:spcPts val="0"/>
              </a:spcBef>
              <a:spcAft>
                <a:spcPts val="0"/>
              </a:spcAft>
              <a:buClr>
                <a:srgbClr val="1F2A24"/>
              </a:buClr>
              <a:buSzPts val="2350"/>
              <a:buFont typeface="Calibri"/>
              <a:buNone/>
            </a:pPr>
            <a:r>
              <a:rPr sz="2350" b="0" i="0">
                <a:solidFill>
                  <a:srgbClr val="1F2A24"/>
                </a:solidFill>
                <a:latin typeface="Calibri"/>
                <a:ea typeface="Calibri"/>
                <a:cs typeface="Calibri"/>
              </a:rPr>
              <a:t>to obstruct substantive debate.</a:t>
            </a:r>
            <a:endParaRPr/>
          </a:p>
        </p:txBody>
      </p:sp>
      <p:sp>
        <p:nvSpPr>
          <p:cNvPr id="77" name="Google Shape;77;p1">
            <a:extLst xmlns:a="http://schemas.openxmlformats.org/drawingml/2006/main">
              <a:ext uri="{FF2B5EF4-FFF2-40B4-BE49-F238E27FC236}">
                <a16:creationId xmlns:a16="http://schemas.microsoft.com/office/drawing/2014/main" id="{4D590442-AC21-404C-A9B7-5EE327241C41}"/>
              </a:ext>
            </a:extLst>
          </p:cNvPr>
          <p:cNvSpPr>
            <a:spLocks xmlns:a="http://schemas.openxmlformats.org/drawingml/2006/main" noGrp="1"/>
          </p:cNvSpPr>
          <p:nvPr/>
        </p:nvSpPr>
        <p:spPr>
          <a:xfrm xmlns:a="http://schemas.openxmlformats.org/drawingml/2006/main">
            <a:off x="868680" y="1807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3</a:t>
            </a:r>
            <a:endParaRPr/>
          </a:p>
        </p:txBody>
      </p:sp>
      <p:sp>
        <p:nvSpPr>
          <p:cNvPr id="78" name="Google Shape;78;p1">
            <a:extLst xmlns:a="http://schemas.openxmlformats.org/drawingml/2006/main">
              <a:ext uri="{FF2B5EF4-FFF2-40B4-BE49-F238E27FC236}">
                <a16:creationId xmlns:a16="http://schemas.microsoft.com/office/drawing/2014/main" id="{82350632-7D6B-49F3-BEA9-9A773F323DEA}"/>
              </a:ext>
            </a:extLst>
          </p:cNvPr>
          <p:cNvSpPr>
            <a:spLocks xmlns:a="http://schemas.openxmlformats.org/drawingml/2006/main" noGrp="1"/>
          </p:cNvSpPr>
          <p:nvPr/>
        </p:nvSpPr>
        <p:spPr>
          <a:xfrm xmlns:a="http://schemas.openxmlformats.org/drawingml/2006/main">
            <a:off x="1836000" y="1801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5300" b="1" i="0">
                <a:solidFill>
                  <a:srgbClr val="1F4D36"/>
                </a:solidFill>
                <a:latin typeface="Cambria"/>
                <a:ea typeface="Cambria"/>
                <a:cs typeface="Cambria"/>
              </a:defRPr>
            </a:defPPr>
          </a:lstStyle>
          <a:p xmlns:a="http://schemas.openxmlformats.org/drawingml/2006/main">
            <a:pPr marL="0" marR="0" lvl="0" indent="0" algn="l">
              <a:lnSpc>
                <a:spcPct val="108000"/>
              </a:lnSpc>
              <a:spcBef>
                <a:spcPts val="0"/>
              </a:spcBef>
              <a:spcAft>
                <a:spcPts val="0"/>
              </a:spcAft>
              <a:buClr>
                <a:srgbClr val="1F4D36"/>
              </a:buClr>
              <a:buSzPts val="5300"/>
              <a:buFont typeface="Cambria"/>
              <a:buNone/>
              <a:defRPr sz="5300" b="1" i="0">
                <a:solidFill>
                  <a:srgbClr val="1F4D36"/>
                </a:solidFill>
                <a:latin typeface="Cambria"/>
                <a:ea typeface="Cambria"/>
                <a:cs typeface="Cambria"/>
              </a:defRPr>
            </a:pPr>
            <a:r>
              <a:rPr sz="5300" b="1" i="0">
                <a:solidFill>
                  <a:srgbClr val="1F4D36"/>
                </a:solidFill>
                <a:latin typeface="Cambria"/>
                <a:ea typeface="Cambria"/>
                <a:cs typeface="Cambria"/>
              </a:rPr>
              <a:t>Grounding and adversarial testing</a:t>
            </a:r>
            <a:endParaRPr/>
          </a:p>
        </p:txBody>
      </p:sp>
      <p:sp>
        <p:nvSpPr>
          <p:cNvPr id="79" name="Google Shape;79;p1">
            <a:extLst xmlns:a="http://schemas.openxmlformats.org/drawingml/2006/main">
              <a:ext uri="{FF2B5EF4-FFF2-40B4-BE49-F238E27FC236}">
                <a16:creationId xmlns:a16="http://schemas.microsoft.com/office/drawing/2014/main" id="{FF439B69-EDD7-4F29-9308-C2CD122F0A4E}"/>
              </a:ext>
            </a:extLst>
          </p:cNvPr>
          <p:cNvSpPr>
            <a:spLocks xmlns:a="http://schemas.openxmlformats.org/drawingml/2006/main" noGrp="1"/>
          </p:cNvSpPr>
          <p:nvPr/>
        </p:nvSpPr>
        <p:spPr>
          <a:xfrm xmlns:a="http://schemas.openxmlformats.org/drawingml/2006/main">
            <a:off x="868680" y="19044000"/>
            <a:ext cx="20078640" cy="82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2A24"/>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2A24"/>
              </a:buClr>
              <a:buSzPts val="2500"/>
              <a:buFont typeface="Calibri"/>
              <a:buNone/>
              <a:defRPr sz="2450" b="0" i="0">
                <a:solidFill>
                  <a:srgbClr val="1F2A24"/>
                </a:solidFill>
                <a:latin typeface="Calibri"/>
                <a:ea typeface="Calibri"/>
                <a:cs typeface="Calibri"/>
              </a:defRPr>
            </a:pPr>
            <a:r>
              <a:rPr sz="2450" b="1" i="0">
                <a:solidFill>
                  <a:srgbClr val="1F2A24"/>
                </a:solidFill>
                <a:latin typeface="Calibri"/>
                <a:ea typeface="Calibri"/>
                <a:cs typeface="Calibri"/>
              </a:rPr>
              <a:t>72 debates (1,800 speeches)</a:t>
            </a:r>
            <a:r>
              <a:rPr sz="2450" b="0" i="0">
                <a:solidFill>
                  <a:srgbClr val="1F2A24"/>
                </a:solidFill>
                <a:latin typeface="Calibri"/>
                <a:ea typeface="Calibri"/>
                <a:cs typeface="Calibri"/>
              </a:rPr>
              <a:t>: </a:t>
            </a:r>
            <a:r>
              <a:rPr sz="2450" b="1" i="0">
                <a:solidFill>
                  <a:srgbClr val="1F2A24"/>
                </a:solidFill>
                <a:latin typeface="Calibri"/>
                <a:ea typeface="Calibri"/>
                <a:cs typeface="Calibri"/>
              </a:rPr>
              <a:t>54 cooperative baselines</a:t>
            </a:r>
            <a:r>
              <a:rPr sz="2450" b="0" i="0">
                <a:solidFill>
                  <a:srgbClr val="1F2A24"/>
                </a:solidFill>
                <a:latin typeface="Calibri"/>
                <a:ea typeface="Calibri"/>
                <a:cs typeface="Calibri"/>
              </a:rPr>
              <a:t> (three repeats), plus </a:t>
            </a:r>
            <a:r>
              <a:rPr sz="2450" b="1" i="0">
                <a:solidFill>
                  <a:srgbClr val="1F2A24"/>
                </a:solidFill>
                <a:latin typeface="Calibri"/>
                <a:ea typeface="Calibri"/>
                <a:cs typeface="Calibri"/>
              </a:rPr>
              <a:t>18 adversarial runs</a:t>
            </a:r>
            <a:r>
              <a:rPr sz="2450" b="0" i="0">
                <a:solidFill>
                  <a:srgbClr val="1F2A24"/>
                </a:solidFill>
                <a:latin typeface="Calibri"/>
                <a:ea typeface="Calibri"/>
                <a:cs typeface="Calibri"/>
              </a:rPr>
              <a:t> (one repeat, one assigned MP). GPT-6 Luna and Qwen3:8b [2] debate retirement, nuclear power and a four-day workweek at 0/10/100 excerpts, with five parties, five rounds and no interruptions.</a:t>
            </a:r>
            <a:endParaRPr/>
          </a:p>
        </p:txBody>
      </p:sp>
      <p:sp>
        <p:nvSpPr>
          <p:cNvPr id="83" name="Google Shape;83;p1">
            <a:extLst xmlns:a="http://schemas.openxmlformats.org/drawingml/2006/main">
              <a:ext uri="{FF2B5EF4-FFF2-40B4-BE49-F238E27FC236}">
                <a16:creationId xmlns:a16="http://schemas.microsoft.com/office/drawing/2014/main" id="{5CD876CE-84A4-4DDC-9F6F-4B5E274E7376}"/>
              </a:ext>
            </a:extLst>
          </p:cNvPr>
          <p:cNvSpPr>
            <a:spLocks xmlns:a="http://schemas.openxmlformats.org/drawingml/2006/main" noGrp="1"/>
          </p:cNvSpPr>
          <p:nvPr/>
        </p:nvSpPr>
        <p:spPr>
          <a:xfrm xmlns:a="http://schemas.openxmlformats.org/drawingml/2006/main">
            <a:off x="868680" y="24120000"/>
            <a:ext cx="20078640" cy="72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450" b="0" i="0">
                <a:solidFill>
                  <a:srgbClr val="1F4D36"/>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1F4D36"/>
              </a:buClr>
              <a:buSzPts val="2450"/>
              <a:buFont typeface="Calibri"/>
              <a:buNone/>
              <a:defRPr sz="2450" b="0" i="0">
                <a:solidFill>
                  <a:srgbClr val="1F4D36"/>
                </a:solidFill>
                <a:latin typeface="Calibri"/>
                <a:ea typeface="Calibri"/>
                <a:cs typeface="Calibri"/>
              </a:defRPr>
            </a:pPr>
            <a:r>
              <a:rPr sz="2450" b="1" i="0">
                <a:solidFill>
                  <a:srgbClr val="1F4D36"/>
                </a:solidFill>
                <a:latin typeface="Calibri"/>
                <a:ea typeface="Calibri"/>
                <a:cs typeface="Calibri"/>
              </a:rPr>
              <a:t>Baseline:</a:t>
            </a:r>
            <a:r>
              <a:rPr sz="2450" b="0" i="0">
                <a:solidFill>
                  <a:srgbClr val="1F4D36"/>
                </a:solidFill>
                <a:latin typeface="Calibri"/>
                <a:ea typeface="Calibri"/>
                <a:cs typeface="Calibri"/>
              </a:rPr>
              <a:t> More Hansard gives no consistent gain. Qwen consistency falls 3.93 to 3.62 from 0 to 100 excerpts. Relevance endpoints stay at 4.00 (Luna) and 3.98 (Qwen), with disruptive rhetoric near zero (0.00-0.04).</a:t>
            </a:r>
            <a:endParaRPr/>
          </a:p>
        </p:txBody>
      </p:sp>
      <p:sp>
        <p:nvSpPr>
          <p:cNvPr id="84" name="Google Shape;84;p1">
            <a:extLst xmlns:a="http://schemas.openxmlformats.org/drawingml/2006/main">
              <a:ext uri="{FF2B5EF4-FFF2-40B4-BE49-F238E27FC236}">
                <a16:creationId xmlns:a16="http://schemas.microsoft.com/office/drawing/2014/main" id="{D5552562-2B19-4C83-9406-AB0793949877}"/>
              </a:ext>
            </a:extLst>
          </p:cNvPr>
          <p:cNvSpPr>
            <a:spLocks xmlns:a="http://schemas.openxmlformats.org/drawingml/2006/main" noGrp="1"/>
          </p:cNvSpPr>
          <p:nvPr/>
        </p:nvSpPr>
        <p:spPr>
          <a:xfrm xmlns:a="http://schemas.openxmlformats.org/drawingml/2006/main">
            <a:off x="868680" y="25992000"/>
            <a:ext cx="20078640" cy="648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050" b="0" i="1">
                <a:solidFill>
                  <a:srgbClr val="56615B"/>
                </a:solidFill>
                <a:latin typeface="Calibri"/>
                <a:ea typeface="Calibri"/>
                <a:cs typeface="Calibri"/>
              </a:defRPr>
            </a:defPPr>
          </a:lstStyle>
          <a:p xmlns:a="http://schemas.openxmlformats.org/drawingml/2006/main">
            <a:pPr marL="0" marR="0" lvl="0" indent="0" algn="l">
              <a:lnSpc>
                <a:spcPct val="108000"/>
              </a:lnSpc>
              <a:spcBef>
                <a:spcPts val="0"/>
              </a:spcBef>
              <a:spcAft>
                <a:spcPts val="0"/>
              </a:spcAft>
              <a:buClr>
                <a:srgbClr val="56615B"/>
              </a:buClr>
              <a:buSzPts val="2050"/>
              <a:buFont typeface="Calibri"/>
              <a:buNone/>
              <a:defRPr sz="2050" b="0" i="1">
                <a:solidFill>
                  <a:srgbClr val="56615B"/>
                </a:solidFill>
                <a:latin typeface="Calibri"/>
                <a:ea typeface="Calibri"/>
                <a:cs typeface="Calibri"/>
              </a:defRPr>
            </a:pPr>
            <a:r>
              <a:rPr sz="2050" b="0" i="1">
                <a:solidFill>
                  <a:srgbClr val="56615B"/>
                </a:solidFill>
                <a:latin typeface="Calibri"/>
                <a:ea typeface="Calibri"/>
                <a:cs typeface="Calibri"/>
              </a:rPr>
              <a:t>Each matched point averages all five MPs across 3 debates (15 scores). Pale baselines average 9 debates (45 scores). Assignments: retirement/NZ First/derailment, workweek/ACT/straw man, nuclear/Green/procedural manipulation. One assigned repetition ties topic, tactic and party. Common Luna ratings are dependent and lack human validation.</a:t>
            </a:r>
            <a:endParaRPr/>
          </a:p>
        </p:txBody>
      </p:sp>
      <p:sp>
        <p:nvSpPr>
          <p:cNvPr id="85" name="Google Shape;85;p1">
            <a:extLst xmlns:a="http://schemas.openxmlformats.org/drawingml/2006/main">
              <a:ext uri="{FF2B5EF4-FFF2-40B4-BE49-F238E27FC236}">
                <a16:creationId xmlns:a16="http://schemas.microsoft.com/office/drawing/2014/main" id="{61CD5CC3-B456-4BC6-B386-DD6B3F111B52}"/>
              </a:ext>
            </a:extLst>
          </p:cNvPr>
          <p:cNvSpPr>
            <a:spLocks xmlns:a="http://schemas.openxmlformats.org/drawingml/2006/main" noGrp="1"/>
          </p:cNvSpPr>
          <p:nvPr/>
        </p:nvSpPr>
        <p:spPr>
          <a:xfrm xmlns:a="http://schemas.openxmlformats.org/drawingml/2006/main">
            <a:off x="868680" y="26892000"/>
            <a:ext cx="712800" cy="712800"/>
          </a:xfrm>
          <a:prstGeom xmlns:a="http://schemas.openxmlformats.org/drawingml/2006/main" prst="ellipse">
            <a:avLst/>
          </a:prstGeom>
          <a:solidFill xmlns:a="http://schemas.openxmlformats.org/drawingml/2006/main">
            <a:srgbClr val="C9971C"/>
          </a:solidFill>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lvl="0" indent="0" algn="ctr">
              <a:spcBef>
                <a:spcPts val="0"/>
              </a:spcBef>
              <a:spcAft>
                <a:spcPts val="0"/>
              </a:spcAft>
              <a:buClr>
                <a:srgbClr val="FFFFFF"/>
              </a:buClr>
              <a:buSzPts val="3700"/>
              <a:buFont typeface="Cambria"/>
              <a:buNone/>
            </a:pPr>
            <a:r>
              <a:rPr sz="3700" b="1">
                <a:solidFill>
                  <a:srgbClr val="FFFFFF"/>
                </a:solidFill>
                <a:latin typeface="Cambria"/>
                <a:ea typeface="Cambria"/>
                <a:cs typeface="Cambria"/>
              </a:rPr>
              <a:t>4</a:t>
            </a:r>
            <a:endParaRPr/>
          </a:p>
        </p:txBody>
      </p:sp>
      <p:sp>
        <p:nvSpPr>
          <p:cNvPr id="86" name="Google Shape;86;p1">
            <a:extLst xmlns:a="http://schemas.openxmlformats.org/drawingml/2006/main">
              <a:ext uri="{FF2B5EF4-FFF2-40B4-BE49-F238E27FC236}">
                <a16:creationId xmlns:a16="http://schemas.microsoft.com/office/drawing/2014/main" id="{383F42B4-B937-4C06-96D8-ECA18951C1F8}"/>
              </a:ext>
            </a:extLst>
          </p:cNvPr>
          <p:cNvSpPr>
            <a:spLocks xmlns:a="http://schemas.openxmlformats.org/drawingml/2006/main" noGrp="1"/>
          </p:cNvSpPr>
          <p:nvPr/>
        </p:nvSpPr>
        <p:spPr>
          <a:xfrm xmlns:a="http://schemas.openxmlformats.org/drawingml/2006/main">
            <a:off x="1836000" y="26838000"/>
            <a:ext cx="19080000" cy="90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5300"/>
              <a:buFont typeface="Cambria"/>
              <a:buNone/>
            </a:pPr>
            <a:r>
              <a:rPr sz="5300" b="1" i="0">
                <a:solidFill>
                  <a:srgbClr val="1F4D36"/>
                </a:solidFill>
                <a:latin typeface="Cambria"/>
                <a:ea typeface="Cambria"/>
                <a:cs typeface="Cambria"/>
              </a:rPr>
              <a:t>Outcomes and next steps</a:t>
            </a:r>
            <a:endParaRPr/>
          </a:p>
        </p:txBody>
      </p:sp>
      <p:sp>
        <p:nvSpPr>
          <p:cNvPr id="87" name="Google Shape;87;p1">
            <a:extLst xmlns:a="http://schemas.openxmlformats.org/drawingml/2006/main">
              <a:ext uri="{FF2B5EF4-FFF2-40B4-BE49-F238E27FC236}">
                <a16:creationId xmlns:a16="http://schemas.microsoft.com/office/drawing/2014/main" id="{F4FD8B3D-0D2A-462B-A534-20DBC05ACFB8}"/>
              </a:ext>
            </a:extLst>
          </p:cNvPr>
          <p:cNvSpPr>
            <a:spLocks xmlns:a="http://schemas.openxmlformats.org/drawingml/2006/main" noGrp="1"/>
          </p:cNvSpPr>
          <p:nvPr/>
        </p:nvSpPr>
        <p:spPr>
          <a:xfrm xmlns:a="http://schemas.openxmlformats.org/drawingml/2006/main">
            <a:off x="868680" y="27864000"/>
            <a:ext cx="6408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Platform:</a:t>
            </a:r>
            <a:r>
              <a:rPr sz="2150" b="0" i="0">
                <a:solidFill>
                  <a:srgbClr val="1F2A24"/>
                </a:solidFill>
                <a:latin typeface="Calibri"/>
                <a:ea typeface="Calibri"/>
                <a:cs typeface="Calibri"/>
              </a:rPr>
              <a:t> One backend runs private MP agents and saves reproducible public evidence. Baseline scores show no consistent gain from extra Hansard.</a:t>
            </a:r>
            <a:endParaRPr/>
          </a:p>
        </p:txBody>
      </p:sp>
      <p:sp>
        <p:nvSpPr>
          <p:cNvPr id="88" name="Google Shape;88;p1">
            <a:extLst xmlns:a="http://schemas.openxmlformats.org/drawingml/2006/main">
              <a:ext uri="{FF2B5EF4-FFF2-40B4-BE49-F238E27FC236}">
                <a16:creationId xmlns:a16="http://schemas.microsoft.com/office/drawing/2014/main" id="{CF7825AE-FDC2-4278-A999-8B0678E8D516}"/>
              </a:ext>
            </a:extLst>
          </p:cNvPr>
          <p:cNvSpPr>
            <a:spLocks xmlns:a="http://schemas.openxmlformats.org/drawingml/2006/main" noGrp="1"/>
          </p:cNvSpPr>
          <p:nvPr/>
        </p:nvSpPr>
        <p:spPr>
          <a:xfrm xmlns:a="http://schemas.openxmlformats.org/drawingml/2006/main">
            <a:off x="7776000" y="27864000"/>
            <a:ext cx="6300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2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Next:</a:t>
            </a:r>
            <a:r>
              <a:rPr sz="2150" b="0" i="0">
                <a:solidFill>
                  <a:srgbClr val="1F2A24"/>
                </a:solidFill>
                <a:latin typeface="Calibri"/>
                <a:ea typeface="Calibri"/>
                <a:cs typeface="Calibri"/>
              </a:rPr>
              <a:t> Repeat assigned conditions and rotate parties. Human reviewers should assess disruption, reasoning and concessions before wider conclusions.</a:t>
            </a:r>
            <a:endParaRPr/>
          </a:p>
        </p:txBody>
      </p:sp>
      <p:sp>
        <p:nvSpPr>
          <p:cNvPr id="89" name="Google Shape;89;p1">
            <a:extLst xmlns:a="http://schemas.openxmlformats.org/drawingml/2006/main">
              <a:ext uri="{FF2B5EF4-FFF2-40B4-BE49-F238E27FC236}">
                <a16:creationId xmlns:a16="http://schemas.microsoft.com/office/drawing/2014/main" id="{8E0FFA7D-0C1A-4B3B-BDDF-1B9136179430}"/>
              </a:ext>
            </a:extLst>
          </p:cNvPr>
          <p:cNvSpPr>
            <a:spLocks xmlns:a="http://schemas.openxmlformats.org/drawingml/2006/main" noGrp="1"/>
          </p:cNvSpPr>
          <p:nvPr/>
        </p:nvSpPr>
        <p:spPr>
          <a:xfrm xmlns:a="http://schemas.openxmlformats.org/drawingml/2006/main">
            <a:off x="14580000" y="27864000"/>
            <a:ext cx="6372000" cy="108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defPPr algn="l">
              <a:defRPr sz="2150" b="0" i="0">
                <a:solidFill>
                  <a:srgbClr val="1F2A24"/>
                </a:solidFill>
                <a:latin typeface="Calibri"/>
                <a:ea typeface="Calibri"/>
                <a:cs typeface="Calibri"/>
              </a:defRPr>
            </a:defPPr>
          </a:lstStyle>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Albert Sun:</a:t>
            </a:r>
            <a:r>
              <a:rPr sz="2150" b="0" i="0">
                <a:solidFill>
                  <a:srgbClr val="1F2A24"/>
                </a:solidFill>
                <a:latin typeface="Calibri"/>
                <a:ea typeface="Calibri"/>
                <a:cs typeface="Calibri"/>
              </a:rPr>
              <a:t> frontend, live chamber,</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initial CLI and Hansard grounding.</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1" i="0">
                <a:solidFill>
                  <a:srgbClr val="1F2A24"/>
                </a:solidFill>
                <a:latin typeface="Calibri"/>
                <a:ea typeface="Calibri"/>
                <a:cs typeface="Calibri"/>
              </a:rPr>
              <a:t>Kieran Joe:</a:t>
            </a:r>
            <a:r>
              <a:rPr sz="2150" b="0" i="0">
                <a:solidFill>
                  <a:srgbClr val="1F2A24"/>
                </a:solidFill>
                <a:latin typeface="Calibri"/>
                <a:ea typeface="Calibri"/>
                <a:cs typeface="Calibri"/>
              </a:rPr>
              <a:t> architecture, agent engine</a:t>
            </a:r>
            <a:endParaRPr/>
          </a:p>
          <a:p xmlns:a="http://schemas.openxmlformats.org/drawingml/2006/main">
            <a:pPr marL="0" marR="0" lvl="0" indent="0" algn="l">
              <a:lnSpc>
                <a:spcPct val="100000"/>
              </a:lnSpc>
              <a:spcBef>
                <a:spcPts val="0"/>
              </a:spcBef>
              <a:spcAft>
                <a:spcPts val="0"/>
              </a:spcAft>
              <a:buClr>
                <a:srgbClr val="1F2A24"/>
              </a:buClr>
              <a:buSzPts val="2150"/>
              <a:buFont typeface="Calibri"/>
              <a:buNone/>
              <a:defRPr sz="2150" b="0" i="0">
                <a:solidFill>
                  <a:srgbClr val="1F2A24"/>
                </a:solidFill>
                <a:latin typeface="Calibri"/>
                <a:ea typeface="Calibri"/>
                <a:cs typeface="Calibri"/>
              </a:defRPr>
            </a:pPr>
            <a:r>
              <a:rPr sz="2150" b="0" i="0">
                <a:solidFill>
                  <a:srgbClr val="1F2A24"/>
                </a:solidFill>
                <a:latin typeface="Calibri"/>
                <a:ea typeface="Calibri"/>
                <a:cs typeface="Calibri"/>
              </a:rPr>
              <a:t>and supervisor coordination.</a:t>
            </a:r>
            <a:endParaRPr/>
          </a:p>
        </p:txBody>
      </p:sp>
      <p:sp>
        <p:nvSpPr>
          <p:cNvPr id="90" name="Google Shape;90;p1">
            <a:extLst xmlns:a="http://schemas.openxmlformats.org/drawingml/2006/main">
              <a:ext uri="{FF2B5EF4-FFF2-40B4-BE49-F238E27FC236}">
                <a16:creationId xmlns:a16="http://schemas.microsoft.com/office/drawing/2014/main" id="{9FFD00DB-C596-401E-B1E3-00F3B94E6190}"/>
              </a:ext>
            </a:extLst>
          </p:cNvPr>
          <p:cNvSpPr>
            <a:spLocks xmlns:a="http://schemas.openxmlformats.org/drawingml/2006/main" noGrp="1"/>
          </p:cNvSpPr>
          <p:nvPr/>
        </p:nvSpPr>
        <p:spPr>
          <a:xfrm xmlns:a="http://schemas.openxmlformats.org/drawingml/2006/main">
            <a:off x="0" y="29124000"/>
            <a:ext cx="21816000" cy="1584000"/>
          </a:xfrm>
          <a:prstGeom xmlns:a="http://schemas.openxmlformats.org/drawingml/2006/main" prst="rect">
            <a:avLst/>
          </a:prstGeom>
          <a:solidFill xmlns:a="http://schemas.openxmlformats.org/drawingml/2006/main">
            <a:srgbClr val="E8E2D4"/>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91" name="Google Shape;91;p1">
            <a:extLst xmlns:a="http://schemas.openxmlformats.org/drawingml/2006/main">
              <a:ext uri="{FF2B5EF4-FFF2-40B4-BE49-F238E27FC236}">
                <a16:creationId xmlns:a16="http://schemas.microsoft.com/office/drawing/2014/main" id="{26F8E3A4-0A41-42BB-B89E-5B85916C8E3E}"/>
              </a:ext>
            </a:extLst>
          </p:cNvPr>
          <p:cNvSpPr>
            <a:spLocks xmlns:a="http://schemas.openxmlformats.org/drawingml/2006/main" noGrp="1"/>
          </p:cNvSpPr>
          <p:nvPr/>
        </p:nvSpPr>
        <p:spPr>
          <a:xfrm xmlns:a="http://schemas.openxmlformats.org/drawingml/2006/main">
            <a:off x="868680" y="29412000"/>
            <a:ext cx="8424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References</a:t>
            </a:r>
            <a:endParaRPr/>
          </a:p>
        </p:txBody>
      </p:sp>
      <p:sp>
        <p:nvSpPr>
          <p:cNvPr id="92" name="Google Shape;92;p1">
            <a:extLst xmlns:a="http://schemas.openxmlformats.org/drawingml/2006/main">
              <a:ext uri="{FF2B5EF4-FFF2-40B4-BE49-F238E27FC236}">
                <a16:creationId xmlns:a16="http://schemas.microsoft.com/office/drawing/2014/main" id="{0D776023-15F2-47C1-8F1D-35B88BB5B893}"/>
              </a:ext>
            </a:extLst>
          </p:cNvPr>
          <p:cNvSpPr>
            <a:spLocks xmlns:a="http://schemas.openxmlformats.org/drawingml/2006/main" noGrp="1"/>
          </p:cNvSpPr>
          <p:nvPr/>
        </p:nvSpPr>
        <p:spPr>
          <a:xfrm xmlns:a="http://schemas.openxmlformats.org/drawingml/2006/main">
            <a:off x="868680" y="29844000"/>
            <a:ext cx="8424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[1] Rauh &amp; Schwalbach (2020). ParlSpeech V2.</a:t>
            </a:r>
            <a:br>
              <a:rPr sz="2000" b="0" i="0">
                <a:solidFill>
                  <a:srgbClr val="1F2A24"/>
                </a:solidFill>
                <a:latin typeface="Calibri"/>
                <a:ea typeface="Calibri"/>
                <a:cs typeface="Calibri"/>
              </a:rPr>
            </a:br>
            <a:r>
              <a:rPr sz="2000" b="0" i="0">
                <a:solidFill>
                  <a:srgbClr val="1F2A24"/>
                </a:solidFill>
                <a:latin typeface="Calibri"/>
                <a:ea typeface="Calibri"/>
                <a:cs typeface="Calibri"/>
              </a:rPr>
              <a:t>[</a:t>
            </a:r>
            <a:r>
              <a:rPr sz="2000">
                <a:solidFill>
                  <a:srgbClr val="1F2A24"/>
                </a:solidFill>
                <a:latin typeface="Calibri"/>
                <a:ea typeface="Calibri"/>
                <a:cs typeface="Calibri"/>
              </a:rPr>
              <a:t>2</a:t>
            </a:r>
            <a:r>
              <a:rPr sz="2000" b="0" i="0">
                <a:solidFill>
                  <a:srgbClr val="1F2A24"/>
                </a:solidFill>
                <a:latin typeface="Calibri"/>
                <a:ea typeface="Calibri"/>
                <a:cs typeface="Calibri"/>
              </a:rPr>
              <a:t>] Qwen Team (2025). Qwen3 Technical Report.</a:t>
            </a:r>
            <a:endParaRPr sz="2000">
              <a:solidFill>
                <a:srgbClr val="1F2A24"/>
              </a:solidFill>
              <a:latin typeface="Calibri"/>
              <a:ea typeface="Calibri"/>
              <a:cs typeface="Calibri"/>
            </a:endParaRPr>
          </a:p>
        </p:txBody>
      </p:sp>
      <p:sp>
        <p:nvSpPr>
          <p:cNvPr id="93" name="Google Shape;93;p1">
            <a:extLst xmlns:a="http://schemas.openxmlformats.org/drawingml/2006/main">
              <a:ext uri="{FF2B5EF4-FFF2-40B4-BE49-F238E27FC236}">
                <a16:creationId xmlns:a16="http://schemas.microsoft.com/office/drawing/2014/main" id="{59FCA1D3-8AA3-4E62-9CC1-A4D4F0617217}"/>
              </a:ext>
            </a:extLst>
          </p:cNvPr>
          <p:cNvSpPr>
            <a:spLocks xmlns:a="http://schemas.openxmlformats.org/drawingml/2006/main" noGrp="1"/>
          </p:cNvSpPr>
          <p:nvPr/>
        </p:nvSpPr>
        <p:spPr>
          <a:xfrm xmlns:a="http://schemas.openxmlformats.org/drawingml/2006/main">
            <a:off x="9828000" y="29412000"/>
            <a:ext cx="6840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Acknowledgements</a:t>
            </a:r>
            <a:endParaRPr/>
          </a:p>
        </p:txBody>
      </p:sp>
      <p:sp>
        <p:nvSpPr>
          <p:cNvPr id="94" name="Google Shape;94;p1">
            <a:extLst xmlns:a="http://schemas.openxmlformats.org/drawingml/2006/main">
              <a:ext uri="{FF2B5EF4-FFF2-40B4-BE49-F238E27FC236}">
                <a16:creationId xmlns:a16="http://schemas.microsoft.com/office/drawing/2014/main" id="{7275F76A-51B2-4998-99CD-F610B84EECBF}"/>
              </a:ext>
            </a:extLst>
          </p:cNvPr>
          <p:cNvSpPr>
            <a:spLocks xmlns:a="http://schemas.openxmlformats.org/drawingml/2006/main" noGrp="1"/>
          </p:cNvSpPr>
          <p:nvPr/>
        </p:nvSpPr>
        <p:spPr>
          <a:xfrm xmlns:a="http://schemas.openxmlformats.org/drawingml/2006/main">
            <a:off x="9828000" y="29844000"/>
            <a:ext cx="6840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a:solidFill>
                  <a:srgbClr val="1F2A24"/>
                </a:solidFill>
                <a:latin typeface="Calibri"/>
                <a:ea typeface="Calibri"/>
                <a:cs typeface="Calibri"/>
              </a:rPr>
              <a:t>Ioannis Ziogas, McCourt School of Public Policy, Georgetown University</a:t>
            </a:r>
            <a:endParaRPr/>
          </a:p>
        </p:txBody>
      </p:sp>
      <p:sp>
        <p:nvSpPr>
          <p:cNvPr id="95" name="Google Shape;95;p1">
            <a:extLst xmlns:a="http://schemas.openxmlformats.org/drawingml/2006/main">
              <a:ext uri="{FF2B5EF4-FFF2-40B4-BE49-F238E27FC236}">
                <a16:creationId xmlns:a16="http://schemas.microsoft.com/office/drawing/2014/main" id="{2B21E1A7-4687-4573-88AD-4557DA3B10DA}"/>
              </a:ext>
            </a:extLst>
          </p:cNvPr>
          <p:cNvSpPr>
            <a:spLocks xmlns:a="http://schemas.openxmlformats.org/drawingml/2006/main" noGrp="1"/>
          </p:cNvSpPr>
          <p:nvPr/>
        </p:nvSpPr>
        <p:spPr>
          <a:xfrm xmlns:a="http://schemas.openxmlformats.org/drawingml/2006/main">
            <a:off x="17064000" y="29412000"/>
            <a:ext cx="3888000" cy="36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4D36"/>
              </a:buClr>
              <a:buSzPts val="2200"/>
              <a:buFont typeface="Calibri"/>
              <a:buNone/>
            </a:pPr>
            <a:r>
              <a:rPr sz="2200" b="1" i="0">
                <a:solidFill>
                  <a:srgbClr val="1F4D36"/>
                </a:solidFill>
                <a:latin typeface="Calibri"/>
                <a:ea typeface="Calibri"/>
                <a:cs typeface="Calibri"/>
              </a:rPr>
              <a:t>Contact</a:t>
            </a:r>
            <a:endParaRPr/>
          </a:p>
        </p:txBody>
      </p:sp>
      <p:sp>
        <p:nvSpPr>
          <p:cNvPr id="96" name="Google Shape;96;p1">
            <a:extLst xmlns:a="http://schemas.openxmlformats.org/drawingml/2006/main">
              <a:ext uri="{FF2B5EF4-FFF2-40B4-BE49-F238E27FC236}">
                <a16:creationId xmlns:a16="http://schemas.microsoft.com/office/drawing/2014/main" id="{B170E3D0-0B16-48D7-B8D2-0EEF67057C57}"/>
              </a:ext>
            </a:extLst>
          </p:cNvPr>
          <p:cNvSpPr>
            <a:spLocks xmlns:a="http://schemas.openxmlformats.org/drawingml/2006/main" noGrp="1"/>
          </p:cNvSpPr>
          <p:nvPr/>
        </p:nvSpPr>
        <p:spPr>
          <a:xfrm xmlns:a="http://schemas.openxmlformats.org/drawingml/2006/main">
            <a:off x="17064000" y="29844000"/>
            <a:ext cx="3888000" cy="61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asun555@aucklanduni.ac.nz</a:t>
            </a:r>
            <a:endParaRPr/>
          </a:p>
          <a:p xmlns:a="http://schemas.openxmlformats.org/drawingml/2006/main">
            <a:pPr marL="0" marR="0" lvl="0" indent="0" algn="l">
              <a:lnSpc>
                <a:spcPct val="108000"/>
              </a:lnSpc>
              <a:spcBef>
                <a:spcPts val="0"/>
              </a:spcBef>
              <a:spcAft>
                <a:spcPts val="0"/>
              </a:spcAft>
              <a:buClr>
                <a:srgbClr val="1F2A24"/>
              </a:buClr>
              <a:buSzPts val="2000"/>
              <a:buFont typeface="Calibri"/>
              <a:buNone/>
            </a:pPr>
            <a:r>
              <a:rPr sz="2000" b="0" i="0">
                <a:solidFill>
                  <a:srgbClr val="1F2A24"/>
                </a:solidFill>
                <a:latin typeface="Calibri"/>
                <a:ea typeface="Calibri"/>
                <a:cs typeface="Calibri"/>
              </a:rPr>
              <a:t>kjoe685@aucklanduni.ac.nz</a:t>
            </a:r>
            <a:endParaRPr/>
          </a:p>
        </p:txBody>
      </p:sp>
      <p:sp>
        <p:nvSpPr>
          <p:cNvPr id="97" name="Backend engine explanation">
            <a:extLst xmlns:a="http://schemas.openxmlformats.org/drawingml/2006/main">
              <a:ext uri="{FF2B5EF4-FFF2-40B4-BE49-F238E27FC236}">
                <a16:creationId xmlns:a16="http://schemas.microsoft.com/office/drawing/2014/main" id="{17E21F8D-F5C4-4979-8165-1F7FE02B5978}"/>
              </a:ext>
            </a:extLst>
          </p:cNvPr>
          <p:cNvSpPr>
            <a:spLocks xmlns:a="http://schemas.openxmlformats.org/drawingml/2006/main" noGrp="1"/>
          </p:cNvSpPr>
          <p:nvPr/>
        </p:nvSpPr>
        <p:spPr>
          <a:xfrm xmlns:a="http://schemas.openxmlformats.org/drawingml/2006/main">
            <a:off x="868680" y="13698000"/>
            <a:ext cx="20078640" cy="11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F2A24"/>
                </a:solidFill>
                <a:latin typeface="Calibri"/>
                <a:ea typeface="Calibri"/>
                <a:cs typeface="Calibri"/>
              </a:defRPr>
            </a:defPPr>
          </a:lstStyle>
          <a:p xmlns:a="http://schemas.openxmlformats.org/drawingml/2006/main">
            <a:pPr algn="l">
              <a:lnSpc>
                <a:spcPct val="108000"/>
              </a:lnSpc>
              <a:buNone/>
              <a:defRPr sz="2550" b="0">
                <a:solidFill>
                  <a:srgbClr val="1F2A24"/>
                </a:solidFill>
                <a:latin typeface="Calibri"/>
                <a:ea typeface="Calibri"/>
                <a:cs typeface="Calibri"/>
              </a:defRPr>
            </a:pPr>
            <a:r>
              <a:rPr sz="2550" b="0">
                <a:solidFill>
                  <a:srgbClr val="1F2A24"/>
                </a:solidFill>
                <a:latin typeface="Calibri"/>
                <a:ea typeface="Calibri"/>
                <a:cs typeface="Calibri"/>
              </a:rPr>
              <a:t>At run start, the backend combines each MP's party profile and selected real Hansard excerpts [1] in a private system prompt, adding any assigned tactic. The scheduler takes turns sending that MP's prompt, public debate history and a turn cue to its model's chat completion endpoint. Each returned speech joins the public record for the next MP. Other agents cannot read the private prompts.</a:t>
            </a:r>
          </a:p>
        </p:txBody>
      </p:sp>
      <p:graphicFrame>
        <p:nvGraphicFramePr>
          <p:cNvPr id="98" name="Chart">
            <a:extLst xmlns:a="http://schemas.openxmlformats.org/drawingml/2006/main">
              <a:ext uri="{FF2B5EF4-FFF2-40B4-BE49-F238E27FC236}">
                <a16:creationId xmlns:a16="http://schemas.microsoft.com/office/drawing/2014/main" id="{907CC427-7BFD-423D-9086-4285950A3334}"/>
              </a:ext>
            </a:extLst>
          </p:cNvPr>
          <p:cNvGraphicFramePr/>
          <p:nvPr/>
        </p:nvGraphicFramePr>
        <p:xfrm>
          <a:off xmlns:a="http://schemas.openxmlformats.org/drawingml/2006/main" x="868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bc0204d30c7f4414"/>
          </a:graphicData>
        </a:graphic>
      </p:graphicFrame>
      <p:graphicFrame>
        <p:nvGraphicFramePr>
          <p:cNvPr id="99" name="Chart">
            <a:extLst xmlns:a="http://schemas.openxmlformats.org/drawingml/2006/main">
              <a:ext uri="{FF2B5EF4-FFF2-40B4-BE49-F238E27FC236}">
                <a16:creationId xmlns:a16="http://schemas.microsoft.com/office/drawing/2014/main" id="{63E7934A-AC32-4313-9F73-E971555940EE}"/>
              </a:ext>
            </a:extLst>
          </p:cNvPr>
          <p:cNvGraphicFramePr/>
          <p:nvPr/>
        </p:nvGraphicFramePr>
        <p:xfrm>
          <a:off xmlns:a="http://schemas.openxmlformats.org/drawingml/2006/main" x="7636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c1fc64be948942d5"/>
          </a:graphicData>
        </a:graphic>
      </p:graphicFrame>
      <p:graphicFrame>
        <p:nvGraphicFramePr>
          <p:cNvPr id="100" name="Chart">
            <a:extLst xmlns:a="http://schemas.openxmlformats.org/drawingml/2006/main">
              <a:ext uri="{FF2B5EF4-FFF2-40B4-BE49-F238E27FC236}">
                <a16:creationId xmlns:a16="http://schemas.microsoft.com/office/drawing/2014/main" id="{05CB7D68-F861-4D22-8D6F-E9D296C14439}"/>
              </a:ext>
            </a:extLst>
          </p:cNvPr>
          <p:cNvGraphicFramePr/>
          <p:nvPr/>
        </p:nvGraphicFramePr>
        <p:xfrm>
          <a:off xmlns:a="http://schemas.openxmlformats.org/drawingml/2006/main" x="14404680" y="19980000"/>
          <a:ext xmlns:a="http://schemas.openxmlformats.org/drawingml/2006/main" cx="6542640" cy="3600000"/>
        </p:xfrm>
        <a:graphic xmlns:a="http://schemas.openxmlformats.org/drawingml/2006/main">
          <a:graphicData uri="http://schemas.openxmlformats.org/drawingml/2006/chart">
            <c:chart xmlns:r="http://schemas.openxmlformats.org/officeDocument/2006/relationships" xmlns:c="http://schemas.openxmlformats.org/drawingml/2006/chart" r:id="Rb8d3470053d040b4"/>
          </a:graphicData>
        </a:graphic>
      </p:graphicFrame>
      <p:sp>
        <p:nvSpPr>
          <p:cNvPr id="101" name="Truncated axis disclosure">
            <a:extLst xmlns:a="http://schemas.openxmlformats.org/drawingml/2006/main">
              <a:ext uri="{FF2B5EF4-FFF2-40B4-BE49-F238E27FC236}">
                <a16:creationId xmlns:a16="http://schemas.microsoft.com/office/drawing/2014/main" id="{A914FACE-4745-43B9-890E-66493BBC4662}"/>
              </a:ext>
            </a:extLst>
          </p:cNvPr>
          <p:cNvSpPr>
            <a:spLocks xmlns:a="http://schemas.openxmlformats.org/drawingml/2006/main" noGrp="1"/>
          </p:cNvSpPr>
          <p:nvPr/>
        </p:nvSpPr>
        <p:spPr>
          <a:xfrm xmlns:a="http://schemas.openxmlformats.org/drawingml/2006/main">
            <a:off x="868680" y="23724000"/>
            <a:ext cx="20078640" cy="28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50" b="0">
                <a:solidFill>
                  <a:srgbClr val="56615B"/>
                </a:solidFill>
                <a:latin typeface="Calibri"/>
                <a:ea typeface="Calibri"/>
                <a:cs typeface="Calibri"/>
              </a:defRPr>
            </a:defPPr>
          </a:lstStyle>
          <a:p xmlns:a="http://schemas.openxmlformats.org/drawingml/2006/main">
            <a:pPr algn="l">
              <a:lnSpc>
                <a:spcPct val="108000"/>
              </a:lnSpc>
              <a:buNone/>
              <a:defRPr sz="2050" b="0">
                <a:solidFill>
                  <a:srgbClr val="56615B"/>
                </a:solidFill>
                <a:latin typeface="Calibri"/>
                <a:ea typeface="Calibri"/>
                <a:cs typeface="Calibri"/>
              </a:defRPr>
            </a:pPr>
            <a:r>
              <a:rPr sz="2050" b="0">
                <a:solidFill>
                  <a:srgbClr val="56615B"/>
                </a:solidFill>
                <a:latin typeface="Calibri"/>
                <a:ea typeface="Calibri"/>
                <a:cs typeface="Calibri"/>
              </a:rPr>
              <a:t>Vertical axes are truncated. Rubric scores still run from 0 to 4.</a:t>
            </a:r>
          </a:p>
        </p:txBody>
      </p:sp>
      <p:sp>
        <p:nvSpPr>
          <p:cNvPr id="102" name="Adversarial findings">
            <a:extLst xmlns:a="http://schemas.openxmlformats.org/drawingml/2006/main">
              <a:ext uri="{FF2B5EF4-FFF2-40B4-BE49-F238E27FC236}">
                <a16:creationId xmlns:a16="http://schemas.microsoft.com/office/drawing/2014/main" id="{A68DDAC7-4AE7-4939-A3FB-60EAA006DD57}"/>
              </a:ext>
            </a:extLst>
          </p:cNvPr>
          <p:cNvSpPr>
            <a:spLocks xmlns:a="http://schemas.openxmlformats.org/drawingml/2006/main" noGrp="1"/>
          </p:cNvSpPr>
          <p:nvPr/>
        </p:nvSpPr>
        <p:spPr>
          <a:xfrm xmlns:a="http://schemas.openxmlformats.org/drawingml/2006/main">
            <a:off x="868680" y="24984000"/>
            <a:ext cx="20078640" cy="82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50" b="0">
                <a:solidFill>
                  <a:srgbClr val="A92F24"/>
                </a:solidFill>
                <a:latin typeface="Calibri"/>
                <a:ea typeface="Calibri"/>
                <a:cs typeface="Calibri"/>
              </a:defRPr>
            </a:defPPr>
          </a:lstStyle>
          <a:p xmlns:a="http://schemas.openxmlformats.org/drawingml/2006/main">
            <a:pPr algn="l">
              <a:lnSpc>
                <a:spcPct val="108000"/>
              </a:lnSpc>
              <a:buNone/>
              <a:defRPr sz="2450" b="0">
                <a:solidFill>
                  <a:srgbClr val="A92F24"/>
                </a:solidFill>
                <a:latin typeface="Calibri"/>
                <a:ea typeface="Calibri"/>
                <a:cs typeface="Calibri"/>
              </a:defRPr>
            </a:pPr>
            <a:r>
              <a:rPr sz="2450" b="1">
                <a:solidFill>
                  <a:srgbClr val="A92F24"/>
                </a:solidFill>
                <a:latin typeface="Calibri"/>
                <a:ea typeface="Calibri"/>
                <a:cs typeface="Calibri"/>
              </a:rPr>
              <a:t>Adversarial:</a:t>
            </a:r>
            <a:r>
              <a:rPr sz="2450" b="0">
                <a:solidFill>
                  <a:srgbClr val="A92F24"/>
                </a:solidFill>
                <a:latin typeface="Calibri"/>
                <a:ea typeface="Calibri"/>
                <a:cs typeface="Calibri"/>
              </a:rPr>
              <a:t> Qwen ACT scores 2/4 for disruptive rhetoric only at 0 excerpts. Matched Qwen Green changes range from -1 to +1, and all assigned Luna MPs score 0. Higher rhetoric means more disruption. Assignment alone does not demonstrate successful disruption.</a:t>
            </a:r>
          </a:p>
        </p:txBody>
      </p:sp>
    </p:spTree>
    <p:extLst>
      <p:ext uri="{BB962C8B-B14F-4D97-AF65-F5344CB8AC3E}">
        <p14:creationId xmlns:p14="http://schemas.microsoft.com/office/powerpoint/2010/main" val="1833911011"/>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2026-10-10T23:59:19.7670000Z</dcterms:created>
  <dcterms:modified xsi:type="dcterms:W3CDTF">2026-10-10T23:59:19.7670000Z</dcterms:modified>
</coreProperties>
</file>