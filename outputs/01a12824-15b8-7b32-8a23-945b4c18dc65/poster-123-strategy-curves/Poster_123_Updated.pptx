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c3573e18754fd3" /><Relationship Type="http://schemas.openxmlformats.org/officeDocument/2006/relationships/extended-properties" Target="/docProps/app.xml" Id="Rdaff06c418d34f13" /><Relationship Type="http://schemas.openxmlformats.org/officeDocument/2006/relationships/officeDocument" Target="/ppt/presentation.xml" Id="Rd510d5079ab04d36" /></Relationships>
</file>

<file path=ppt/presentation.xml><?xml version="1.0" encoding="utf-8"?>
<p:presentation xmlns:p="http://schemas.openxmlformats.org/presentationml/2006/main">
  <p:sldMasterIdLst>
    <p:sldMasterId xmlns:r="http://schemas.openxmlformats.org/officeDocument/2006/relationships" id="2147483648" r:id="Rd5fc45e6d28549d3"/>
  </p:sldMasterIdLst>
  <p:notesMasterIdLst>
    <p:notesMasterId xmlns:r="http://schemas.openxmlformats.org/officeDocument/2006/relationships" r:id="Rff980cd5539f4d6b"/>
  </p:notesMasterIdLst>
  <p:sldIdLst>
    <p:sldId xmlns:r="http://schemas.openxmlformats.org/officeDocument/2006/relationships" id="256" r:id="R09f270bca27e41f4"/>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a064d9930e40d5" /><Relationship Type="http://schemas.openxmlformats.org/officeDocument/2006/relationships/slideMaster" Target="/ppt/slideMasters/slideMaster1.xml" Id="Rd5fc45e6d28549d3" /><Relationship Type="http://schemas.openxmlformats.org/officeDocument/2006/relationships/notesMaster" Target="/ppt/notesMasters/notesMaster1.xml" Id="Rff980cd5539f4d6b" /><Relationship Type="http://schemas.openxmlformats.org/officeDocument/2006/relationships/presProps" Target="/ppt/presProps.xml" Id="R662aa3feeae04559" /><Relationship Type="http://schemas.openxmlformats.org/officeDocument/2006/relationships/tableStyles" Target="/ppt/tableStyles.xml" Id="Ra408ac14275242ac" /><Relationship Type="http://schemas.openxmlformats.org/officeDocument/2006/relationships/slide" Target="/ppt/slides/slide1.xml" Id="R09f270bca27e41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191d25d7694c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0bf10658f1457b" /><Relationship Type="http://schemas.openxmlformats.org/officeDocument/2006/relationships/notesMaster" Target="/ppt/notesMasters/notesMaster1.xml" Id="Rc946dab604fe4d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Topic, tactic and assigned party are confounded, with a single assigned repetition. Ratings within each debate are dependent. No human validation, causal effect, significance, successful tactic enactment, model availability or adversarial-robustness claim follows from this poster. Sentiment and stance are not combined with rubric scores. No model inference is performed for this revision.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cad50bfb034f08"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e3c6c9d83746d7" /><Relationship Type="http://schemas.openxmlformats.org/officeDocument/2006/relationships/slideLayout" Target="/ppt/slideLayouts/slideLayout1.xml" Id="R2d2399ea59d2401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d2399ea59d2401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a0438c61054a3a" /><Relationship Type="http://schemas.openxmlformats.org/officeDocument/2006/relationships/image" Target="/ppt/media/image.png" Id="R58802946c48045ef" /><Relationship Type="http://schemas.openxmlformats.org/officeDocument/2006/relationships/image" Target="/ppt/media/image2.png" Id="Re17a916c7a5d4d89" /><Relationship Type="http://schemas.openxmlformats.org/officeDocument/2006/relationships/chart" Target="/ppt/slides/charts/chart1.xml" Id="Rb63328074ee3498c" /><Relationship Type="http://schemas.openxmlformats.org/officeDocument/2006/relationships/chart" Target="/ppt/slides/charts/chart2.xml" Id="Rcb2bf523811942b1" /><Relationship Type="http://schemas.openxmlformats.org/officeDocument/2006/relationships/chart" Target="/ppt/slides/charts/chart3.xml" Id="Rdc78ca55b1384d56" /><Relationship Type="http://schemas.openxmlformats.org/officeDocument/2006/relationships/notesSlide" Target="/ppt/notesSlides/notesSlide1.xml" Id="R75dfbe539ea548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545EDC05-1086-4B2C-AA77-6847B1AD586B}"/>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2A2AED88-8CBE-4B3C-B6E4-453F74F5489B}"/>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0377B274-2AAD-4E9C-8FB1-B5DBE055D6AA}"/>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BCACF397-D867-44C3-A2B1-1641089840B4}"/>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742C6F80-CA71-407F-AA64-AFA69C1564DC}"/>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98C044CE-1D7E-44FA-979E-372D0536787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802946c48045ef">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535C6559-E22B-4F95-AA9E-EE0974F931BD}"/>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D53D68F8-783F-4B38-90FB-D763135507C6}"/>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B82EFAFD-4366-4DC5-894E-DC720C9A2540}"/>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7FF08B77-9539-4B95-8C71-BDE3FE1EC426}"/>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adversarial strategies</a:t>
            </a:r>
            <a:endParaRPr/>
          </a:p>
        </p:txBody>
      </p:sp>
      <p:sp>
        <p:nvSpPr>
          <p:cNvPr id="31" name="Google Shape;31;p1">
            <a:extLst xmlns:a="http://schemas.openxmlformats.org/drawingml/2006/main">
              <a:ext uri="{FF2B5EF4-FFF2-40B4-BE49-F238E27FC236}">
                <a16:creationId xmlns:a16="http://schemas.microsoft.com/office/drawing/2014/main" id="{057A8E2E-9380-4621-9BB7-6C1C3F67A00B}"/>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94B24F38-46DA-4A56-905B-11AD056880FD}"/>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900"/>
              <a:buFont typeface="Calibri"/>
              <a:buNone/>
            </a:pPr>
            <a:r>
              <a:rPr sz="2900" b="0" i="0">
                <a:solidFill>
                  <a:srgbClr val="1F2A24"/>
                </a:solidFill>
                <a:latin typeface="Calibri"/>
                <a:ea typeface="Calibri"/>
                <a:cs typeface="Calibri"/>
              </a:rPr>
              <a:t>We built a virtual New Zealand Parliament with cooperative and adversarial AI MPs. Each follows a party persona, and selected agents get private disruption tactics. The latest study tests whether Hansard grounding improves debate quality.</a:t>
            </a:r>
            <a:endParaRPr/>
          </a:p>
        </p:txBody>
      </p:sp>
      <p:sp>
        <p:nvSpPr>
          <p:cNvPr id="33" name="Google Shape;33;p1">
            <a:extLst xmlns:a="http://schemas.openxmlformats.org/drawingml/2006/main">
              <a:ext uri="{FF2B5EF4-FFF2-40B4-BE49-F238E27FC236}">
                <a16:creationId xmlns:a16="http://schemas.microsoft.com/office/drawing/2014/main" id="{3DAF1A8F-67F0-4C53-971A-2516D186E00F}"/>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C1B60A76-3802-410A-9C9A-66A967DA1AFB}"/>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5392A7CF-8207-47BA-B61B-19D3A25820FD}"/>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B80D13B1-B74A-4317-A7CF-A94373FBF9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17a916c7a5d4d89">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45116954-DBA8-48D2-9431-16E1D0FD600C}"/>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4BA8A36F-9A96-4274-9888-91C314A0FB8C}"/>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2387065C-C15B-4E9F-8B88-86E571F6B827}"/>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DD2A9ED8-15A9-4F31-9AE5-8B9172FB05D8}"/>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C099BC44-0B00-47C7-B911-547882D9242C}"/>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4FC17FF5-78E1-4647-BD02-D4A34B180CBD}"/>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628B7FA2-7B93-4D28-BFEB-2A19560EFFB5}"/>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5E5EDD29-812E-493C-B3D3-F8A019EF1865}"/>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Speakers light up; adversarial roles appear in red.</a:t>
            </a:r>
            <a:endParaRPr/>
          </a:p>
        </p:txBody>
      </p:sp>
      <p:sp>
        <p:nvSpPr>
          <p:cNvPr id="45" name="Google Shape;45;p1">
            <a:extLst xmlns:a="http://schemas.openxmlformats.org/drawingml/2006/main">
              <a:ext uri="{FF2B5EF4-FFF2-40B4-BE49-F238E27FC236}">
                <a16:creationId xmlns:a16="http://schemas.microsoft.com/office/drawing/2014/main" id="{E2ABFAFC-1A4F-4DC3-8B50-8B4AE67AC93E}"/>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4FC7C4E8-04CA-40AA-9B2C-6A9E9C324570}"/>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DC0D22D4-DCC0-464D-ACFD-C6A386FDFFF7}"/>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3DF158B9-F42E-4700-A715-CDB27B9CD9C7}"/>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D00206BD-00EB-42A9-B494-130147E20A15}"/>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06ABD277-7C3D-40EF-8F81-2B78B0D9FA3E}"/>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F227139D-59E1-4A49-812A-8AA221028A27}"/>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16AE948D-B8F5-4B37-9B9B-4AE626299F83}"/>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C326D48A-5B49-41D9-830B-7643DD54496E}"/>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8639D010-8654-4906-AAF7-28ED7227A047}"/>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09E96A10-564B-433C-8048-460C8672DF1E}"/>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F2DBAA68-55B2-4DC6-9EE2-9F221CD2AA86}"/>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Download public JSON or text, then run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sentiment/stance analysis or separate rubric scores.</a:t>
            </a:r>
            <a:endParaRPr/>
          </a:p>
        </p:txBody>
      </p:sp>
      <p:sp>
        <p:nvSpPr>
          <p:cNvPr id="57" name="Google Shape;57;p1">
            <a:extLst xmlns:a="http://schemas.openxmlformats.org/drawingml/2006/main">
              <a:ext uri="{FF2B5EF4-FFF2-40B4-BE49-F238E27FC236}">
                <a16:creationId xmlns:a16="http://schemas.microsoft.com/office/drawing/2014/main" id="{BB1493B3-5298-4F34-9DFD-582A15D8B6C7}"/>
              </a:ext>
            </a:extLst>
          </p:cNvPr>
          <p:cNvSpPr>
            <a:spLocks xmlns:a="http://schemas.openxmlformats.org/drawingml/2006/main" noGrp="1"/>
          </p:cNvSpPr>
          <p:nvPr/>
        </p:nvSpPr>
        <p:spPr>
          <a:xfrm xmlns:a="http://schemas.openxmlformats.org/drawingml/2006/main">
            <a:off x="868680" y="11880000"/>
            <a:ext cx="111600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100"/>
              <a:buFont typeface="Calibri"/>
              <a:buNone/>
            </a:pPr>
            <a:r>
              <a:rPr sz="2100" b="0" i="1">
                <a:solidFill>
                  <a:srgbClr val="56615B"/>
                </a:solidFill>
                <a:latin typeface="Calibri"/>
                <a:ea typeface="Calibri"/>
                <a:cs typeface="Calibri"/>
              </a:rPr>
              <a:t>Fig. 1 </a:t>
            </a:r>
            <a:r>
              <a:rPr sz="2100" i="1">
                <a:solidFill>
                  <a:srgbClr val="56615B"/>
                </a:solidFill>
                <a:latin typeface="Calibri"/>
                <a:ea typeface="Calibri"/>
                <a:cs typeface="Calibri"/>
              </a:rPr>
              <a:t>A live sitting on the web platform: National is the straw-man disruptor.</a:t>
            </a:r>
            <a:endParaRPr sz="2100" i="1">
              <a:solidFill>
                <a:srgbClr val="56615B"/>
              </a:solidFill>
              <a:latin typeface="Calibri"/>
              <a:ea typeface="Calibri"/>
              <a:cs typeface="Calibri"/>
            </a:endParaRPr>
          </a:p>
          <a:p xmlns:a="http://schemas.openxmlformats.org/drawingml/2006/main">
            <a:pPr marL="0" marR="0" lvl="0" indent="0" algn="l">
              <a:lnSpc>
                <a:spcPct val="108000"/>
              </a:lnSpc>
              <a:spcBef>
                <a:spcPts val="0"/>
              </a:spcBef>
              <a:spcAft>
                <a:spcPts val="0"/>
              </a:spcAft>
              <a:buClr>
                <a:srgbClr val="56615B"/>
              </a:buClr>
              <a:buSzPts val="2100"/>
              <a:buFont typeface="Calibri"/>
              <a:buNone/>
            </a:pPr>
            <a:r>
              <a:rPr sz="2100" b="0" i="1">
                <a:solidFill>
                  <a:srgbClr val="56615B"/>
                </a:solidFill>
                <a:latin typeface="Calibri"/>
                <a:ea typeface="Calibri"/>
                <a:cs typeface="Calibri"/>
              </a:rPr>
              <a:t>Browser, guided CLI and commands share one backend.</a:t>
            </a:r>
            <a:endParaRPr/>
          </a:p>
        </p:txBody>
      </p:sp>
      <p:sp>
        <p:nvSpPr>
          <p:cNvPr id="58" name="Google Shape;58;p1">
            <a:extLst xmlns:a="http://schemas.openxmlformats.org/drawingml/2006/main">
              <a:ext uri="{FF2B5EF4-FFF2-40B4-BE49-F238E27FC236}">
                <a16:creationId xmlns:a16="http://schemas.microsoft.com/office/drawing/2014/main" id="{DBBB4BBA-0806-4A00-901A-04441E7879F7}"/>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111CDB34-A955-40B2-A73E-FB5E026F2F7E}"/>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4CCC7DE0-13DF-4FE0-98AC-F6856F5E49F8}"/>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D0B4F6C0-2D4A-44BA-A942-41579D77A8C7}"/>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E98C3073-DC11-4BA3-B448-49AD011D3148}"/>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BD155A7F-F255-42F1-9E89-80531A5C5A55}"/>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702F6313-CF91-4FB3-9DE5-8558A6D11CEF}"/>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DD2CCDA5-0428-475B-A7DB-07377F06DE6E}"/>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B58D6F2A-2B28-47D0-BF02-B464500D7FED}"/>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A92F24"/>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6635B3C2-C58F-4D84-9CD8-0C1634C8C46A}"/>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90D46465-C577-4D91-B433-8C7CABB6413E}"/>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4D67A24C-5406-4704-9D42-60C6B5BA51B9}"/>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654E7D03-486B-4116-9970-9B245E4F64BC}"/>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CFCCCEE0-D6B4-4338-BC33-FC1B9206B979}"/>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2AC2B531-F886-45DC-A212-C1BF598B5C13}"/>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8AB44E07-6412-44AE-8D65-5E4582B56979}"/>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204F2305-3CDB-4B0C-9B7E-F799904ACD27}"/>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7FC1C67A-65A9-4BA2-9CA1-3B5BA18C46BC}"/>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F7E29878-F4E3-4E70-9AF3-EDE002B50C65}"/>
              </a:ext>
            </a:extLst>
          </p:cNvPr>
          <p:cNvSpPr>
            <a:spLocks xmlns:a="http://schemas.openxmlformats.org/drawingml/2006/main" noGrp="1"/>
          </p:cNvSpPr>
          <p:nvPr/>
        </p:nvSpPr>
        <p:spPr>
          <a:xfrm xmlns:a="http://schemas.openxmlformats.org/drawingml/2006/main">
            <a:off x="86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590B0BDF-2323-4B30-A033-5A6774DFCB3B}"/>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E372CA1F-72F4-4780-9122-A9F53657E96D}"/>
              </a:ext>
            </a:extLst>
          </p:cNvPr>
          <p:cNvSpPr>
            <a:spLocks xmlns:a="http://schemas.openxmlformats.org/drawingml/2006/main" noGrp="1"/>
          </p:cNvSpPr>
          <p:nvPr/>
        </p:nvSpPr>
        <p:spPr>
          <a:xfrm xmlns:a="http://schemas.openxmlformats.org/drawingml/2006/main">
            <a:off x="770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3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A83E750E-A993-460B-8DB9-343EEE241554}"/>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374AA1C3-C6FA-4401-9490-58DC669742F0}"/>
              </a:ext>
            </a:extLst>
          </p:cNvPr>
          <p:cNvSpPr>
            <a:spLocks xmlns:a="http://schemas.openxmlformats.org/drawingml/2006/main" noGrp="1"/>
          </p:cNvSpPr>
          <p:nvPr/>
        </p:nvSpPr>
        <p:spPr>
          <a:xfrm xmlns:a="http://schemas.openxmlformats.org/drawingml/2006/main">
            <a:off x="1454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E93996C6-4EDF-4594-A367-3E0AC8399A73}"/>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2573C93D-4C8E-4043-810E-C132E28E6DE8}"/>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DF99A39D-0C10-40FE-A31E-78D942620A9D}"/>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[2] debate retirement, nuclear power and a four-day workweek at 0/10/100 excerpts, with five parties, five rounds and no interruptions.</a:t>
            </a:r>
            <a:endParaRPr/>
          </a:p>
        </p:txBody>
      </p:sp>
      <p:sp>
        <p:nvSpPr>
          <p:cNvPr id="83" name="Google Shape;83;p1">
            <a:extLst xmlns:a="http://schemas.openxmlformats.org/drawingml/2006/main">
              <a:ext uri="{FF2B5EF4-FFF2-40B4-BE49-F238E27FC236}">
                <a16:creationId xmlns:a16="http://schemas.microsoft.com/office/drawing/2014/main" id="{F35ADD33-3F3A-41CE-BB7A-BDBC6C2B8A87}"/>
              </a:ext>
            </a:extLst>
          </p:cNvPr>
          <p:cNvSpPr>
            <a:spLocks xmlns:a="http://schemas.openxmlformats.org/drawingml/2006/main" noGrp="1"/>
          </p:cNvSpPr>
          <p:nvPr/>
        </p:nvSpPr>
        <p:spPr>
          <a:xfrm xmlns:a="http://schemas.openxmlformats.org/drawingml/2006/main">
            <a:off x="868680" y="24120000"/>
            <a:ext cx="2007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Baseline:</a:t>
            </a:r>
            <a:r>
              <a:rPr sz="2450" b="0" i="0">
                <a:solidFill>
                  <a:srgbClr val="1F4D36"/>
                </a:solidFill>
                <a:latin typeface="Calibri"/>
                <a:ea typeface="Calibri"/>
                <a:cs typeface="Calibri"/>
              </a:rPr>
              <a:t> More Hansard gives no consistent gain. Qwen consistency falls 3.93 to 3.62 from 0 to 100 excerpts. Relevance endpoints stay at 4.00 (Luna) and 3.98 (Qwen), with disruptive rhetoric near zero (0.00-0.04).</a:t>
            </a:r>
            <a:endParaRPr/>
          </a:p>
        </p:txBody>
      </p:sp>
      <p:sp>
        <p:nvSpPr>
          <p:cNvPr id="84" name="Google Shape;84;p1">
            <a:extLst xmlns:a="http://schemas.openxmlformats.org/drawingml/2006/main">
              <a:ext uri="{FF2B5EF4-FFF2-40B4-BE49-F238E27FC236}">
                <a16:creationId xmlns:a16="http://schemas.microsoft.com/office/drawing/2014/main" id="{09F587B2-870B-439C-82DB-7762171E2840}"/>
              </a:ext>
            </a:extLst>
          </p:cNvPr>
          <p:cNvSpPr>
            <a:spLocks xmlns:a="http://schemas.openxmlformats.org/drawingml/2006/main" noGrp="1"/>
          </p:cNvSpPr>
          <p:nvPr/>
        </p:nvSpPr>
        <p:spPr>
          <a:xfrm xmlns:a="http://schemas.openxmlformats.org/drawingml/2006/main">
            <a:off x="868680" y="25992000"/>
            <a:ext cx="2007864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05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Cooperative points average 9 debates (45 scores). Each strategy point averages all five MPs in one debate. Assignments: retirement/NZ First/derailment, workweek/ACT/straw man, nuclear/Green/procedural. Topic, party and one assigned repeat limit comparison. Dependent Luna ratings lack human validation.</a:t>
            </a:r>
            <a:endParaRPr/>
          </a:p>
        </p:txBody>
      </p:sp>
      <p:sp>
        <p:nvSpPr>
          <p:cNvPr id="85" name="Google Shape;85;p1">
            <a:extLst xmlns:a="http://schemas.openxmlformats.org/drawingml/2006/main">
              <a:ext uri="{FF2B5EF4-FFF2-40B4-BE49-F238E27FC236}">
                <a16:creationId xmlns:a16="http://schemas.microsoft.com/office/drawing/2014/main" id="{608F596B-0495-487C-920F-E50DBF2EC087}"/>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E726200D-1884-4E71-ABA7-F4368FB5037C}"/>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06896BE3-2E4B-46F0-B25F-8A92EDB9E7BE}"/>
              </a:ext>
            </a:extLst>
          </p:cNvPr>
          <p:cNvSpPr>
            <a:spLocks xmlns:a="http://schemas.openxmlformats.org/drawingml/2006/main" noGrp="1"/>
          </p:cNvSpPr>
          <p:nvPr/>
        </p:nvSpPr>
        <p:spPr>
          <a:xfrm xmlns:a="http://schemas.openxmlformats.org/drawingml/2006/main">
            <a:off x="868680" y="27864000"/>
            <a:ext cx="6408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Platform:</a:t>
            </a:r>
            <a:r>
              <a:rPr sz="2150" b="0" i="0">
                <a:solidFill>
                  <a:srgbClr val="1F2A24"/>
                </a:solidFill>
                <a:latin typeface="Calibri"/>
                <a:ea typeface="Calibri"/>
                <a:cs typeface="Calibri"/>
              </a:rPr>
              <a:t> One backend runs private MP agents and saves reproducible public evidence. Baseline scores show no consistent gain from extra Hansard.</a:t>
            </a:r>
            <a:endParaRPr/>
          </a:p>
        </p:txBody>
      </p:sp>
      <p:sp>
        <p:nvSpPr>
          <p:cNvPr id="88" name="Google Shape;88;p1">
            <a:extLst xmlns:a="http://schemas.openxmlformats.org/drawingml/2006/main">
              <a:ext uri="{FF2B5EF4-FFF2-40B4-BE49-F238E27FC236}">
                <a16:creationId xmlns:a16="http://schemas.microsoft.com/office/drawing/2014/main" id="{6CE6254C-F937-4246-A78B-299D5B73A0AD}"/>
              </a:ext>
            </a:extLst>
          </p:cNvPr>
          <p:cNvSpPr>
            <a:spLocks xmlns:a="http://schemas.openxmlformats.org/drawingml/2006/main" noGrp="1"/>
          </p:cNvSpPr>
          <p:nvPr/>
        </p:nvSpPr>
        <p:spPr>
          <a:xfrm xmlns:a="http://schemas.openxmlformats.org/drawingml/2006/main">
            <a:off x="7776000" y="27864000"/>
            <a:ext cx="6300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a:t>
            </a:r>
            <a:r>
              <a:rPr sz="2150" b="0" i="0">
                <a:solidFill>
                  <a:srgbClr val="1F2A24"/>
                </a:solidFill>
                <a:latin typeface="Calibri"/>
                <a:ea typeface="Calibri"/>
                <a:cs typeface="Calibri"/>
              </a:rPr>
              <a:t> Repeat assigned conditions and rotate parties. Human reviewers should assess disruption, reasoning and concessions before wider conclusions.</a:t>
            </a:r>
            <a:endParaRPr/>
          </a:p>
        </p:txBody>
      </p:sp>
      <p:sp>
        <p:nvSpPr>
          <p:cNvPr id="89" name="Google Shape;89;p1">
            <a:extLst xmlns:a="http://schemas.openxmlformats.org/drawingml/2006/main">
              <a:ext uri="{FF2B5EF4-FFF2-40B4-BE49-F238E27FC236}">
                <a16:creationId xmlns:a16="http://schemas.microsoft.com/office/drawing/2014/main" id="{051829F0-B9DC-480F-A379-858CE87A5E71}"/>
              </a:ext>
            </a:extLst>
          </p:cNvPr>
          <p:cNvSpPr>
            <a:spLocks xmlns:a="http://schemas.openxmlformats.org/drawingml/2006/main" noGrp="1"/>
          </p:cNvSpPr>
          <p:nvPr/>
        </p:nvSpPr>
        <p:spPr>
          <a:xfrm xmlns:a="http://schemas.openxmlformats.org/drawingml/2006/main">
            <a:off x="14580000" y="27864000"/>
            <a:ext cx="6372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frontend, live chamber,</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initial CLI and Hansard grounding.</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architecture, agent engine</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and supervisor coordination.</a:t>
            </a:r>
            <a:endParaRPr/>
          </a:p>
        </p:txBody>
      </p:sp>
      <p:sp>
        <p:nvSpPr>
          <p:cNvPr id="90" name="Google Shape;90;p1">
            <a:extLst xmlns:a="http://schemas.openxmlformats.org/drawingml/2006/main">
              <a:ext uri="{FF2B5EF4-FFF2-40B4-BE49-F238E27FC236}">
                <a16:creationId xmlns:a16="http://schemas.microsoft.com/office/drawing/2014/main" id="{4248AB9E-EA0D-4F4A-9809-28B2852F7FC0}"/>
              </a:ext>
            </a:extLst>
          </p:cNvPr>
          <p:cNvSpPr>
            <a:spLocks xmlns:a="http://schemas.openxmlformats.org/drawingml/2006/main" noGrp="1"/>
          </p:cNvSpPr>
          <p:nvPr/>
        </p:nvSpPr>
        <p:spPr>
          <a:xfrm xmlns:a="http://schemas.openxmlformats.org/drawingml/2006/main">
            <a:off x="0" y="29124000"/>
            <a:ext cx="21816000" cy="158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18C823EA-69FE-447A-9747-1F6FF0B05D22}"/>
              </a:ext>
            </a:extLst>
          </p:cNvPr>
          <p:cNvSpPr>
            <a:spLocks xmlns:a="http://schemas.openxmlformats.org/drawingml/2006/main" noGrp="1"/>
          </p:cNvSpPr>
          <p:nvPr/>
        </p:nvSpPr>
        <p:spPr>
          <a:xfrm xmlns:a="http://schemas.openxmlformats.org/drawingml/2006/main">
            <a:off x="868680" y="29412000"/>
            <a:ext cx="842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43EC61F8-DA9C-44EF-8E9C-CBBDDD190DCB}"/>
              </a:ext>
            </a:extLst>
          </p:cNvPr>
          <p:cNvSpPr>
            <a:spLocks xmlns:a="http://schemas.openxmlformats.org/drawingml/2006/main" noGrp="1"/>
          </p:cNvSpPr>
          <p:nvPr/>
        </p:nvSpPr>
        <p:spPr>
          <a:xfrm xmlns:a="http://schemas.openxmlformats.org/drawingml/2006/main">
            <a:off x="868680" y="29844000"/>
            <a:ext cx="8424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[1] Rauh &amp; Schwalbach (2020). ParlSpeech V2.</a:t>
            </a:r>
            <a:br>
              <a:rPr sz="2000" b="0" i="0">
                <a:solidFill>
                  <a:srgbClr val="1F2A24"/>
                </a:solidFill>
                <a:latin typeface="Calibri"/>
                <a:ea typeface="Calibri"/>
                <a:cs typeface="Calibri"/>
              </a:rPr>
            </a:br>
            <a:r>
              <a:rPr sz="2000" b="0" i="0">
                <a:solidFill>
                  <a:srgbClr val="1F2A24"/>
                </a:solidFill>
                <a:latin typeface="Calibri"/>
                <a:ea typeface="Calibri"/>
                <a:cs typeface="Calibri"/>
              </a:rPr>
              <a:t>[</a:t>
            </a:r>
            <a:r>
              <a:rPr sz="2000">
                <a:solidFill>
                  <a:srgbClr val="1F2A24"/>
                </a:solidFill>
                <a:latin typeface="Calibri"/>
                <a:ea typeface="Calibri"/>
                <a:cs typeface="Calibri"/>
              </a:rPr>
              <a:t>2</a:t>
            </a:r>
            <a:r>
              <a:rPr sz="2000" b="0" i="0">
                <a:solidFill>
                  <a:srgbClr val="1F2A24"/>
                </a:solidFill>
                <a:latin typeface="Calibri"/>
                <a:ea typeface="Calibri"/>
                <a:cs typeface="Calibri"/>
              </a:rPr>
              <a:t>] Qwen Team (2025). Qwen3 Technical Report.</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6F676B74-0E91-4AED-8E29-F9DC4C6D38E3}"/>
              </a:ext>
            </a:extLst>
          </p:cNvPr>
          <p:cNvSpPr>
            <a:spLocks xmlns:a="http://schemas.openxmlformats.org/drawingml/2006/main" noGrp="1"/>
          </p:cNvSpPr>
          <p:nvPr/>
        </p:nvSpPr>
        <p:spPr>
          <a:xfrm xmlns:a="http://schemas.openxmlformats.org/drawingml/2006/main">
            <a:off x="9828000" y="29412000"/>
            <a:ext cx="68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494C03BC-02FB-4E75-8DBE-41D21A3465D4}"/>
              </a:ext>
            </a:extLst>
          </p:cNvPr>
          <p:cNvSpPr>
            <a:spLocks xmlns:a="http://schemas.openxmlformats.org/drawingml/2006/main" noGrp="1"/>
          </p:cNvSpPr>
          <p:nvPr/>
        </p:nvSpPr>
        <p:spPr>
          <a:xfrm xmlns:a="http://schemas.openxmlformats.org/drawingml/2006/main">
            <a:off x="9828000" y="29844000"/>
            <a:ext cx="684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a:solidFill>
                  <a:srgbClr val="1F2A24"/>
                </a:solidFill>
                <a:latin typeface="Calibri"/>
                <a:ea typeface="Calibri"/>
                <a:cs typeface="Calibri"/>
              </a:rPr>
              <a:t>Ioannis Ziogas, McCourt School of Public Policy, Georgetown University</a:t>
            </a:r>
            <a:endParaRPr/>
          </a:p>
        </p:txBody>
      </p:sp>
      <p:sp>
        <p:nvSpPr>
          <p:cNvPr id="95" name="Google Shape;95;p1">
            <a:extLst xmlns:a="http://schemas.openxmlformats.org/drawingml/2006/main">
              <a:ext uri="{FF2B5EF4-FFF2-40B4-BE49-F238E27FC236}">
                <a16:creationId xmlns:a16="http://schemas.microsoft.com/office/drawing/2014/main" id="{0C9A9030-08A0-4111-BFCD-7C732A361D9E}"/>
              </a:ext>
            </a:extLst>
          </p:cNvPr>
          <p:cNvSpPr>
            <a:spLocks xmlns:a="http://schemas.openxmlformats.org/drawingml/2006/main" noGrp="1"/>
          </p:cNvSpPr>
          <p:nvPr/>
        </p:nvSpPr>
        <p:spPr>
          <a:xfrm xmlns:a="http://schemas.openxmlformats.org/drawingml/2006/main">
            <a:off x="17064000" y="29412000"/>
            <a:ext cx="3888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CD7F043F-C22A-476D-ADAE-1C67DD38C3D9}"/>
              </a:ext>
            </a:extLst>
          </p:cNvPr>
          <p:cNvSpPr>
            <a:spLocks xmlns:a="http://schemas.openxmlformats.org/drawingml/2006/main" noGrp="1"/>
          </p:cNvSpPr>
          <p:nvPr/>
        </p:nvSpPr>
        <p:spPr>
          <a:xfrm xmlns:a="http://schemas.openxmlformats.org/drawingml/2006/main">
            <a:off x="17064000" y="29844000"/>
            <a:ext cx="3888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F3E7C659-F742-4932-B39A-C37E245B01F1}"/>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Hansard excerpts [1]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21670299-26E1-4747-B875-1490EF66F9B7}"/>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b63328074ee3498c"/>
          </a:graphicData>
        </a:graphic>
      </p:graphicFrame>
      <p:graphicFrame>
        <p:nvGraphicFramePr>
          <p:cNvPr id="99" name="Chart">
            <a:extLst xmlns:a="http://schemas.openxmlformats.org/drawingml/2006/main">
              <a:ext uri="{FF2B5EF4-FFF2-40B4-BE49-F238E27FC236}">
                <a16:creationId xmlns:a16="http://schemas.microsoft.com/office/drawing/2014/main" id="{486CCE87-ECEE-4276-9567-B0E0C19830F5}"/>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cb2bf523811942b1"/>
          </a:graphicData>
        </a:graphic>
      </p:graphicFrame>
      <p:graphicFrame>
        <p:nvGraphicFramePr>
          <p:cNvPr id="100" name="Chart">
            <a:extLst xmlns:a="http://schemas.openxmlformats.org/drawingml/2006/main">
              <a:ext uri="{FF2B5EF4-FFF2-40B4-BE49-F238E27FC236}">
                <a16:creationId xmlns:a16="http://schemas.microsoft.com/office/drawing/2014/main" id="{15E4356C-3577-4FC7-BE4D-0BCE55CBA9AD}"/>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dc78ca55b1384d56"/>
          </a:graphicData>
        </a:graphic>
      </p:graphicFrame>
      <p:sp>
        <p:nvSpPr>
          <p:cNvPr id="101" name="Truncated axis disclosure">
            <a:extLst xmlns:a="http://schemas.openxmlformats.org/drawingml/2006/main">
              <a:ext uri="{FF2B5EF4-FFF2-40B4-BE49-F238E27FC236}">
                <a16:creationId xmlns:a16="http://schemas.microsoft.com/office/drawing/2014/main" id="{EF3D019A-4435-40ED-9D78-00AE8FDB734D}"/>
              </a:ext>
            </a:extLst>
          </p:cNvPr>
          <p:cNvSpPr>
            <a:spLocks xmlns:a="http://schemas.openxmlformats.org/drawingml/2006/main" noGrp="1"/>
          </p:cNvSpPr>
          <p:nvPr/>
        </p:nvSpPr>
        <p:spPr>
          <a:xfrm xmlns:a="http://schemas.openxmlformats.org/drawingml/2006/main">
            <a:off x="868680" y="23724000"/>
            <a:ext cx="2007864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still run from 0 to 4.</a:t>
            </a:r>
          </a:p>
        </p:txBody>
      </p:sp>
      <p:sp>
        <p:nvSpPr>
          <p:cNvPr id="102" name="Adversarial findings">
            <a:extLst xmlns:a="http://schemas.openxmlformats.org/drawingml/2006/main">
              <a:ext uri="{FF2B5EF4-FFF2-40B4-BE49-F238E27FC236}">
                <a16:creationId xmlns:a16="http://schemas.microsoft.com/office/drawing/2014/main" id="{40A2EC94-85F5-4569-8911-7036E131A8A2}"/>
              </a:ext>
            </a:extLst>
          </p:cNvPr>
          <p:cNvSpPr>
            <a:spLocks xmlns:a="http://schemas.openxmlformats.org/drawingml/2006/main" noGrp="1"/>
          </p:cNvSpPr>
          <p:nvPr/>
        </p:nvSpPr>
        <p:spPr>
          <a:xfrm xmlns:a="http://schemas.openxmlformats.org/drawingml/2006/main">
            <a:off x="868680" y="24984000"/>
            <a:ext cx="20078640" cy="82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a:t>
            </a:r>
            <a:r>
              <a:rPr sz="2450" b="0">
                <a:solidFill>
                  <a:srgbClr val="A92F24"/>
                </a:solidFill>
                <a:latin typeface="Calibri"/>
                <a:ea typeface="Calibri"/>
                <a:cs typeface="Calibri"/>
              </a:rPr>
              <a:t> Qwen ACT scores 2/4 for disruptive rhetoric only at 0 excerpts. Matched Qwen Green changes range from -1 to +1, and all assigned Luna MPs score 0. Higher rhetoric means more disruption. Assignment alone does not demonstrate successful disruption.</a:t>
            </a:r>
          </a:p>
        </p:txBody>
      </p:sp>
    </p:spTree>
    <p:extLst>
      <p:ext uri="{BB962C8B-B14F-4D97-AF65-F5344CB8AC3E}">
        <p14:creationId xmlns:p14="http://schemas.microsoft.com/office/powerpoint/2010/main" val="1826488163"/>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2026-10-11T00:13:10.2900000Z</dcterms:created>
  <dcterms:modified xsi:type="dcterms:W3CDTF">2026-10-11T00:13:10.2900000Z</dcterms:modified>
</coreProperties>
</file>