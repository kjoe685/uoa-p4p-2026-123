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65ff1016314d23" /><Relationship Type="http://schemas.openxmlformats.org/officeDocument/2006/relationships/extended-properties" Target="/docProps/app.xml" Id="Rc36e7d3f083344f0" /><Relationship Type="http://schemas.openxmlformats.org/officeDocument/2006/relationships/officeDocument" Target="/ppt/presentation.xml" Id="Rc93b63e90168453c" /></Relationships>
</file>

<file path=ppt/presentation.xml><?xml version="1.0" encoding="utf-8"?>
<p:presentation xmlns:p="http://schemas.openxmlformats.org/presentationml/2006/main">
  <p:sldMasterIdLst>
    <p:sldMasterId xmlns:r="http://schemas.openxmlformats.org/officeDocument/2006/relationships" id="2147483648" r:id="R5851a4a0d6be4b1f"/>
  </p:sldMasterIdLst>
  <p:notesMasterIdLst>
    <p:notesMasterId xmlns:r="http://schemas.openxmlformats.org/officeDocument/2006/relationships" r:id="R03bf29fd0d354303"/>
  </p:notesMasterIdLst>
  <p:sldIdLst>
    <p:sldId xmlns:r="http://schemas.openxmlformats.org/officeDocument/2006/relationships" id="256" r:id="Rfda0683d4b2041b5"/>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bf566d0a01419f" /><Relationship Type="http://schemas.openxmlformats.org/officeDocument/2006/relationships/slideMaster" Target="/ppt/slideMasters/slideMaster1.xml" Id="R5851a4a0d6be4b1f" /><Relationship Type="http://schemas.openxmlformats.org/officeDocument/2006/relationships/notesMaster" Target="/ppt/notesMasters/notesMaster1.xml" Id="R03bf29fd0d354303" /><Relationship Type="http://schemas.openxmlformats.org/officeDocument/2006/relationships/presProps" Target="/ppt/presProps.xml" Id="R369f35c3305c41e4" /><Relationship Type="http://schemas.openxmlformats.org/officeDocument/2006/relationships/tableStyles" Target="/ppt/tableStyles.xml" Id="R678f369ff9a64cae" /><Relationship Type="http://schemas.openxmlformats.org/officeDocument/2006/relationships/slide" Target="/ppt/slides/slide1.xml" Id="Rfda0683d4b2041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6f596717a584b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6ec066f5b44a30" /><Relationship Type="http://schemas.openxmlformats.org/officeDocument/2006/relationships/notesMaster" Target="/ppt/notesMasters/notesMaster1.xml" Id="Rdf2ed5c309d741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Reference [1]: Du, Y., Li, S., Torralba, A., Tenenbaum, J. B., and Mordatch, I. (2024). Improving Factuality and Reasoning in Language Models through Multiagent Debate. ICML 2024, Proceedings of Machine Learning Research 235:11733-11763. https://proceedings.mlr.press/v235/du24e.html . This paper supports the specific background statement that multi-agent debate has been studied to improve reasoning; it does not establish that most AI debate research has the same focus. Reference [2]: Rauh and Schwalbach (2020), ParlSpeech V2, retains the supplied Hansard-source attribution. The supplied Qwen attribution, Qwen Team (2025), Qwen3 Technical Report, remains original-source context rather than support for that debate-literature claim.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in the single cooperative series per model. Each cooperative point averages 45 party/topic ratings from 9 debates, covering three topics and three repetitions. Consistency, logical reasoning and responsiveness retain separate 0-4 rubric score scales. The displayed vertical axes are truncated: consistency 3.5-4.1 at 0.1 intervals, reasoning 1.5-3.5 at 0.5 intervals, responsiveness 2.0-4.1 at 0.5 intervals. Explicit decimal labels and boundary headroom keep markers readable.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has exactly eight series: cooperative plus topic derailment, straw man and procedural manipulation for each model. Luna uses green shades and Qwen blue shades. Cooperative lines are solid and each strategy line dashed. All markers have opaque coloured fills, with circle/triangle/square/diamond identifying the four conditions. There is no separate all-baselines or pooled-adversarial series. Some curves coincide exactly, particularly consistency and Luna reasoning. Each strategy point averages all five MPs in one assigned debate: five participant/topic metric scores and 25 speeches. The assignment is one MP with four NONE MPs. These are full-debate condition means, not only the assigned actor. Because the single cooperative reference pools the three topics and three repetitions while each strategy is tied to one topic/party/first repetition, the graph is descriptive rather than a matched causal-effect comparison. The separate matched CSV evidence remains retained.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with a consistent evaluation prompt. Topic, tactic and assigned party are confounded, with a single assigned repetition. Ratings within each debate are dependent, and no human validation is provided. The descriptive findings refer to the displayed full-debate means: Luna reasoning 2.9778-3.0667 in cooperative debates and 3.0 in each assigned condition; Qwen strategy reasoning 2.0-2.8; Luna procedural responsiveness 3.2, 3.8, 4.0 at 0, 10, 100 excerpts. No causal effect, significance, successful tactic enactment, model availability or adversarial-robustness claim follows. Sentiment and stance remain separate from rubric scores.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042385cba024b29"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0c0d7466a54c72" /><Relationship Type="http://schemas.openxmlformats.org/officeDocument/2006/relationships/slideLayout" Target="/ppt/slideLayouts/slideLayout1.xml" Id="Rd0d04f42688c417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0d04f42688c4172"/>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4f01408ebb499b" /><Relationship Type="http://schemas.openxmlformats.org/officeDocument/2006/relationships/image" Target="/ppt/media/image.png" Id="Rdc7b61144b64458f" /><Relationship Type="http://schemas.openxmlformats.org/officeDocument/2006/relationships/image" Target="/ppt/media/image2.png" Id="R0e16b631c86f402e" /><Relationship Type="http://schemas.openxmlformats.org/officeDocument/2006/relationships/chart" Target="/ppt/slides/charts/chart1.xml" Id="R1a545bb584fc4460" /><Relationship Type="http://schemas.openxmlformats.org/officeDocument/2006/relationships/chart" Target="/ppt/slides/charts/chart2.xml" Id="Rf9e04c6663274612" /><Relationship Type="http://schemas.openxmlformats.org/officeDocument/2006/relationships/chart" Target="/ppt/slides/charts/chart3.xml" Id="R018bd2c5ca7a4334" /><Relationship Type="http://schemas.openxmlformats.org/officeDocument/2006/relationships/notesSlide" Target="/ppt/notesSlides/notesSlide1.xml" Id="R629746a1bc5949e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4</c:v>
                </c:pt>
                <c:pt idx="1">
                  <c:v>4</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3.93333333333333</c:v>
                </c:pt>
                <c:pt idx="1">
                  <c:v>3.91111111111111</c:v>
                </c:pt>
                <c:pt idx="2">
                  <c:v>3.62222222222222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4</c:v>
                </c:pt>
                <c:pt idx="1">
                  <c:v>4</c:v>
                </c:pt>
                <c:pt idx="2">
                  <c:v>4</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4</c:v>
                </c:pt>
                <c:pt idx="1">
                  <c:v>4</c:v>
                </c:pt>
                <c:pt idx="2">
                  <c:v>4</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3.6</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c:v>
                </c:pt>
                <c:pt idx="1">
                  <c:v>3</c:v>
                </c:pt>
                <c:pt idx="2">
                  <c:v>3</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2.64444444444444</c:v>
                </c:pt>
                <c:pt idx="1">
                  <c:v>2.66666666666667</c:v>
                </c:pt>
                <c:pt idx="2">
                  <c:v>2.62222222222222</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2.2</c:v>
                </c:pt>
                <c:pt idx="1">
                  <c:v>2.8</c:v>
                </c:pt>
                <c:pt idx="2">
                  <c:v>2</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2.6</c:v>
                </c:pt>
                <c:pt idx="1">
                  <c:v>2</c:v>
                </c:pt>
                <c:pt idx="2">
                  <c:v>2.6</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2.8</c:v>
                </c:pt>
                <c:pt idx="1">
                  <c:v>2.8</c:v>
                </c:pt>
                <c:pt idx="2">
                  <c:v>2.4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1.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cooperative</c:v>
          </c:tx>
          <c:spPr>
            <a:ln xmlns:a="http://schemas.openxmlformats.org/drawingml/2006/main" w="38100">
              <a:solidFill>
                <a:srgbClr val="1F4D36"/>
              </a:solidFill>
              <a:prstDash val="solid"/>
            </a:ln>
          </c:spPr>
          <c:marker>
            <c:symbol val="circle"/>
            <c:size val="10"/>
            <c:spPr>
              <a:solidFill xmlns:a="http://schemas.openxmlformats.org/drawingml/2006/main">
                <a:srgbClr val="1F4D36"/>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derailment</c:v>
          </c:tx>
          <c:spPr>
            <a:ln xmlns:a="http://schemas.openxmlformats.org/drawingml/2006/main" w="28575">
              <a:solidFill>
                <a:srgbClr val="2B7340"/>
              </a:solidFill>
              <a:prstDash val="dash"/>
            </a:ln>
          </c:spPr>
          <c:marker>
            <c:symbol val="triangle"/>
            <c:size val="10"/>
            <c:spPr>
              <a:solidFill xmlns:a="http://schemas.openxmlformats.org/drawingml/2006/main">
                <a:srgbClr val="2B7340"/>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3.6</c:v>
                </c:pt>
                <c:pt idx="1">
                  <c:v>4</c:v>
                </c:pt>
                <c:pt idx="2">
                  <c:v>3</c:v>
                </c:pt>
              </c:numCache>
            </c:numRef>
          </c:val>
          <c:smooth val="0"/>
        </c:ser>
        <c:ser>
          <c:idx val="2"/>
          <c:order val="2"/>
          <c:tx>
            <c:v>Luna: straw man</c:v>
          </c:tx>
          <c:spPr>
            <a:ln xmlns:a="http://schemas.openxmlformats.org/drawingml/2006/main" w="28575">
              <a:solidFill>
                <a:srgbClr val="327C66"/>
              </a:solidFill>
              <a:prstDash val="dash"/>
            </a:ln>
          </c:spPr>
          <c:marker>
            <c:symbol val="square"/>
            <c:size val="10"/>
            <c:spPr>
              <a:solidFill xmlns:a="http://schemas.openxmlformats.org/drawingml/2006/main">
                <a:srgbClr val="327C66"/>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Luna: procedural</c:v>
          </c:tx>
          <c:spPr>
            <a:ln xmlns:a="http://schemas.openxmlformats.org/drawingml/2006/main" w="28575">
              <a:solidFill>
                <a:srgbClr val="607C2D"/>
              </a:solidFill>
              <a:prstDash val="dash"/>
            </a:ln>
          </c:spPr>
          <c:marker>
            <c:symbol val="diamond"/>
            <c:size val="10"/>
            <c:spPr>
              <a:solidFill xmlns:a="http://schemas.openxmlformats.org/drawingml/2006/main">
                <a:srgbClr val="607C2D"/>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3.2</c:v>
                </c:pt>
                <c:pt idx="1">
                  <c:v>3.8</c:v>
                </c:pt>
                <c:pt idx="2">
                  <c:v>4</c:v>
                </c:pt>
              </c:numCache>
            </c:numRef>
          </c:val>
          <c:smooth val="0"/>
        </c:ser>
        <c:ser>
          <c:idx val="4"/>
          <c:order val="4"/>
          <c:tx>
            <c:v>Qwen: cooperative</c:v>
          </c:tx>
          <c:spPr>
            <a:ln xmlns:a="http://schemas.openxmlformats.org/drawingml/2006/main" w="38100">
              <a:solidFill>
                <a:srgbClr val="1E4F9B"/>
              </a:solidFill>
              <a:prstDash val="solid"/>
            </a:ln>
          </c:spPr>
          <c:marker>
            <c:symbol val="circle"/>
            <c:size val="10"/>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2.66666666666667</c:v>
                </c:pt>
                <c:pt idx="1">
                  <c:v>2.68888888888889</c:v>
                </c:pt>
                <c:pt idx="2">
                  <c:v>2.71111111111111</c:v>
                </c:pt>
              </c:numCache>
            </c:numRef>
          </c:val>
          <c:smooth val="0"/>
        </c:ser>
        <c:ser>
          <c:idx val="5"/>
          <c:order val="5"/>
          <c:tx>
            <c:v>Qwen: derailment</c:v>
          </c:tx>
          <c:spPr>
            <a:ln xmlns:a="http://schemas.openxmlformats.org/drawingml/2006/main" w="28575">
              <a:solidFill>
                <a:srgbClr val="256CAE"/>
              </a:solidFill>
              <a:prstDash val="dash"/>
            </a:ln>
          </c:spPr>
          <c:marker>
            <c:symbol val="triangle"/>
            <c:size val="10"/>
            <c:spPr>
              <a:solidFill xmlns:a="http://schemas.openxmlformats.org/drawingml/2006/main">
                <a:srgbClr val="256CAE"/>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c:v>
                </c:pt>
                <c:pt idx="1">
                  <c:v>2.8</c:v>
                </c:pt>
                <c:pt idx="2">
                  <c:v>3</c:v>
                </c:pt>
              </c:numCache>
            </c:numRef>
          </c:val>
          <c:smooth val="0"/>
        </c:ser>
        <c:ser>
          <c:idx val="6"/>
          <c:order val="6"/>
          <c:tx>
            <c:v>Qwen: straw man</c:v>
          </c:tx>
          <c:spPr>
            <a:ln xmlns:a="http://schemas.openxmlformats.org/drawingml/2006/main" w="28575">
              <a:solidFill>
                <a:srgbClr val="4759A8"/>
              </a:solidFill>
              <a:prstDash val="dash"/>
            </a:ln>
          </c:spPr>
          <c:marker>
            <c:symbol val="square"/>
            <c:size val="10"/>
            <c:spPr>
              <a:solidFill xmlns:a="http://schemas.openxmlformats.org/drawingml/2006/main">
                <a:srgbClr val="4759A8"/>
              </a:solidFill>
            </c:spPr>
          </c:marker>
          <c:cat>
            <c:numRef>
              <c:f>'Chart Data'!$M$2:$M$4</c:f>
              <c:numCache>
                <c:formatCode>General</c:formatCode>
                <c:ptCount val="3"/>
                <c:pt idx="0">
                  <c:v>0</c:v>
                </c:pt>
                <c:pt idx="1">
                  <c:v>10</c:v>
                </c:pt>
                <c:pt idx="2">
                  <c:v>100</c:v>
                </c:pt>
              </c:numCache>
            </c:numRef>
          </c:cat>
          <c:val>
            <c:numRef>
              <c:f>'Chart Data'!$N$2:$N$4</c:f>
              <c:numCache>
                <c:formatCode>0.0</c:formatCode>
                <c:ptCount val="3"/>
                <c:pt idx="0">
                  <c:v>2.8</c:v>
                </c:pt>
                <c:pt idx="1">
                  <c:v>2.4</c:v>
                </c:pt>
                <c:pt idx="2">
                  <c:v>3</c:v>
                </c:pt>
              </c:numCache>
            </c:numRef>
          </c:val>
          <c:smooth val="0"/>
        </c:ser>
        <c:ser>
          <c:idx val="7"/>
          <c:order val="7"/>
          <c:tx>
            <c:v>Qwen: procedural</c:v>
          </c:tx>
          <c:spPr>
            <a:ln xmlns:a="http://schemas.openxmlformats.org/drawingml/2006/main" w="28575">
              <a:solidFill>
                <a:srgbClr val="397FBC"/>
              </a:solidFill>
              <a:prstDash val="dash"/>
            </a:ln>
          </c:spPr>
          <c:marker>
            <c:symbol val="diamond"/>
            <c:size val="10"/>
            <c:spPr>
              <a:solidFill xmlns:a="http://schemas.openxmlformats.org/drawingml/2006/main">
                <a:srgbClr val="397FBC"/>
              </a:solidFill>
            </c:spPr>
          </c:marker>
          <c:cat>
            <c:numRef>
              <c:f>'Chart Data'!$O$2:$O$4</c:f>
              <c:numCache>
                <c:formatCode>General</c:formatCode>
                <c:ptCount val="3"/>
                <c:pt idx="0">
                  <c:v>0</c:v>
                </c:pt>
                <c:pt idx="1">
                  <c:v>10</c:v>
                </c:pt>
                <c:pt idx="2">
                  <c:v>100</c:v>
                </c:pt>
              </c:numCache>
            </c:numRef>
          </c:cat>
          <c:val>
            <c:numRef>
              <c:f>'Chart Data'!$P$2:$P$4</c:f>
              <c:numCache>
                <c:formatCode>0.0</c:formatCode>
                <c:ptCount val="3"/>
                <c:pt idx="0">
                  <c:v>3</c:v>
                </c:pt>
                <c:pt idx="1">
                  <c:v>2.6</c:v>
                </c:pt>
                <c:pt idx="2">
                  <c:v>2.8</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0E803C8B-AD71-4B29-90E5-5D8687113496}"/>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8798AAF1-BFCE-4B9E-A632-83C20EE5BE42}"/>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DE9E3020-B776-40B0-8E06-62BB926E1F90}"/>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EB8C7637-22EA-43A2-9D68-50B86C424265}"/>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FE7BBA62-AAB5-481D-9590-DA5F5FEC2258}"/>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839C615E-629F-4722-A1D5-5DD72FC47C7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c7b61144b64458f">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3B073F28-DB91-4856-880C-74B1EFAB948E}"/>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81E4AA61-B07D-41EF-BF6A-3627494D9805}"/>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2997F4E3-6B83-4038-B3C9-20C7312C740B}"/>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49248C47-5912-4785-9306-2B3642C54A54}"/>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disruptive agents</a:t>
            </a:r>
            <a:endParaRPr/>
          </a:p>
        </p:txBody>
      </p:sp>
      <p:sp>
        <p:nvSpPr>
          <p:cNvPr id="31" name="Google Shape;31;p1">
            <a:extLst xmlns:a="http://schemas.openxmlformats.org/drawingml/2006/main">
              <a:ext uri="{FF2B5EF4-FFF2-40B4-BE49-F238E27FC236}">
                <a16:creationId xmlns:a16="http://schemas.microsoft.com/office/drawing/2014/main" id="{939D1882-4E98-4CE4-9E68-DF19187DCA73}"/>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68491797-A1E6-4323-8843-3BDB872F13E6}"/>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90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900"/>
              <a:buFont typeface="Calibri"/>
              <a:buNone/>
              <a:defRPr sz="2900" b="0" i="0">
                <a:solidFill>
                  <a:srgbClr val="1F2A24"/>
                </a:solidFill>
                <a:latin typeface="Calibri"/>
                <a:ea typeface="Calibri"/>
                <a:cs typeface="Calibri"/>
              </a:defRPr>
            </a:pPr>
            <a:r>
              <a:rPr sz="2900" b="0" i="0">
                <a:solidFill>
                  <a:srgbClr val="1F2A24"/>
                </a:solidFill>
                <a:latin typeface="Calibri"/>
                <a:ea typeface="Calibri"/>
                <a:cs typeface="Calibri"/>
              </a:rPr>
              <a:t>Real MPs can derail debate, distort claims and exploit procedure. AI multi-agent debate has been studied to improve reasoning [1]. We built a virtual NZ House of AI MPs, then privately tasked some with sabotage and tested the effects of grounding agents with Hansard.</a:t>
            </a:r>
            <a:endParaRPr/>
          </a:p>
        </p:txBody>
      </p:sp>
      <p:sp>
        <p:nvSpPr>
          <p:cNvPr id="33" name="Google Shape;33;p1">
            <a:extLst xmlns:a="http://schemas.openxmlformats.org/drawingml/2006/main">
              <a:ext uri="{FF2B5EF4-FFF2-40B4-BE49-F238E27FC236}">
                <a16:creationId xmlns:a16="http://schemas.microsoft.com/office/drawing/2014/main" id="{7DAA100F-FF4D-43EA-91D2-9A5C327FFC51}"/>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A711A9A1-1E53-44DB-83FD-2C4C174881F4}"/>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A7FA1D2C-FD62-4F4D-96FC-DC7FE5461A57}"/>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890C860D-79BE-4586-BC1B-87E49C1B2EE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e16b631c86f402e">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36131135-C6D9-4E01-B774-6659CE01B8E6}"/>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D6865504-3B20-4845-9C1C-A6B7A2F88F6C}"/>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6484BD52-F443-4775-926B-8698EE378741}"/>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8CECE472-CE55-4668-A93A-CB9CEE425633}"/>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AFBD558A-6776-47F8-A571-3560411925D0}"/>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8D5986D7-3156-423F-AA9B-B2F17463BD2D}"/>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7FA8F583-DB1A-4180-B2D4-2DE55B5C5D62}"/>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A0911BC2-D458-4552-81FE-4FD37A0893B2}"/>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56615B"/>
                </a:solidFill>
                <a:latin typeface="Calibri"/>
                <a:ea typeface="Calibri"/>
                <a:cs typeface="Calibri"/>
              </a:defRPr>
            </a:pPr>
            <a:r>
              <a:rPr sz="2450" b="0" i="0">
                <a:solidFill>
                  <a:srgbClr val="56615B"/>
                </a:solidFill>
                <a:latin typeface="Calibri"/>
                <a:ea typeface="Calibri"/>
                <a:cs typeface="Calibri"/>
              </a:rPr>
              <a:t>Speakers are highlighted when speaking.</a:t>
            </a:r>
            <a:endParaRPr/>
          </a:p>
        </p:txBody>
      </p:sp>
      <p:sp>
        <p:nvSpPr>
          <p:cNvPr id="45" name="Google Shape;45;p1">
            <a:extLst xmlns:a="http://schemas.openxmlformats.org/drawingml/2006/main">
              <a:ext uri="{FF2B5EF4-FFF2-40B4-BE49-F238E27FC236}">
                <a16:creationId xmlns:a16="http://schemas.microsoft.com/office/drawing/2014/main" id="{C5F7E49C-2FEA-4091-A86C-B145FE68531D}"/>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CF343444-6AE3-4DC0-8DA3-1166D627160C}"/>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AAFA3D95-94CE-4BF1-8766-38FCBDAF5C15}"/>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510855BA-4156-4988-82C1-640F2A69FF21}"/>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86A93106-E26B-4D33-B9E6-62A09813377E}"/>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573BD167-64CB-448B-BC86-FF5473A37E46}"/>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EBB83B5F-1B1F-4423-9500-E66E138A5ED2}"/>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353FF8BD-CE21-47EB-B264-9BA18C64575F}"/>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F607FC33-A131-4C60-9B8E-139793FCD84E}"/>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21385611-9DB8-46CA-A074-3F74086839AB}"/>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748249D3-4FEB-48CC-A727-287723DFB4F2}"/>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EE71392A-5736-4164-8D8F-5DC0C7BC82ED}"/>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Public JSON and text exports support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defRPr sz="2450" b="0" i="0">
                <a:solidFill>
                  <a:srgbClr val="1F2A24"/>
                </a:solidFill>
                <a:latin typeface="Calibri"/>
                <a:ea typeface="Calibri"/>
                <a:cs typeface="Calibri"/>
              </a:defRPr>
            </a:pPr>
            <a:r>
              <a:rPr sz="2450" b="0" i="0">
                <a:solidFill>
                  <a:srgbClr val="1F2A24"/>
                </a:solidFill>
                <a:latin typeface="Calibri"/>
                <a:ea typeface="Calibri"/>
                <a:cs typeface="Calibri"/>
              </a:rPr>
              <a:t>sentiment/stance analysis and separate rubric scores.</a:t>
            </a:r>
            <a:endParaRPr/>
          </a:p>
        </p:txBody>
      </p:sp>
      <p:sp>
        <p:nvSpPr>
          <p:cNvPr id="57" name="Google Shape;57;p1">
            <a:extLst xmlns:a="http://schemas.openxmlformats.org/drawingml/2006/main">
              <a:ext uri="{FF2B5EF4-FFF2-40B4-BE49-F238E27FC236}">
                <a16:creationId xmlns:a16="http://schemas.microsoft.com/office/drawing/2014/main" id="{FD52AA48-DCD8-49CA-9925-B2B376C6389E}"/>
              </a:ext>
            </a:extLst>
          </p:cNvPr>
          <p:cNvSpPr>
            <a:spLocks xmlns:a="http://schemas.openxmlformats.org/drawingml/2006/main" noGrp="1"/>
          </p:cNvSpPr>
          <p:nvPr/>
        </p:nvSpPr>
        <p:spPr>
          <a:xfrm xmlns:a="http://schemas.openxmlformats.org/drawingml/2006/main">
            <a:off x="868680" y="11880000"/>
            <a:ext cx="11160000" cy="7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Fig. 1 A demonstration sitting with a National straw-man assigned adversarial agent.</a:t>
            </a:r>
            <a:endParaRPr sz="2100" i="1">
              <a:solidFill>
                <a:srgbClr val="56615B"/>
              </a:solidFill>
              <a:latin typeface="Calibri"/>
              <a:ea typeface="Calibri"/>
              <a:cs typeface="Calibri"/>
            </a:endParaRPr>
          </a:p>
          <a:p xmlns:a="http://schemas.openxmlformats.org/drawingml/2006/main">
            <a:pPr marL="0" marR="0" lvl="0" indent="0" algn="l">
              <a:lnSpc>
                <a:spcPct val="102000"/>
              </a:lnSpc>
              <a:spcBef>
                <a:spcPts val="0"/>
              </a:spcBef>
              <a:spcAft>
                <a:spcPts val="0"/>
              </a:spcAft>
              <a:buClr>
                <a:srgbClr val="56615B"/>
              </a:buClr>
              <a:buSzPts val="210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Web browser, guided command, and terminal interfaces all connect to the debate engine backend.</a:t>
            </a:r>
            <a:endParaRPr/>
          </a:p>
        </p:txBody>
      </p:sp>
      <p:sp>
        <p:nvSpPr>
          <p:cNvPr id="58" name="Google Shape;58;p1">
            <a:extLst xmlns:a="http://schemas.openxmlformats.org/drawingml/2006/main">
              <a:ext uri="{FF2B5EF4-FFF2-40B4-BE49-F238E27FC236}">
                <a16:creationId xmlns:a16="http://schemas.microsoft.com/office/drawing/2014/main" id="{C2F7B9BD-2577-4ABF-A8B3-DB12A322A58E}"/>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E4FEFCA1-9E54-4288-B2EC-33B7052B8669}"/>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8EC8A83A-B188-4653-838A-4DCADDDD0664}"/>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634EB15C-0309-4544-A3A9-687BEF711004}"/>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0B45AFCC-BF20-44F4-B535-2CE57F9CEB6A}"/>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96ECB740-9C2F-4A23-AF5D-2624446A6E6D}"/>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1BB357ED-8A55-4D1F-9315-5EAC1DA01638}"/>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463A33CA-4DB3-4D80-B6D3-826C8947A613}"/>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66D7FEC9-A3FF-47D9-80E0-0CB712BE9ED1}"/>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AB551A9A-B185-4002-BC28-340871139FCB}"/>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836FB57F-BB5E-40BE-979D-5DF29F59133E}"/>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C09FD206-D79F-4E06-AE7C-138F91088450}"/>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4C951973-ED17-4328-B13C-95FFFDE75512}"/>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8015952F-C48F-46E6-9722-BC9553E09609}"/>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8F45A9FC-F4C5-4CEE-B5D5-57DC190F10E1}"/>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9050">
            <a:solidFill>
              <a:srgbClr val="8C9E92"/>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EE5A9471-E6DE-4408-9C15-5279E4B20D4B}"/>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38ABC2CE-D295-40E4-9EC4-128D6FF14983}"/>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4EE62F27-72A6-4380-8BB5-98D74BB0165A}"/>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7A4855AE-0E06-4BE7-8A74-8B38668CA1D2}"/>
              </a:ext>
            </a:extLst>
          </p:cNvPr>
          <p:cNvSpPr>
            <a:spLocks xmlns:a="http://schemas.openxmlformats.org/drawingml/2006/main" noGrp="1"/>
          </p:cNvSpPr>
          <p:nvPr/>
        </p:nvSpPr>
        <p:spPr>
          <a:xfrm xmlns:a="http://schemas.openxmlformats.org/drawingml/2006/main">
            <a:off x="187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2E9BCD61-93CE-4D78-A722-05C7D61BC809}"/>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9FCC2E7A-071A-47F8-9408-99ADAFE143B5}"/>
              </a:ext>
            </a:extLst>
          </p:cNvPr>
          <p:cNvSpPr>
            <a:spLocks xmlns:a="http://schemas.openxmlformats.org/drawingml/2006/main" noGrp="1"/>
          </p:cNvSpPr>
          <p:nvPr/>
        </p:nvSpPr>
        <p:spPr>
          <a:xfrm xmlns:a="http://schemas.openxmlformats.org/drawingml/2006/main">
            <a:off x="871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350" b="0" i="0">
                <a:solidFill>
                  <a:srgbClr val="1F2A24"/>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885BD38C-7AB4-4B9F-AF95-3336127C57CA}"/>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011C93A7-C828-427C-A256-09759EACF179}"/>
              </a:ext>
            </a:extLst>
          </p:cNvPr>
          <p:cNvSpPr>
            <a:spLocks xmlns:a="http://schemas.openxmlformats.org/drawingml/2006/main" noGrp="1"/>
          </p:cNvSpPr>
          <p:nvPr/>
        </p:nvSpPr>
        <p:spPr>
          <a:xfrm xmlns:a="http://schemas.openxmlformats.org/drawingml/2006/main">
            <a:off x="15552000" y="17208000"/>
            <a:ext cx="439200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ctr">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E28A1E85-FCBA-4EBC-8E1D-EAF8F6CF2B35}"/>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9FD822C4-E1ED-46E5-9FAD-5115502EEA6E}"/>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140ABB58-13CB-4E57-B930-E92CFFA766DA}"/>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debate retirement, nuclear power and a four-day workweek at 0/10/100 excerpts, with five parties, five rounds and no interjections.</a:t>
            </a:r>
            <a:endParaRPr/>
          </a:p>
        </p:txBody>
      </p:sp>
      <p:sp>
        <p:nvSpPr>
          <p:cNvPr id="83" name="Google Shape;83;p1">
            <a:extLst xmlns:a="http://schemas.openxmlformats.org/drawingml/2006/main">
              <a:ext uri="{FF2B5EF4-FFF2-40B4-BE49-F238E27FC236}">
                <a16:creationId xmlns:a16="http://schemas.microsoft.com/office/drawing/2014/main" id="{9F778AA0-93AC-46B0-AC92-50EC88C31FB8}"/>
              </a:ext>
            </a:extLst>
          </p:cNvPr>
          <p:cNvSpPr>
            <a:spLocks xmlns:a="http://schemas.openxmlformats.org/drawingml/2006/main" noGrp="1"/>
          </p:cNvSpPr>
          <p:nvPr/>
        </p:nvSpPr>
        <p:spPr>
          <a:xfrm xmlns:a="http://schemas.openxmlformats.org/drawingml/2006/main">
            <a:off x="868680" y="24588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Co-operative agents:</a:t>
            </a:r>
            <a:r>
              <a:rPr sz="2450" b="0" i="0">
                <a:solidFill>
                  <a:srgbClr val="1F4D36"/>
                </a:solidFill>
                <a:latin typeface="Calibri"/>
                <a:ea typeface="Calibri"/>
                <a:cs typeface="Calibri"/>
              </a:rPr>
              <a:t> Consistency stays high, but Qwen falls from 3.93 to 3.62. Luna's reasoning stays near 3.0; Qwen's stays between 2.62 and 2.67. Responsiveness changes little for either model. More Hansard gives no consistent gain.</a:t>
            </a:r>
            <a:endParaRPr/>
          </a:p>
        </p:txBody>
      </p:sp>
      <p:sp>
        <p:nvSpPr>
          <p:cNvPr id="85" name="Google Shape;85;p1">
            <a:extLst xmlns:a="http://schemas.openxmlformats.org/drawingml/2006/main">
              <a:ext uri="{FF2B5EF4-FFF2-40B4-BE49-F238E27FC236}">
                <a16:creationId xmlns:a16="http://schemas.microsoft.com/office/drawing/2014/main" id="{E1D72F47-A83B-425E-949D-1255353B5C93}"/>
              </a:ext>
            </a:extLst>
          </p:cNvPr>
          <p:cNvSpPr>
            <a:spLocks xmlns:a="http://schemas.openxmlformats.org/drawingml/2006/main" noGrp="1"/>
          </p:cNvSpPr>
          <p:nvPr/>
        </p:nvSpPr>
        <p:spPr>
          <a:xfrm xmlns:a="http://schemas.openxmlformats.org/drawingml/2006/main">
            <a:off x="868680" y="26460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4F56D302-ACFB-420C-AC31-508F18D35C81}"/>
              </a:ext>
            </a:extLst>
          </p:cNvPr>
          <p:cNvSpPr>
            <a:spLocks xmlns:a="http://schemas.openxmlformats.org/drawingml/2006/main" noGrp="1"/>
          </p:cNvSpPr>
          <p:nvPr/>
        </p:nvSpPr>
        <p:spPr>
          <a:xfrm xmlns:a="http://schemas.openxmlformats.org/drawingml/2006/main">
            <a:off x="1836000" y="26406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4630F3FF-FE8C-41DA-B27C-38A874011AD7}"/>
              </a:ext>
            </a:extLst>
          </p:cNvPr>
          <p:cNvSpPr>
            <a:spLocks xmlns:a="http://schemas.openxmlformats.org/drawingml/2006/main" noGrp="1"/>
          </p:cNvSpPr>
          <p:nvPr/>
        </p:nvSpPr>
        <p:spPr>
          <a:xfrm xmlns:a="http://schemas.openxmlformats.org/drawingml/2006/main">
            <a:off x="1548000" y="27432000"/>
            <a:ext cx="5040000" cy="16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Outcomes:</a:t>
            </a:r>
            <a:r>
              <a:rPr sz="2150" b="0" i="0">
                <a:solidFill>
                  <a:srgbClr val="1F2A24"/>
                </a:solidFill>
                <a:latin typeface="Calibri"/>
                <a:ea typeface="Calibri"/>
                <a:cs typeface="Calibri"/>
              </a:rPr>
              <a:t> An AI debate engine with replaceable components and a browser-based frontend.</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We found no consistent gain in performance metrics from extra Hansard excerpts.</a:t>
            </a:r>
            <a:endParaRPr/>
          </a:p>
        </p:txBody>
      </p:sp>
      <p:sp>
        <p:nvSpPr>
          <p:cNvPr id="88" name="Google Shape;88;p1">
            <a:extLst xmlns:a="http://schemas.openxmlformats.org/drawingml/2006/main">
              <a:ext uri="{FF2B5EF4-FFF2-40B4-BE49-F238E27FC236}">
                <a16:creationId xmlns:a16="http://schemas.microsoft.com/office/drawing/2014/main" id="{B1A670B9-8D2C-42D9-AC20-58073B5CDE7B}"/>
              </a:ext>
            </a:extLst>
          </p:cNvPr>
          <p:cNvSpPr>
            <a:spLocks xmlns:a="http://schemas.openxmlformats.org/drawingml/2006/main" noGrp="1"/>
          </p:cNvSpPr>
          <p:nvPr/>
        </p:nvSpPr>
        <p:spPr>
          <a:xfrm xmlns:a="http://schemas.openxmlformats.org/drawingml/2006/main">
            <a:off x="8388000" y="27432000"/>
            <a:ext cx="5040000" cy="16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 Steps:</a:t>
            </a:r>
            <a:r>
              <a:rPr sz="2150" b="0" i="0">
                <a:solidFill>
                  <a:srgbClr val="1F2A24"/>
                </a:solidFill>
                <a:latin typeface="Calibri"/>
                <a:ea typeface="Calibri"/>
                <a:cs typeface="Calibri"/>
              </a:rPr>
              <a:t> Expand testing with more providers and higher-performance language models.</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Host the web browser platform on a server accessible through the internet.</a:t>
            </a:r>
            <a:endParaRPr/>
          </a:p>
        </p:txBody>
      </p:sp>
      <p:sp>
        <p:nvSpPr>
          <p:cNvPr id="89" name="Google Shape;89;p1">
            <a:extLst xmlns:a="http://schemas.openxmlformats.org/drawingml/2006/main">
              <a:ext uri="{FF2B5EF4-FFF2-40B4-BE49-F238E27FC236}">
                <a16:creationId xmlns:a16="http://schemas.microsoft.com/office/drawing/2014/main" id="{706707B8-9548-4938-9C52-35F5B5AEF9B2}"/>
              </a:ext>
            </a:extLst>
          </p:cNvPr>
          <p:cNvSpPr>
            <a:spLocks xmlns:a="http://schemas.openxmlformats.org/drawingml/2006/main" noGrp="1"/>
          </p:cNvSpPr>
          <p:nvPr/>
        </p:nvSpPr>
        <p:spPr>
          <a:xfrm xmlns:a="http://schemas.openxmlformats.org/drawingml/2006/main">
            <a:off x="15228000" y="27432000"/>
            <a:ext cx="5040000" cy="169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 frontend, live chamber, initial CLI and Hansard grounding.</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 engine, architecture and</a:t>
            </a:r>
            <a:endParaRPr/>
          </a:p>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supervisor coordination.</a:t>
            </a:r>
            <a:endParaRPr/>
          </a:p>
        </p:txBody>
      </p:sp>
      <p:sp>
        <p:nvSpPr>
          <p:cNvPr id="90" name="Google Shape;90;p1">
            <a:extLst xmlns:a="http://schemas.openxmlformats.org/drawingml/2006/main">
              <a:ext uri="{FF2B5EF4-FFF2-40B4-BE49-F238E27FC236}">
                <a16:creationId xmlns:a16="http://schemas.microsoft.com/office/drawing/2014/main" id="{3527BF53-8827-4EBD-931A-3FFDE944B083}"/>
              </a:ext>
            </a:extLst>
          </p:cNvPr>
          <p:cNvSpPr>
            <a:spLocks xmlns:a="http://schemas.openxmlformats.org/drawingml/2006/main" noGrp="1"/>
          </p:cNvSpPr>
          <p:nvPr/>
        </p:nvSpPr>
        <p:spPr>
          <a:xfrm xmlns:a="http://schemas.openxmlformats.org/drawingml/2006/main">
            <a:off x="0" y="29304000"/>
            <a:ext cx="21816000" cy="140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E71F3883-DE90-4E9B-A29E-10F29262489A}"/>
              </a:ext>
            </a:extLst>
          </p:cNvPr>
          <p:cNvSpPr>
            <a:spLocks xmlns:a="http://schemas.openxmlformats.org/drawingml/2006/main" noGrp="1"/>
          </p:cNvSpPr>
          <p:nvPr/>
        </p:nvSpPr>
        <p:spPr>
          <a:xfrm xmlns:a="http://schemas.openxmlformats.org/drawingml/2006/main">
            <a:off x="86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FAADC012-14AF-4608-AC87-9415C3BF4BEB}"/>
              </a:ext>
            </a:extLst>
          </p:cNvPr>
          <p:cNvSpPr>
            <a:spLocks xmlns:a="http://schemas.openxmlformats.org/drawingml/2006/main" noGrp="1"/>
          </p:cNvSpPr>
          <p:nvPr/>
        </p:nvSpPr>
        <p:spPr>
          <a:xfrm xmlns:a="http://schemas.openxmlformats.org/drawingml/2006/main">
            <a:off x="86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[1] Du et al. (2024). Multiagent Debate.</a:t>
            </a:r>
            <a:endParaRPr sz="2000">
              <a:solidFill>
                <a:srgbClr val="1F2A24"/>
              </a:solidFill>
              <a:latin typeface="Calibri"/>
              <a:ea typeface="Calibri"/>
              <a:cs typeface="Calibri"/>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[2] Rauh &amp; Schwalbach (2020). ParlSpeech V2.</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B3E44EDB-54A6-4E4D-A800-0986644450D6}"/>
              </a:ext>
            </a:extLst>
          </p:cNvPr>
          <p:cNvSpPr>
            <a:spLocks xmlns:a="http://schemas.openxmlformats.org/drawingml/2006/main" noGrp="1"/>
          </p:cNvSpPr>
          <p:nvPr/>
        </p:nvSpPr>
        <p:spPr>
          <a:xfrm xmlns:a="http://schemas.openxmlformats.org/drawingml/2006/main">
            <a:off x="770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00" b="1" i="0">
                <a:solidFill>
                  <a:srgbClr val="1F4D36"/>
                </a:solidFill>
                <a:latin typeface="Calibri"/>
                <a:ea typeface="Calibri"/>
                <a:cs typeface="Calibri"/>
              </a:defRPr>
            </a:defPPr>
          </a:lstStyle>
          <a:p xmlns:a="http://schemas.openxmlformats.org/drawingml/2006/main">
            <a:pPr marL="0" marR="0" lvl="0" indent="0" algn="ctr">
              <a:lnSpc>
                <a:spcPct val="108000"/>
              </a:lnSpc>
              <a:spcBef>
                <a:spcPts val="0"/>
              </a:spcBef>
              <a:spcAft>
                <a:spcPts val="0"/>
              </a:spcAft>
              <a:buClr>
                <a:srgbClr val="1F4D36"/>
              </a:buClr>
              <a:buSzPts val="2200"/>
              <a:buFont typeface="Calibri"/>
              <a:buNone/>
              <a:defRPr sz="2200" b="1" i="0">
                <a:solidFill>
                  <a:srgbClr val="1F4D36"/>
                </a:solidFill>
                <a:latin typeface="Calibri"/>
                <a:ea typeface="Calibri"/>
                <a:cs typeface="Calibri"/>
              </a:defRPr>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67B2D478-5CBA-4866-A978-00F36DDD1F8A}"/>
              </a:ext>
            </a:extLst>
          </p:cNvPr>
          <p:cNvSpPr>
            <a:spLocks xmlns:a="http://schemas.openxmlformats.org/drawingml/2006/main" noGrp="1"/>
          </p:cNvSpPr>
          <p:nvPr/>
        </p:nvSpPr>
        <p:spPr>
          <a:xfrm xmlns:a="http://schemas.openxmlformats.org/drawingml/2006/main">
            <a:off x="8208000" y="29844000"/>
            <a:ext cx="540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00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Ioannis Ziogas, McCourt School of Public Policy,</a:t>
            </a:r>
            <a:endParaRPr/>
          </a:p>
          <a:p xmlns:a="http://schemas.openxmlformats.org/drawingml/2006/main">
            <a:pPr marL="0" marR="0" lvl="0" indent="0" algn="ctr">
              <a:lnSpc>
                <a:spcPct val="102000"/>
              </a:lnSpc>
              <a:spcBef>
                <a:spcPts val="0"/>
              </a:spcBef>
              <a:spcAft>
                <a:spcPts val="0"/>
              </a:spcAft>
              <a:buClr>
                <a:srgbClr val="1F2A24"/>
              </a:buClr>
              <a:buSzPts val="2000"/>
              <a:buFont typeface="Calibri"/>
              <a:buNone/>
              <a:defRPr sz="2000" b="0" i="0">
                <a:solidFill>
                  <a:srgbClr val="56615B"/>
                </a:solidFill>
                <a:latin typeface="Calibri"/>
                <a:ea typeface="Calibri"/>
                <a:cs typeface="Calibri"/>
              </a:defRPr>
            </a:pPr>
            <a:r>
              <a:rPr sz="2000" b="0" i="0">
                <a:solidFill>
                  <a:srgbClr val="56615B"/>
                </a:solidFill>
                <a:latin typeface="Calibri"/>
                <a:ea typeface="Calibri"/>
                <a:cs typeface="Calibri"/>
              </a:rPr>
              <a:t>Georgetown University</a:t>
            </a:r>
            <a:endParaRPr/>
          </a:p>
        </p:txBody>
      </p:sp>
      <p:sp>
        <p:nvSpPr>
          <p:cNvPr id="95" name="Google Shape;95;p1">
            <a:extLst xmlns:a="http://schemas.openxmlformats.org/drawingml/2006/main">
              <a:ext uri="{FF2B5EF4-FFF2-40B4-BE49-F238E27FC236}">
                <a16:creationId xmlns:a16="http://schemas.microsoft.com/office/drawing/2014/main" id="{6377DE40-CA6A-4B94-9D5D-41D30530740E}"/>
              </a:ext>
            </a:extLst>
          </p:cNvPr>
          <p:cNvSpPr>
            <a:spLocks xmlns:a="http://schemas.openxmlformats.org/drawingml/2006/main" noGrp="1"/>
          </p:cNvSpPr>
          <p:nvPr/>
        </p:nvSpPr>
        <p:spPr>
          <a:xfrm xmlns:a="http://schemas.openxmlformats.org/drawingml/2006/main">
            <a:off x="14548680" y="29412000"/>
            <a:ext cx="639864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4AF5F8EA-5F7A-4042-95DD-6EEFF5857C95}"/>
              </a:ext>
            </a:extLst>
          </p:cNvPr>
          <p:cNvSpPr>
            <a:spLocks xmlns:a="http://schemas.openxmlformats.org/drawingml/2006/main" noGrp="1"/>
          </p:cNvSpPr>
          <p:nvPr/>
        </p:nvSpPr>
        <p:spPr>
          <a:xfrm xmlns:a="http://schemas.openxmlformats.org/drawingml/2006/main">
            <a:off x="14548680" y="29844000"/>
            <a:ext cx="639864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lstStyle>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ctr">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8EB864DF-0A68-452B-B3C6-E88F61BADD1D}"/>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parliamentary debate excerpts [2]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12F3202A-E433-48F6-88B1-F4094447DAF2}"/>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1a545bb584fc4460"/>
          </a:graphicData>
        </a:graphic>
      </p:graphicFrame>
      <p:graphicFrame>
        <p:nvGraphicFramePr>
          <p:cNvPr id="99" name="Chart">
            <a:extLst xmlns:a="http://schemas.openxmlformats.org/drawingml/2006/main">
              <a:ext uri="{FF2B5EF4-FFF2-40B4-BE49-F238E27FC236}">
                <a16:creationId xmlns:a16="http://schemas.microsoft.com/office/drawing/2014/main" id="{366C4710-E11C-4FC1-9A33-9F821CCAF881}"/>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f9e04c6663274612"/>
          </a:graphicData>
        </a:graphic>
      </p:graphicFrame>
      <p:graphicFrame>
        <p:nvGraphicFramePr>
          <p:cNvPr id="100" name="Chart">
            <a:extLst xmlns:a="http://schemas.openxmlformats.org/drawingml/2006/main">
              <a:ext uri="{FF2B5EF4-FFF2-40B4-BE49-F238E27FC236}">
                <a16:creationId xmlns:a16="http://schemas.microsoft.com/office/drawing/2014/main" id="{7A55708D-A565-442B-8067-1B6A13F2F072}"/>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018bd2c5ca7a4334"/>
          </a:graphicData>
        </a:graphic>
      </p:graphicFrame>
      <p:sp>
        <p:nvSpPr>
          <p:cNvPr id="101" name="Truncated axis disclosure">
            <a:extLst xmlns:a="http://schemas.openxmlformats.org/drawingml/2006/main">
              <a:ext uri="{FF2B5EF4-FFF2-40B4-BE49-F238E27FC236}">
                <a16:creationId xmlns:a16="http://schemas.microsoft.com/office/drawing/2014/main" id="{A86920F3-7918-482B-90C7-4461C28B0FB7}"/>
              </a:ext>
            </a:extLst>
          </p:cNvPr>
          <p:cNvSpPr>
            <a:spLocks xmlns:a="http://schemas.openxmlformats.org/drawingml/2006/main" noGrp="1"/>
          </p:cNvSpPr>
          <p:nvPr/>
        </p:nvSpPr>
        <p:spPr>
          <a:xfrm xmlns:a="http://schemas.openxmlformats.org/drawingml/2006/main">
            <a:off x="868680" y="23724000"/>
            <a:ext cx="20078640" cy="6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range from 0 to 4. Each co-operative point averages 9 debates (45 MP ratings per metric); each strategy point averages five MPs. GPT-6 Luna used a consistent rating prompt. Topic, party and repeats limit comparison.</a:t>
            </a:r>
          </a:p>
        </p:txBody>
      </p:sp>
      <p:sp>
        <p:nvSpPr>
          <p:cNvPr id="102" name="Adversarial findings">
            <a:extLst xmlns:a="http://schemas.openxmlformats.org/drawingml/2006/main">
              <a:ext uri="{FF2B5EF4-FFF2-40B4-BE49-F238E27FC236}">
                <a16:creationId xmlns:a16="http://schemas.microsoft.com/office/drawing/2014/main" id="{205AD0A8-B119-4ECB-A265-B75FE35A44A2}"/>
              </a:ext>
            </a:extLst>
          </p:cNvPr>
          <p:cNvSpPr>
            <a:spLocks xmlns:a="http://schemas.openxmlformats.org/drawingml/2006/main" noGrp="1"/>
          </p:cNvSpPr>
          <p:nvPr/>
        </p:nvSpPr>
        <p:spPr>
          <a:xfrm xmlns:a="http://schemas.openxmlformats.org/drawingml/2006/main">
            <a:off x="868680" y="25524000"/>
            <a:ext cx="20078640" cy="82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 agents:</a:t>
            </a:r>
            <a:r>
              <a:rPr sz="2450" b="0">
                <a:solidFill>
                  <a:srgbClr val="A92F24"/>
                </a:solidFill>
                <a:latin typeface="Calibri"/>
                <a:ea typeface="Calibri"/>
                <a:cs typeface="Calibri"/>
              </a:rPr>
              <a:t> Qwen's reasoning varies from 2.0 to 2.8; Luna's procedural responsiveness rises from 3.2 to 4.0. Disruption scores are 2/4 for Qwen ACT only at 0 excerpts and 0 for adversarial Luna MPs; Qwen Green's paired changes span -1 to +1. Adversarial assignment alone is insufficient for disruption.</a:t>
            </a:r>
          </a:p>
        </p:txBody>
      </p:sp>
    </p:spTree>
    <p:extLst>
      <p:ext uri="{BB962C8B-B14F-4D97-AF65-F5344CB8AC3E}">
        <p14:creationId xmlns:p14="http://schemas.microsoft.com/office/powerpoint/2010/main" val="473842518"/>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2026-10-11T06:40:47.0180000Z</dcterms:created>
  <dcterms:modified xsi:type="dcterms:W3CDTF">2026-10-11T06:40:47.0180000Z</dcterms:modified>
</coreProperties>
</file>