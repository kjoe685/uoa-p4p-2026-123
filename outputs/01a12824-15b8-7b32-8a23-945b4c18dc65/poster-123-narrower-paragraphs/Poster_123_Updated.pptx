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d34233071fe4574" /><Relationship Type="http://schemas.openxmlformats.org/officeDocument/2006/relationships/extended-properties" Target="/docProps/app.xml" Id="Ra34feee5fcb1422a" /><Relationship Type="http://schemas.openxmlformats.org/officeDocument/2006/relationships/officeDocument" Target="/ppt/presentation.xml" Id="R82c3f480d4ee4e24" /></Relationships>
</file>

<file path=ppt/presentation.xml><?xml version="1.0" encoding="utf-8"?>
<p:presentation xmlns:p="http://schemas.openxmlformats.org/presentationml/2006/main">
  <p:sldMasterIdLst>
    <p:sldMasterId xmlns:r="http://schemas.openxmlformats.org/officeDocument/2006/relationships" id="2147483648" r:id="R65aa29ef8de84cce"/>
  </p:sldMasterIdLst>
  <p:notesMasterIdLst>
    <p:notesMasterId xmlns:r="http://schemas.openxmlformats.org/officeDocument/2006/relationships" r:id="Rbe701fb397a94a9e"/>
  </p:notesMasterIdLst>
  <p:sldIdLst>
    <p:sldId xmlns:r="http://schemas.openxmlformats.org/officeDocument/2006/relationships" id="256" r:id="R5b4c5ef92b9e4d39"/>
  </p:sldIdLst>
  <p:sldSz cx="21816000" cy="3070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fc194449154c4e" /><Relationship Type="http://schemas.openxmlformats.org/officeDocument/2006/relationships/slideMaster" Target="/ppt/slideMasters/slideMaster1.xml" Id="R65aa29ef8de84cce" /><Relationship Type="http://schemas.openxmlformats.org/officeDocument/2006/relationships/notesMaster" Target="/ppt/notesMasters/notesMaster1.xml" Id="Rbe701fb397a94a9e" /><Relationship Type="http://schemas.openxmlformats.org/officeDocument/2006/relationships/presProps" Target="/ppt/presProps.xml" Id="R27a038968d6d4994" /><Relationship Type="http://schemas.openxmlformats.org/officeDocument/2006/relationships/tableStyles" Target="/ppt/tableStyles.xml" Id="Rd2b01ed954b54f4a" /><Relationship Type="http://schemas.openxmlformats.org/officeDocument/2006/relationships/slide" Target="/ppt/slides/slide1.xml" Id="R5b4c5ef92b9e4d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4930e7c8ad4f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7cc7e7f8d64b7e" /><Relationship Type="http://schemas.openxmlformats.org/officeDocument/2006/relationships/notesMaster" Target="/ppt/notesMasters/notesMaster1.xml" Id="Rf8911273ecef4b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supplied Poster_123 (1).pptx for original branding, header, screenshot, interface annotations, references, names and acknowledgements. Original screenshot is a fixed DemoChatManager demonstration with National assigned STRAW_MAN. It does not establish genuine model inference or successful disruption.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Reference [1]: Du, Y., Li, S., Torralba, A., Tenenbaum, J. B., and Mordatch, I. (2024). Improving Factuality and Reasoning in Language Models through Multiagent Debate. ICML 2024, Proceedings of Machine Learning Research 235:11733-11763. https://proceedings.mlr.press/v235/du24e.html . This paper supports the specific background statement that multi-agent debate has been studied to improve reasoning; it does not establish that most AI debate research has the same focus. Reference [2]: Rauh and Schwalbach (2020), ParlSpeech V2, retains the supplied Hansard-source attribution. The supplied Qwen attribution, Qwen Team (2025), Qwen3 Technical Report, remains original-source context rather than support for that debate-literature claim.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Backend wording: src/main/java/engine/application/DebateApplication.java (configuration snapshot, party/Hansard prompt construction, private setup); engine/prompt/PromptManager.java; engine/agent/Agent.java and PrivateAgentContext.java (recipient-specific private system prompt plus public messages); engine/debate/DebateManager.java (serial scheduled turns and public publication); engine/provider/OpenAIChatManager.java and OllamaChatManager.java (chat endpoints). Private prompts never become a public state before isolation.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Evidence: completed T80 public delivery, outputs/01a11f04-d4c3-7b51-8f85-f996967db913/adversarial-batch1/runs.csv, rubric.csv, matched-rubric.csv and 72 retained public rubric reports. 54 all-NONE baseline debates / 1350 speeches, three topics, three grounding levels, three repetitions, two generators. 18 assigned debates / 450 speeches, one assigned repetition, one assigned party per debate and four NONE parties, zero interruptions. The 18 matched controls belong to the 54 baseline debates and do not add another 18 observations.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Original three baseline chart means remain exact in the single cooperative series per model. Each cooperative point averages 45 party/topic ratings from 9 debates, covering three topics and three repetitions. Consistency, logical reasoning and responsiveness retain separate 0-4 rubric score scales. The displayed vertical axes are truncated: consistency 3.5-4.1 at 0.1 intervals, reasoning 1.5-3.5 at 0.5 intervals, responsiveness 2.0-4.1 at 0.5 intervals. Explicit decimal labels and boundary headroom keep markers readable. Relevance and disruptive rhetoric remain separate measures, without an overall quality score.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Each graph has exactly eight series: cooperative plus topic derailment, straw man and procedural manipulation for each model. Luna uses green shades and Qwen blue shades. Cooperative lines are solid and each strategy line dashed. All markers have opaque coloured fills, with circle/triangle/square/diamond identifying the four conditions. There is no separate all-baselines or pooled-adversarial series. Some curves coincide exactly, particularly consistency and Luna reasoning. Each strategy point averages all five MPs in one assigned debate: five participant/topic metric scores and 25 speeches. The assignment is one MP with four NONE MPs. These are full-debate condition means, not only the assigned actor. Because the single cooperative reference pools the three topics and three repetitions while each strategy is tied to one topic/party/first repetition, the graph is descriptive rather than a matched causal-effect comparison. The separate matched CSV evidence remains retained.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disruptive-rhetoric paragraph describes ONLY the assigned participants, a separate metric from the three plotted metrics. Qwen ACT control/assigned scores at 0,10,100 excerpts are 0/2, 0/0, 0/0. Qwen Green control/assigned scores are 0/1, 0/0, 1/0. All Luna assigned/control rhetoric values and Qwen NZ First values are zero. Higher rhetoric means greater observed disruption, not better quality.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Both generators retain frozen study settings and one common GPT-6 Luna judge that scores public evidence only with a consistent evaluation prompt. Topic, tactic and assigned party are confounded, with a single assigned repetition. Ratings within each debate are dependent, and no human validation is provided. The descriptive findings refer to the displayed full-debate means: Luna reasoning 2.9778-3.0667 in cooperative debates and 3.0 in each assigned condition; Qwen strategy reasoning 2.0-2.8; Luna procedural responsiveness 3.2, 3.8, 4.0 at 0, 10, 100 excerpts. No causal effect, significance, successful tactic enactment, model availability or adversarial-robustness claim follows. Sentiment and stance remain separate from rubric scores.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Public data hashes: {"runs.csv":"c587c71b21feaddb9c99a091e65e98fa6e8a82b6728954cf0deb5a98edfdc6d8","rubric.csv":"733e1987d067a2a7b0170bbd911915cf274a918143a7c3ac1cb25623abf1f5ea","matched-rubric.csv":"8fef20bb4958ebdd4d10b63f84c1542ed506b538be471323bf4fcf67de4aa100"}. Supplied poster SHA256: d29df47fdb4b5772bee8e387fddeb6f64b0c71066b1a990575892e06c802e444. Print geometry: A1 portrait trim 594 x 841 mm, 6 mm bleed per edge, 606 x 853 mm canvas.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1d3735c58c4029"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565e5a697f4562" /><Relationship Type="http://schemas.openxmlformats.org/officeDocument/2006/relationships/slideLayout" Target="/ppt/slideLayouts/slideLayout1.xml" Id="R8f39d410c734406f"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8f39d410c734406f"/>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c64b9aba6ac405f" /><Relationship Type="http://schemas.openxmlformats.org/officeDocument/2006/relationships/image" Target="/ppt/media/image.png" Id="R5e1bd4884d424cc5" /><Relationship Type="http://schemas.openxmlformats.org/officeDocument/2006/relationships/image" Target="/ppt/media/image2.png" Id="R61c8417dc6a24af2" /><Relationship Type="http://schemas.openxmlformats.org/officeDocument/2006/relationships/chart" Target="/ppt/slides/charts/chart1.xml" Id="R5a0fe74037e743e3" /><Relationship Type="http://schemas.openxmlformats.org/officeDocument/2006/relationships/chart" Target="/ppt/slides/charts/chart2.xml" Id="R68ae52c6c633408e" /><Relationship Type="http://schemas.openxmlformats.org/officeDocument/2006/relationships/chart" Target="/ppt/slides/charts/chart3.xml" Id="R09f53b6328084456" /><Relationship Type="http://schemas.openxmlformats.org/officeDocument/2006/relationships/notesSlide" Target="/ppt/notesSlides/notesSlide1.xml" Id="R181aa08b7bf343c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Consistency</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4</c:v>
                </c:pt>
                <c:pt idx="1">
                  <c:v>4</c:v>
                </c:pt>
                <c:pt idx="2">
                  <c:v>4</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4</c:v>
                </c:pt>
                <c:pt idx="1">
                  <c:v>4</c:v>
                </c:pt>
                <c:pt idx="2">
                  <c:v>4</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4</c:v>
                </c:pt>
                <c:pt idx="1">
                  <c:v>4</c:v>
                </c:pt>
                <c:pt idx="2">
                  <c:v>4</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4</c:v>
                </c:pt>
                <c:pt idx="1">
                  <c:v>4</c:v>
                </c:pt>
                <c:pt idx="2">
                  <c:v>4</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3.93333333333333</c:v>
                </c:pt>
                <c:pt idx="1">
                  <c:v>3.91111111111111</c:v>
                </c:pt>
                <c:pt idx="2">
                  <c:v>3.62222222222222</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4</c:v>
                </c:pt>
                <c:pt idx="1">
                  <c:v>4</c:v>
                </c:pt>
                <c:pt idx="2">
                  <c:v>4</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4</c:v>
                </c:pt>
                <c:pt idx="1">
                  <c:v>4</c:v>
                </c:pt>
                <c:pt idx="2">
                  <c:v>4</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3.6</c:v>
                </c:pt>
                <c:pt idx="1">
                  <c:v>4</c:v>
                </c:pt>
                <c:pt idx="2">
                  <c:v>4</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4.1"/>
          <c:min val="3.5"/>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1"/>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Logical reasoning</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3</c:v>
                </c:pt>
                <c:pt idx="1">
                  <c:v>2.97777777777778</c:v>
                </c:pt>
                <c:pt idx="2">
                  <c:v>3.06666666666667</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3</c:v>
                </c:pt>
                <c:pt idx="1">
                  <c:v>3</c:v>
                </c:pt>
                <c:pt idx="2">
                  <c:v>3</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3</c:v>
                </c:pt>
                <c:pt idx="1">
                  <c:v>3</c:v>
                </c:pt>
                <c:pt idx="2">
                  <c:v>3</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3</c:v>
                </c:pt>
                <c:pt idx="1">
                  <c:v>3</c:v>
                </c:pt>
                <c:pt idx="2">
                  <c:v>3</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2.64444444444444</c:v>
                </c:pt>
                <c:pt idx="1">
                  <c:v>2.66666666666667</c:v>
                </c:pt>
                <c:pt idx="2">
                  <c:v>2.62222222222222</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2.2</c:v>
                </c:pt>
                <c:pt idx="1">
                  <c:v>2.8</c:v>
                </c:pt>
                <c:pt idx="2">
                  <c:v>2</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2.6</c:v>
                </c:pt>
                <c:pt idx="1">
                  <c:v>2</c:v>
                </c:pt>
                <c:pt idx="2">
                  <c:v>2.6</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2.8</c:v>
                </c:pt>
                <c:pt idx="1">
                  <c:v>2.8</c:v>
                </c:pt>
                <c:pt idx="2">
                  <c:v>2.4</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3.5"/>
          <c:min val="1.5"/>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5"/>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Responsiveness</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3.48888888888889</c:v>
                </c:pt>
                <c:pt idx="1">
                  <c:v>3.4</c:v>
                </c:pt>
                <c:pt idx="2">
                  <c:v>3.42222222222222</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3.6</c:v>
                </c:pt>
                <c:pt idx="1">
                  <c:v>4</c:v>
                </c:pt>
                <c:pt idx="2">
                  <c:v>3</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3</c:v>
                </c:pt>
                <c:pt idx="1">
                  <c:v>3</c:v>
                </c:pt>
                <c:pt idx="2">
                  <c:v>3</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3.2</c:v>
                </c:pt>
                <c:pt idx="1">
                  <c:v>3.8</c:v>
                </c:pt>
                <c:pt idx="2">
                  <c:v>4</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2.66666666666667</c:v>
                </c:pt>
                <c:pt idx="1">
                  <c:v>2.68888888888889</c:v>
                </c:pt>
                <c:pt idx="2">
                  <c:v>2.71111111111111</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3</c:v>
                </c:pt>
                <c:pt idx="1">
                  <c:v>2.8</c:v>
                </c:pt>
                <c:pt idx="2">
                  <c:v>3</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2.8</c:v>
                </c:pt>
                <c:pt idx="1">
                  <c:v>2.4</c:v>
                </c:pt>
                <c:pt idx="2">
                  <c:v>3</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3</c:v>
                </c:pt>
                <c:pt idx="1">
                  <c:v>2.6</c:v>
                </c:pt>
                <c:pt idx="2">
                  <c:v>2.8</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4.1"/>
          <c:min val="2"/>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5"/>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cxnSp>
        <p:nvCxnSpPr>
          <p:cNvPr id="16" name="Google Shape;16;p1">
            <a:extLst xmlns:a="http://schemas.openxmlformats.org/drawingml/2006/main">
              <a:ext uri="{FF2B5EF4-FFF2-40B4-BE49-F238E27FC236}">
                <a16:creationId xmlns:a16="http://schemas.microsoft.com/office/drawing/2014/main" id="{CD7598E4-48D1-47FF-8D9A-B9C0F62AEE98}"/>
              </a:ext>
            </a:extLst>
          </p:cNvPr>
          <p:cNvCxnSpPr>
            <a:stCxn xmlns:a="http://schemas.openxmlformats.org/drawingml/2006/main" id="17" idx="3"/>
            <a:endCxn xmlns:a="http://schemas.openxmlformats.org/drawingml/2006/main" id="18" idx="1"/>
          </p:cNvCxnSpPr>
          <p:nvPr/>
        </p:nvCxnSpPr>
        <p:spPr>
          <a:xfrm xmlns:a="http://schemas.openxmlformats.org/drawingml/2006/main">
            <a:off x="16825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19" name="Google Shape;19;p1">
            <a:extLst xmlns:a="http://schemas.openxmlformats.org/drawingml/2006/main">
              <a:ext uri="{FF2B5EF4-FFF2-40B4-BE49-F238E27FC236}">
                <a16:creationId xmlns:a16="http://schemas.microsoft.com/office/drawing/2014/main" id="{7C8CEA31-7E3B-4723-A1ED-B12507135CE4}"/>
              </a:ext>
            </a:extLst>
          </p:cNvPr>
          <p:cNvCxnSpPr>
            <a:stCxn xmlns:a="http://schemas.openxmlformats.org/drawingml/2006/main" id="20" idx="3"/>
            <a:endCxn xmlns:a="http://schemas.openxmlformats.org/drawingml/2006/main" id="17" idx="1"/>
          </p:cNvCxnSpPr>
          <p:nvPr/>
        </p:nvCxnSpPr>
        <p:spPr>
          <a:xfrm xmlns:a="http://schemas.openxmlformats.org/drawingml/2006/main">
            <a:off x="12703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21" name="Google Shape;21;p1">
            <a:extLst xmlns:a="http://schemas.openxmlformats.org/drawingml/2006/main">
              <a:ext uri="{FF2B5EF4-FFF2-40B4-BE49-F238E27FC236}">
                <a16:creationId xmlns:a16="http://schemas.microsoft.com/office/drawing/2014/main" id="{59F3201B-50A4-47B0-ACA6-CCEE25395B7D}"/>
              </a:ext>
            </a:extLst>
          </p:cNvPr>
          <p:cNvCxnSpPr>
            <a:stCxn xmlns:a="http://schemas.openxmlformats.org/drawingml/2006/main" id="22" idx="3"/>
            <a:endCxn xmlns:a="http://schemas.openxmlformats.org/drawingml/2006/main" id="20" idx="1"/>
          </p:cNvCxnSpPr>
          <p:nvPr/>
        </p:nvCxnSpPr>
        <p:spPr>
          <a:xfrm xmlns:a="http://schemas.openxmlformats.org/drawingml/2006/main">
            <a:off x="8581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23" name="Google Shape;23;p1">
            <a:extLst xmlns:a="http://schemas.openxmlformats.org/drawingml/2006/main">
              <a:ext uri="{FF2B5EF4-FFF2-40B4-BE49-F238E27FC236}">
                <a16:creationId xmlns:a16="http://schemas.microsoft.com/office/drawing/2014/main" id="{1FA44FCD-97A4-4F27-8748-49B5512BFC12}"/>
              </a:ext>
            </a:extLst>
          </p:cNvPr>
          <p:cNvCxnSpPr>
            <a:stCxn xmlns:a="http://schemas.openxmlformats.org/drawingml/2006/main" id="24" idx="3"/>
            <a:endCxn xmlns:a="http://schemas.openxmlformats.org/drawingml/2006/main" id="22" idx="1"/>
          </p:cNvCxnSpPr>
          <p:nvPr/>
        </p:nvCxnSpPr>
        <p:spPr>
          <a:xfrm xmlns:a="http://schemas.openxmlformats.org/drawingml/2006/main">
            <a:off x="4459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sp>
        <p:nvSpPr>
          <p:cNvPr id="25" name="Google Shape;25;p1">
            <a:extLst xmlns:a="http://schemas.openxmlformats.org/drawingml/2006/main">
              <a:ext uri="{FF2B5EF4-FFF2-40B4-BE49-F238E27FC236}">
                <a16:creationId xmlns:a16="http://schemas.microsoft.com/office/drawing/2014/main" id="{10E4FF27-7F5E-4A80-A3F0-C8E3E290A06F}"/>
              </a:ext>
            </a:extLst>
          </p:cNvPr>
          <p:cNvSpPr>
            <a:spLocks xmlns:a="http://schemas.openxmlformats.org/drawingml/2006/main" noGrp="1"/>
          </p:cNvSpPr>
          <p:nvPr/>
        </p:nvSpPr>
        <p:spPr>
          <a:xfrm xmlns:a="http://schemas.openxmlformats.org/drawingml/2006/main">
            <a:off x="0" y="0"/>
            <a:ext cx="21816000" cy="3492000"/>
          </a:xfrm>
          <a:prstGeom xmlns:a="http://schemas.openxmlformats.org/drawingml/2006/main" prst="rect">
            <a:avLst/>
          </a:prstGeom>
          <a:solidFill xmlns:a="http://schemas.openxmlformats.org/drawingml/2006/main">
            <a:srgbClr val="173F2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6" name="Google Shape;26;p1">
            <a:extLst xmlns:a="http://schemas.openxmlformats.org/drawingml/2006/main">
              <a:ext uri="{FF2B5EF4-FFF2-40B4-BE49-F238E27FC236}">
                <a16:creationId xmlns:a16="http://schemas.microsoft.com/office/drawing/2014/main" id="{34074EB6-B89B-45E7-A64E-E263089AF71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e1bd4884d424cc5">
            <a:alphaModFix/>
          </a:blip>
          <a:srcRect xmlns:a="http://schemas.openxmlformats.org/drawingml/2006/main" l="0" t="0" r="0" b="0"/>
          <a:stretch xmlns:a="http://schemas.openxmlformats.org/drawingml/2006/main"/>
        </p:blipFill>
        <p:spPr>
          <a:xfrm xmlns:a="http://schemas.openxmlformats.org/drawingml/2006/main">
            <a:off x="868680" y="432000"/>
            <a:ext cx="2520000" cy="991620"/>
          </a:xfrm>
          <a:prstGeom xmlns:a="http://schemas.openxmlformats.org/drawingml/2006/main" prst="rect">
            <a:avLst/>
          </a:prstGeom>
          <a:ln xmlns:a="http://schemas.openxmlformats.org/drawingml/2006/main">
            <a:noFill/>
          </a:ln>
        </p:spPr>
      </p:pic>
      <p:sp>
        <p:nvSpPr>
          <p:cNvPr id="27" name="Google Shape;27;p1">
            <a:extLst xmlns:a="http://schemas.openxmlformats.org/drawingml/2006/main">
              <a:ext uri="{FF2B5EF4-FFF2-40B4-BE49-F238E27FC236}">
                <a16:creationId xmlns:a16="http://schemas.microsoft.com/office/drawing/2014/main" id="{AFDE1D5A-F643-41E4-8B38-41C1A44EBA7F}"/>
              </a:ext>
            </a:extLst>
          </p:cNvPr>
          <p:cNvSpPr>
            <a:spLocks xmlns:a="http://schemas.openxmlformats.org/drawingml/2006/main" noGrp="1"/>
          </p:cNvSpPr>
          <p:nvPr/>
        </p:nvSpPr>
        <p:spPr>
          <a:xfrm xmlns:a="http://schemas.openxmlformats.org/drawingml/2006/main">
            <a:off x="10889172" y="432000"/>
            <a:ext cx="100584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8000"/>
              </a:lnSpc>
              <a:spcBef>
                <a:spcPts val="0"/>
              </a:spcBef>
              <a:spcAft>
                <a:spcPts val="0"/>
              </a:spcAft>
              <a:buClr>
                <a:srgbClr val="F2C14E"/>
              </a:buClr>
              <a:buSzPts val="2500"/>
              <a:buFont typeface="Calibri"/>
              <a:buNone/>
            </a:pPr>
            <a:r>
              <a:rPr sz="2500" b="1" i="0">
                <a:solidFill>
                  <a:srgbClr val="F2C14E"/>
                </a:solidFill>
                <a:latin typeface="Calibri"/>
                <a:ea typeface="Calibri"/>
                <a:cs typeface="Calibri"/>
              </a:rPr>
              <a:t>Part IV Project #123</a:t>
            </a:r>
            <a:endParaRPr/>
          </a:p>
        </p:txBody>
      </p:sp>
      <p:sp>
        <p:nvSpPr>
          <p:cNvPr id="28" name="Google Shape;28;p1">
            <a:extLst xmlns:a="http://schemas.openxmlformats.org/drawingml/2006/main">
              <a:ext uri="{FF2B5EF4-FFF2-40B4-BE49-F238E27FC236}">
                <a16:creationId xmlns:a16="http://schemas.microsoft.com/office/drawing/2014/main" id="{DC04E278-4A19-4D6F-98C7-75C94485A039}"/>
              </a:ext>
            </a:extLst>
          </p:cNvPr>
          <p:cNvSpPr>
            <a:spLocks xmlns:a="http://schemas.openxmlformats.org/drawingml/2006/main" noGrp="1"/>
          </p:cNvSpPr>
          <p:nvPr/>
        </p:nvSpPr>
        <p:spPr>
          <a:xfrm xmlns:a="http://schemas.openxmlformats.org/drawingml/2006/main">
            <a:off x="10889172" y="900000"/>
            <a:ext cx="100584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8000"/>
              </a:lnSpc>
              <a:spcBef>
                <a:spcPts val="0"/>
              </a:spcBef>
              <a:spcAft>
                <a:spcPts val="0"/>
              </a:spcAft>
              <a:buClr>
                <a:srgbClr val="E6EFE9"/>
              </a:buClr>
              <a:buSzPts val="2000"/>
              <a:buFont typeface="Calibri"/>
              <a:buNone/>
            </a:pPr>
            <a:r>
              <a:rPr sz="2000" b="0" i="0">
                <a:solidFill>
                  <a:srgbClr val="E6EFE9"/>
                </a:solidFill>
                <a:latin typeface="Calibri"/>
                <a:ea typeface="Calibri"/>
                <a:cs typeface="Calibri"/>
              </a:rPr>
              <a:t>Department of Electrical, Computer,</a:t>
            </a:r>
            <a:endParaRPr/>
          </a:p>
          <a:p xmlns:a="http://schemas.openxmlformats.org/drawingml/2006/main">
            <a:pPr marL="0" marR="0" lvl="0" indent="0" algn="r">
              <a:lnSpc>
                <a:spcPct val="108000"/>
              </a:lnSpc>
              <a:spcBef>
                <a:spcPts val="0"/>
              </a:spcBef>
              <a:spcAft>
                <a:spcPts val="0"/>
              </a:spcAft>
              <a:buClr>
                <a:srgbClr val="E6EFE9"/>
              </a:buClr>
              <a:buSzPts val="2000"/>
              <a:buFont typeface="Calibri"/>
              <a:buNone/>
            </a:pPr>
            <a:r>
              <a:rPr sz="2000" b="0" i="0">
                <a:solidFill>
                  <a:srgbClr val="E6EFE9"/>
                </a:solidFill>
                <a:latin typeface="Calibri"/>
                <a:ea typeface="Calibri"/>
                <a:cs typeface="Calibri"/>
              </a:rPr>
              <a:t>and Software Engineering</a:t>
            </a:r>
            <a:endParaRPr/>
          </a:p>
        </p:txBody>
      </p:sp>
      <p:sp>
        <p:nvSpPr>
          <p:cNvPr id="29" name="Google Shape;29;p1">
            <a:extLst xmlns:a="http://schemas.openxmlformats.org/drawingml/2006/main">
              <a:ext uri="{FF2B5EF4-FFF2-40B4-BE49-F238E27FC236}">
                <a16:creationId xmlns:a16="http://schemas.microsoft.com/office/drawing/2014/main" id="{9D039F95-C20A-4FA0-AFFC-0F241E17B2B6}"/>
              </a:ext>
            </a:extLst>
          </p:cNvPr>
          <p:cNvSpPr>
            <a:spLocks xmlns:a="http://schemas.openxmlformats.org/drawingml/2006/main" noGrp="1"/>
          </p:cNvSpPr>
          <p:nvPr/>
        </p:nvSpPr>
        <p:spPr>
          <a:xfrm xmlns:a="http://schemas.openxmlformats.org/drawingml/2006/main">
            <a:off x="868680" y="1332000"/>
            <a:ext cx="20078640" cy="100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FFFFFF"/>
              </a:buClr>
              <a:buSzPts val="7600"/>
              <a:buFont typeface="Cambria"/>
              <a:buNone/>
            </a:pPr>
            <a:r>
              <a:rPr sz="7600" b="1" i="0">
                <a:solidFill>
                  <a:srgbClr val="FFFFFF"/>
                </a:solidFill>
                <a:latin typeface="Cambria"/>
                <a:ea typeface="Cambria"/>
                <a:cs typeface="Cambria"/>
              </a:rPr>
              <a:t>AI-Based Virtual Parliament</a:t>
            </a:r>
            <a:endParaRPr/>
          </a:p>
        </p:txBody>
      </p:sp>
      <p:sp>
        <p:nvSpPr>
          <p:cNvPr id="30" name="Google Shape;30;p1">
            <a:extLst xmlns:a="http://schemas.openxmlformats.org/drawingml/2006/main">
              <a:ext uri="{FF2B5EF4-FFF2-40B4-BE49-F238E27FC236}">
                <a16:creationId xmlns:a16="http://schemas.microsoft.com/office/drawing/2014/main" id="{A8136E77-BC44-41AF-A9EA-4DDBB78CBA54}"/>
              </a:ext>
            </a:extLst>
          </p:cNvPr>
          <p:cNvSpPr>
            <a:spLocks xmlns:a="http://schemas.openxmlformats.org/drawingml/2006/main" noGrp="1"/>
          </p:cNvSpPr>
          <p:nvPr/>
        </p:nvSpPr>
        <p:spPr>
          <a:xfrm xmlns:a="http://schemas.openxmlformats.org/drawingml/2006/main">
            <a:off x="868680" y="2376000"/>
            <a:ext cx="2007864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F2C14E"/>
              </a:buClr>
              <a:buSzPts val="3100"/>
              <a:buFont typeface="Cambria"/>
              <a:buNone/>
            </a:pPr>
            <a:r>
              <a:rPr sz="3100" b="0" i="1">
                <a:solidFill>
                  <a:srgbClr val="F2C14E"/>
                </a:solidFill>
                <a:latin typeface="Cambria"/>
                <a:ea typeface="Cambria"/>
                <a:cs typeface="Cambria"/>
              </a:rPr>
              <a:t>Cooperative debate and hidden disruptive agents</a:t>
            </a:r>
            <a:endParaRPr/>
          </a:p>
        </p:txBody>
      </p:sp>
      <p:sp>
        <p:nvSpPr>
          <p:cNvPr id="31" name="Google Shape;31;p1">
            <a:extLst xmlns:a="http://schemas.openxmlformats.org/drawingml/2006/main">
              <a:ext uri="{FF2B5EF4-FFF2-40B4-BE49-F238E27FC236}">
                <a16:creationId xmlns:a16="http://schemas.microsoft.com/office/drawing/2014/main" id="{6C3B5343-98F4-40B5-8CE1-BDB728757FF3}"/>
              </a:ext>
            </a:extLst>
          </p:cNvPr>
          <p:cNvSpPr>
            <a:spLocks xmlns:a="http://schemas.openxmlformats.org/drawingml/2006/main" noGrp="1"/>
          </p:cNvSpPr>
          <p:nvPr/>
        </p:nvSpPr>
        <p:spPr>
          <a:xfrm xmlns:a="http://schemas.openxmlformats.org/drawingml/2006/main">
            <a:off x="868680" y="2988000"/>
            <a:ext cx="20078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FFFFFF"/>
              </a:buClr>
              <a:buSzPts val="2500"/>
              <a:buFont typeface="Calibri"/>
              <a:buNone/>
            </a:pPr>
            <a:r>
              <a:rPr sz="2500" b="1" i="0">
                <a:solidFill>
                  <a:srgbClr val="FFFFFF"/>
                </a:solidFill>
                <a:latin typeface="Calibri"/>
                <a:ea typeface="Calibri"/>
                <a:cs typeface="Calibri"/>
              </a:rPr>
              <a:t>Albert Sun &amp; Kieran Joe</a:t>
            </a:r>
            <a:r>
              <a:rPr sz="2500" b="0" i="0">
                <a:solidFill>
                  <a:srgbClr val="FFFFFF"/>
                </a:solidFill>
                <a:latin typeface="Calibri"/>
                <a:ea typeface="Calibri"/>
                <a:cs typeface="Calibri"/>
              </a:rPr>
              <a:t>   ·   Supervisor: Dr Joerg Wicker</a:t>
            </a:r>
            <a:endParaRPr/>
          </a:p>
        </p:txBody>
      </p:sp>
      <p:sp>
        <p:nvSpPr>
          <p:cNvPr id="32" name="Google Shape;32;p1">
            <a:extLst xmlns:a="http://schemas.openxmlformats.org/drawingml/2006/main">
              <a:ext uri="{FF2B5EF4-FFF2-40B4-BE49-F238E27FC236}">
                <a16:creationId xmlns:a16="http://schemas.microsoft.com/office/drawing/2014/main" id="{DB325E14-D1E0-4A12-90A9-E6797D508CA4}"/>
              </a:ext>
            </a:extLst>
          </p:cNvPr>
          <p:cNvSpPr>
            <a:spLocks xmlns:a="http://schemas.openxmlformats.org/drawingml/2006/main" noGrp="1"/>
          </p:cNvSpPr>
          <p:nvPr/>
        </p:nvSpPr>
        <p:spPr>
          <a:xfrm xmlns:a="http://schemas.openxmlformats.org/drawingml/2006/main">
            <a:off x="868680" y="3744000"/>
            <a:ext cx="20078640" cy="104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90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900"/>
              <a:buFont typeface="Calibri"/>
              <a:buNone/>
              <a:defRPr sz="2900" b="0" i="0">
                <a:solidFill>
                  <a:srgbClr val="1F2A24"/>
                </a:solidFill>
                <a:latin typeface="Calibri"/>
                <a:ea typeface="Calibri"/>
                <a:cs typeface="Calibri"/>
              </a:defRPr>
            </a:pPr>
            <a:r>
              <a:rPr sz="2900" b="0" i="0">
                <a:solidFill>
                  <a:srgbClr val="1F2A24"/>
                </a:solidFill>
                <a:latin typeface="Calibri"/>
                <a:ea typeface="Calibri"/>
                <a:cs typeface="Calibri"/>
              </a:rPr>
              <a:t>Real MPs can derail debate, distort claims and exploit procedure. AI multi-agent debate has been studied to improve reasoning [1]. We built a virtual NZ House of AI MPs, then privately tasked some with sabotage and tested the effects of grounding agents with Hansard.</a:t>
            </a:r>
            <a:endParaRPr/>
          </a:p>
        </p:txBody>
      </p:sp>
      <p:sp>
        <p:nvSpPr>
          <p:cNvPr id="33" name="Google Shape;33;p1">
            <a:extLst xmlns:a="http://schemas.openxmlformats.org/drawingml/2006/main">
              <a:ext uri="{FF2B5EF4-FFF2-40B4-BE49-F238E27FC236}">
                <a16:creationId xmlns:a16="http://schemas.microsoft.com/office/drawing/2014/main" id="{A75E3100-C53F-47B0-BE83-E945B4D8CB5A}"/>
              </a:ext>
            </a:extLst>
          </p:cNvPr>
          <p:cNvSpPr>
            <a:spLocks xmlns:a="http://schemas.openxmlformats.org/drawingml/2006/main" noGrp="1"/>
          </p:cNvSpPr>
          <p:nvPr/>
        </p:nvSpPr>
        <p:spPr>
          <a:xfrm xmlns:a="http://schemas.openxmlformats.org/drawingml/2006/main">
            <a:off x="868680" y="5004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1</a:t>
            </a:r>
            <a:endParaRPr/>
          </a:p>
        </p:txBody>
      </p:sp>
      <p:sp>
        <p:nvSpPr>
          <p:cNvPr id="34" name="Google Shape;34;p1">
            <a:extLst xmlns:a="http://schemas.openxmlformats.org/drawingml/2006/main">
              <a:ext uri="{FF2B5EF4-FFF2-40B4-BE49-F238E27FC236}">
                <a16:creationId xmlns:a16="http://schemas.microsoft.com/office/drawing/2014/main" id="{51B0F4D8-DB78-48C6-BD7F-3A635927971E}"/>
              </a:ext>
            </a:extLst>
          </p:cNvPr>
          <p:cNvSpPr>
            <a:spLocks xmlns:a="http://schemas.openxmlformats.org/drawingml/2006/main" noGrp="1"/>
          </p:cNvSpPr>
          <p:nvPr/>
        </p:nvSpPr>
        <p:spPr>
          <a:xfrm xmlns:a="http://schemas.openxmlformats.org/drawingml/2006/main">
            <a:off x="1836000" y="4950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a:solidFill>
                  <a:srgbClr val="1F4D36"/>
                </a:solidFill>
                <a:latin typeface="Cambria"/>
                <a:ea typeface="Cambria"/>
                <a:cs typeface="Cambria"/>
              </a:rPr>
              <a:t>Parliament web browser interface</a:t>
            </a:r>
            <a:endParaRPr/>
          </a:p>
        </p:txBody>
      </p:sp>
      <p:sp>
        <p:nvSpPr>
          <p:cNvPr id="35" name="Google Shape;35;p1">
            <a:extLst xmlns:a="http://schemas.openxmlformats.org/drawingml/2006/main">
              <a:ext uri="{FF2B5EF4-FFF2-40B4-BE49-F238E27FC236}">
                <a16:creationId xmlns:a16="http://schemas.microsoft.com/office/drawing/2014/main" id="{6A9F718A-1129-4389-ADF8-D8680C5FE670}"/>
              </a:ext>
            </a:extLst>
          </p:cNvPr>
          <p:cNvSpPr>
            <a:spLocks xmlns:a="http://schemas.openxmlformats.org/drawingml/2006/main" noGrp="1"/>
          </p:cNvSpPr>
          <p:nvPr/>
        </p:nvSpPr>
        <p:spPr>
          <a:xfrm xmlns:a="http://schemas.openxmlformats.org/drawingml/2006/main">
            <a:off x="846000" y="5904000"/>
            <a:ext cx="10843200" cy="5770800"/>
          </a:xfrm>
          <a:prstGeom xmlns:a="http://schemas.openxmlformats.org/drawingml/2006/main" prst="rect">
            <a:avLst/>
          </a:prstGeom>
          <a:solidFill xmlns:a="http://schemas.openxmlformats.org/drawingml/2006/main">
            <a:srgbClr val="FFFFFF"/>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6" name="Google Shape;36;p1">
            <a:extLst xmlns:a="http://schemas.openxmlformats.org/drawingml/2006/main">
              <a:ext uri="{FF2B5EF4-FFF2-40B4-BE49-F238E27FC236}">
                <a16:creationId xmlns:a16="http://schemas.microsoft.com/office/drawing/2014/main" id="{FB3700BA-BA78-4303-85B3-550981C2482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1c8417dc6a24af2">
            <a:alphaModFix/>
          </a:blip>
          <a:srcRect xmlns:a="http://schemas.openxmlformats.org/drawingml/2006/main" l="0" t="0" r="0" b="0"/>
          <a:stretch xmlns:a="http://schemas.openxmlformats.org/drawingml/2006/main"/>
        </p:blipFill>
        <p:spPr>
          <a:xfrm xmlns:a="http://schemas.openxmlformats.org/drawingml/2006/main">
            <a:off x="868680" y="5923649"/>
            <a:ext cx="10800000" cy="5724302"/>
          </a:xfrm>
          <a:prstGeom xmlns:a="http://schemas.openxmlformats.org/drawingml/2006/main" prst="rect">
            <a:avLst/>
          </a:prstGeom>
          <a:ln xmlns:a="http://schemas.openxmlformats.org/drawingml/2006/main">
            <a:noFill/>
          </a:ln>
        </p:spPr>
      </p:pic>
      <p:sp>
        <p:nvSpPr>
          <p:cNvPr id="37" name="Google Shape;37;p1">
            <a:extLst xmlns:a="http://schemas.openxmlformats.org/drawingml/2006/main">
              <a:ext uri="{FF2B5EF4-FFF2-40B4-BE49-F238E27FC236}">
                <a16:creationId xmlns:a16="http://schemas.microsoft.com/office/drawing/2014/main" id="{DE676DD0-D1CD-4E75-9B02-238C79982BC5}"/>
              </a:ext>
            </a:extLst>
          </p:cNvPr>
          <p:cNvSpPr>
            <a:spLocks xmlns:a="http://schemas.openxmlformats.org/drawingml/2006/main" noGrp="1"/>
          </p:cNvSpPr>
          <p:nvPr/>
        </p:nvSpPr>
        <p:spPr>
          <a:xfrm xmlns:a="http://schemas.openxmlformats.org/drawingml/2006/main">
            <a:off x="2646000" y="68508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A</a:t>
            </a:r>
            <a:endParaRPr/>
          </a:p>
        </p:txBody>
      </p:sp>
      <p:sp>
        <p:nvSpPr>
          <p:cNvPr id="38" name="Google Shape;38;p1">
            <a:extLst xmlns:a="http://schemas.openxmlformats.org/drawingml/2006/main">
              <a:ext uri="{FF2B5EF4-FFF2-40B4-BE49-F238E27FC236}">
                <a16:creationId xmlns:a16="http://schemas.microsoft.com/office/drawing/2014/main" id="{40B9BEAB-8EDA-4074-A5AF-C38A621AB0D3}"/>
              </a:ext>
            </a:extLst>
          </p:cNvPr>
          <p:cNvSpPr>
            <a:spLocks xmlns:a="http://schemas.openxmlformats.org/drawingml/2006/main" noGrp="1"/>
          </p:cNvSpPr>
          <p:nvPr/>
        </p:nvSpPr>
        <p:spPr>
          <a:xfrm xmlns:a="http://schemas.openxmlformats.org/drawingml/2006/main">
            <a:off x="3546000" y="77472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B</a:t>
            </a:r>
            <a:endParaRPr/>
          </a:p>
        </p:txBody>
      </p:sp>
      <p:sp>
        <p:nvSpPr>
          <p:cNvPr id="39" name="Google Shape;39;p1">
            <a:extLst xmlns:a="http://schemas.openxmlformats.org/drawingml/2006/main">
              <a:ext uri="{FF2B5EF4-FFF2-40B4-BE49-F238E27FC236}">
                <a16:creationId xmlns:a16="http://schemas.microsoft.com/office/drawing/2014/main" id="{C18CE2C3-C647-4490-B2DA-BBE19AE97D15}"/>
              </a:ext>
            </a:extLst>
          </p:cNvPr>
          <p:cNvSpPr>
            <a:spLocks xmlns:a="http://schemas.openxmlformats.org/drawingml/2006/main" noGrp="1"/>
          </p:cNvSpPr>
          <p:nvPr/>
        </p:nvSpPr>
        <p:spPr>
          <a:xfrm xmlns:a="http://schemas.openxmlformats.org/drawingml/2006/main">
            <a:off x="10994400" y="60732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C</a:t>
            </a:r>
            <a:endParaRPr/>
          </a:p>
        </p:txBody>
      </p:sp>
      <p:sp>
        <p:nvSpPr>
          <p:cNvPr id="40" name="Google Shape;40;p1">
            <a:extLst xmlns:a="http://schemas.openxmlformats.org/drawingml/2006/main">
              <a:ext uri="{FF2B5EF4-FFF2-40B4-BE49-F238E27FC236}">
                <a16:creationId xmlns:a16="http://schemas.microsoft.com/office/drawing/2014/main" id="{671F76E3-6A95-4FF4-B083-68B6798E7521}"/>
              </a:ext>
            </a:extLst>
          </p:cNvPr>
          <p:cNvSpPr>
            <a:spLocks xmlns:a="http://schemas.openxmlformats.org/drawingml/2006/main" noGrp="1"/>
          </p:cNvSpPr>
          <p:nvPr/>
        </p:nvSpPr>
        <p:spPr>
          <a:xfrm xmlns:a="http://schemas.openxmlformats.org/drawingml/2006/main">
            <a:off x="2646000" y="97200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D</a:t>
            </a:r>
            <a:endParaRPr/>
          </a:p>
        </p:txBody>
      </p:sp>
      <p:sp>
        <p:nvSpPr>
          <p:cNvPr id="41" name="Google Shape;41;p1">
            <a:extLst xmlns:a="http://schemas.openxmlformats.org/drawingml/2006/main">
              <a:ext uri="{FF2B5EF4-FFF2-40B4-BE49-F238E27FC236}">
                <a16:creationId xmlns:a16="http://schemas.microsoft.com/office/drawing/2014/main" id="{CC00A918-063A-451C-ADEF-4C4556406F25}"/>
              </a:ext>
            </a:extLst>
          </p:cNvPr>
          <p:cNvSpPr>
            <a:spLocks xmlns:a="http://schemas.openxmlformats.org/drawingml/2006/main" noGrp="1"/>
          </p:cNvSpPr>
          <p:nvPr/>
        </p:nvSpPr>
        <p:spPr>
          <a:xfrm xmlns:a="http://schemas.openxmlformats.org/drawingml/2006/main">
            <a:off x="6822000" y="60408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E</a:t>
            </a:r>
            <a:endParaRPr/>
          </a:p>
        </p:txBody>
      </p:sp>
      <p:sp>
        <p:nvSpPr>
          <p:cNvPr id="42" name="Google Shape;42;p1">
            <a:extLst xmlns:a="http://schemas.openxmlformats.org/drawingml/2006/main">
              <a:ext uri="{FF2B5EF4-FFF2-40B4-BE49-F238E27FC236}">
                <a16:creationId xmlns:a16="http://schemas.microsoft.com/office/drawing/2014/main" id="{9FFC1392-C531-4EDE-A12C-70992C79CC78}"/>
              </a:ext>
            </a:extLst>
          </p:cNvPr>
          <p:cNvSpPr>
            <a:spLocks xmlns:a="http://schemas.openxmlformats.org/drawingml/2006/main" noGrp="1"/>
          </p:cNvSpPr>
          <p:nvPr/>
        </p:nvSpPr>
        <p:spPr>
          <a:xfrm xmlns:a="http://schemas.openxmlformats.org/drawingml/2006/main">
            <a:off x="12132000" y="5904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A</a:t>
            </a:r>
            <a:endParaRPr/>
          </a:p>
        </p:txBody>
      </p:sp>
      <p:sp>
        <p:nvSpPr>
          <p:cNvPr id="43" name="Google Shape;43;p1">
            <a:extLst xmlns:a="http://schemas.openxmlformats.org/drawingml/2006/main">
              <a:ext uri="{FF2B5EF4-FFF2-40B4-BE49-F238E27FC236}">
                <a16:creationId xmlns:a16="http://schemas.microsoft.com/office/drawing/2014/main" id="{898AE37F-05C3-4D36-A0A0-DA5BB281A04D}"/>
              </a:ext>
            </a:extLst>
          </p:cNvPr>
          <p:cNvSpPr>
            <a:spLocks xmlns:a="http://schemas.openxmlformats.org/drawingml/2006/main" noGrp="1"/>
          </p:cNvSpPr>
          <p:nvPr/>
        </p:nvSpPr>
        <p:spPr>
          <a:xfrm xmlns:a="http://schemas.openxmlformats.org/drawingml/2006/main">
            <a:off x="12960000" y="5868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The Chamber</a:t>
            </a:r>
            <a:endParaRPr/>
          </a:p>
        </p:txBody>
      </p:sp>
      <p:sp>
        <p:nvSpPr>
          <p:cNvPr id="44" name="Google Shape;44;p1">
            <a:extLst xmlns:a="http://schemas.openxmlformats.org/drawingml/2006/main">
              <a:ext uri="{FF2B5EF4-FFF2-40B4-BE49-F238E27FC236}">
                <a16:creationId xmlns:a16="http://schemas.microsoft.com/office/drawing/2014/main" id="{387DBB28-EA0F-438A-B3E1-58558CB32749}"/>
              </a:ext>
            </a:extLst>
          </p:cNvPr>
          <p:cNvSpPr>
            <a:spLocks xmlns:a="http://schemas.openxmlformats.org/drawingml/2006/main" noGrp="1"/>
          </p:cNvSpPr>
          <p:nvPr/>
        </p:nvSpPr>
        <p:spPr>
          <a:xfrm xmlns:a="http://schemas.openxmlformats.org/drawingml/2006/main">
            <a:off x="12960000" y="6354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56615B"/>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56615B"/>
                </a:solidFill>
                <a:latin typeface="Calibri"/>
                <a:ea typeface="Calibri"/>
                <a:cs typeface="Calibri"/>
              </a:defRPr>
            </a:pPr>
            <a:r>
              <a:rPr sz="2450" b="0" i="0">
                <a:solidFill>
                  <a:srgbClr val="56615B"/>
                </a:solidFill>
                <a:latin typeface="Calibri"/>
                <a:ea typeface="Calibri"/>
                <a:cs typeface="Calibri"/>
              </a:rPr>
              <a:t>One MP represents each chosen party.</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56615B"/>
                </a:solidFill>
                <a:latin typeface="Calibri"/>
                <a:ea typeface="Calibri"/>
                <a:cs typeface="Calibri"/>
              </a:defRPr>
            </a:pPr>
            <a:r>
              <a:rPr sz="2450" b="0" i="0">
                <a:solidFill>
                  <a:srgbClr val="56615B"/>
                </a:solidFill>
                <a:latin typeface="Calibri"/>
                <a:ea typeface="Calibri"/>
                <a:cs typeface="Calibri"/>
              </a:rPr>
              <a:t>Speakers are highlighted when speaking.</a:t>
            </a:r>
            <a:endParaRPr/>
          </a:p>
        </p:txBody>
      </p:sp>
      <p:sp>
        <p:nvSpPr>
          <p:cNvPr id="45" name="Google Shape;45;p1">
            <a:extLst xmlns:a="http://schemas.openxmlformats.org/drawingml/2006/main">
              <a:ext uri="{FF2B5EF4-FFF2-40B4-BE49-F238E27FC236}">
                <a16:creationId xmlns:a16="http://schemas.microsoft.com/office/drawing/2014/main" id="{3203B6FE-9E1A-4E24-BE37-2CED2993FC25}"/>
              </a:ext>
            </a:extLst>
          </p:cNvPr>
          <p:cNvSpPr>
            <a:spLocks xmlns:a="http://schemas.openxmlformats.org/drawingml/2006/main" noGrp="1"/>
          </p:cNvSpPr>
          <p:nvPr/>
        </p:nvSpPr>
        <p:spPr>
          <a:xfrm xmlns:a="http://schemas.openxmlformats.org/drawingml/2006/main">
            <a:off x="12132000" y="7236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B</a:t>
            </a:r>
            <a:endParaRPr/>
          </a:p>
        </p:txBody>
      </p:sp>
      <p:sp>
        <p:nvSpPr>
          <p:cNvPr id="46" name="Google Shape;46;p1">
            <a:extLst xmlns:a="http://schemas.openxmlformats.org/drawingml/2006/main">
              <a:ext uri="{FF2B5EF4-FFF2-40B4-BE49-F238E27FC236}">
                <a16:creationId xmlns:a16="http://schemas.microsoft.com/office/drawing/2014/main" id="{A2A7988D-3328-4787-AD64-071F43C42AEC}"/>
              </a:ext>
            </a:extLst>
          </p:cNvPr>
          <p:cNvSpPr>
            <a:spLocks xmlns:a="http://schemas.openxmlformats.org/drawingml/2006/main" noGrp="1"/>
          </p:cNvSpPr>
          <p:nvPr/>
        </p:nvSpPr>
        <p:spPr>
          <a:xfrm xmlns:a="http://schemas.openxmlformats.org/drawingml/2006/main">
            <a:off x="12960000" y="7200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Live Hansard</a:t>
            </a:r>
            <a:endParaRPr/>
          </a:p>
        </p:txBody>
      </p:sp>
      <p:sp>
        <p:nvSpPr>
          <p:cNvPr id="47" name="Google Shape;47;p1">
            <a:extLst xmlns:a="http://schemas.openxmlformats.org/drawingml/2006/main">
              <a:ext uri="{FF2B5EF4-FFF2-40B4-BE49-F238E27FC236}">
                <a16:creationId xmlns:a16="http://schemas.microsoft.com/office/drawing/2014/main" id="{F441CF1E-9AD9-4AC2-9E89-D2BBD886111B}"/>
              </a:ext>
            </a:extLst>
          </p:cNvPr>
          <p:cNvSpPr>
            <a:spLocks xmlns:a="http://schemas.openxmlformats.org/drawingml/2006/main" noGrp="1"/>
          </p:cNvSpPr>
          <p:nvPr/>
        </p:nvSpPr>
        <p:spPr>
          <a:xfrm xmlns:a="http://schemas.openxmlformats.org/drawingml/2006/main">
            <a:off x="12960000" y="7686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Speeches and interjections stream into </a:t>
            </a:r>
            <a:r>
              <a:rPr sz="2450">
                <a:solidFill>
                  <a:srgbClr val="56615B"/>
                </a:solidFill>
                <a:latin typeface="Calibri"/>
                <a:ea typeface="Calibri"/>
                <a:cs typeface="Calibri"/>
              </a:rPr>
              <a:t>the live transcript</a:t>
            </a:r>
            <a:r>
              <a:rPr sz="2450" b="0" i="0">
                <a:solidFill>
                  <a:srgbClr val="56615B"/>
                </a:solidFill>
                <a:latin typeface="Calibri"/>
                <a:ea typeface="Calibri"/>
                <a:cs typeface="Calibri"/>
              </a:rPr>
              <a:t>.</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Saved sittings can be replayed after a restart.</a:t>
            </a:r>
            <a:endParaRPr/>
          </a:p>
        </p:txBody>
      </p:sp>
      <p:sp>
        <p:nvSpPr>
          <p:cNvPr id="48" name="Google Shape;48;p1">
            <a:extLst xmlns:a="http://schemas.openxmlformats.org/drawingml/2006/main">
              <a:ext uri="{FF2B5EF4-FFF2-40B4-BE49-F238E27FC236}">
                <a16:creationId xmlns:a16="http://schemas.microsoft.com/office/drawing/2014/main" id="{CB8A1D4C-9CDD-44B0-9A1A-520D47C00472}"/>
              </a:ext>
            </a:extLst>
          </p:cNvPr>
          <p:cNvSpPr>
            <a:spLocks xmlns:a="http://schemas.openxmlformats.org/drawingml/2006/main" noGrp="1"/>
          </p:cNvSpPr>
          <p:nvPr/>
        </p:nvSpPr>
        <p:spPr>
          <a:xfrm xmlns:a="http://schemas.openxmlformats.org/drawingml/2006/main">
            <a:off x="12132000" y="8568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C</a:t>
            </a:r>
            <a:endParaRPr/>
          </a:p>
        </p:txBody>
      </p:sp>
      <p:sp>
        <p:nvSpPr>
          <p:cNvPr id="49" name="Google Shape;49;p1">
            <a:extLst xmlns:a="http://schemas.openxmlformats.org/drawingml/2006/main">
              <a:ext uri="{FF2B5EF4-FFF2-40B4-BE49-F238E27FC236}">
                <a16:creationId xmlns:a16="http://schemas.microsoft.com/office/drawing/2014/main" id="{C87E7AC6-45E7-423B-B4EC-CDE4484DD736}"/>
              </a:ext>
            </a:extLst>
          </p:cNvPr>
          <p:cNvSpPr>
            <a:spLocks xmlns:a="http://schemas.openxmlformats.org/drawingml/2006/main" noGrp="1"/>
          </p:cNvSpPr>
          <p:nvPr/>
        </p:nvSpPr>
        <p:spPr>
          <a:xfrm xmlns:a="http://schemas.openxmlformats.org/drawingml/2006/main">
            <a:off x="12960000" y="8532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The Speaker’s Chair</a:t>
            </a:r>
            <a:endParaRPr/>
          </a:p>
        </p:txBody>
      </p:sp>
      <p:sp>
        <p:nvSpPr>
          <p:cNvPr id="50" name="Google Shape;50;p1">
            <a:extLst xmlns:a="http://schemas.openxmlformats.org/drawingml/2006/main">
              <a:ext uri="{FF2B5EF4-FFF2-40B4-BE49-F238E27FC236}">
                <a16:creationId xmlns:a16="http://schemas.microsoft.com/office/drawing/2014/main" id="{C7CB69B9-BF52-4634-B7D2-2CD56BC05842}"/>
              </a:ext>
            </a:extLst>
          </p:cNvPr>
          <p:cNvSpPr>
            <a:spLocks xmlns:a="http://schemas.openxmlformats.org/drawingml/2006/main" noGrp="1"/>
          </p:cNvSpPr>
          <p:nvPr/>
        </p:nvSpPr>
        <p:spPr>
          <a:xfrm xmlns:a="http://schemas.openxmlformats.org/drawingml/2006/main">
            <a:off x="12960000" y="9018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Chair rulings enter the shared public record</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and reach every MP before the next speech.</a:t>
            </a:r>
            <a:endParaRPr/>
          </a:p>
        </p:txBody>
      </p:sp>
      <p:sp>
        <p:nvSpPr>
          <p:cNvPr id="51" name="Google Shape;51;p1">
            <a:extLst xmlns:a="http://schemas.openxmlformats.org/drawingml/2006/main">
              <a:ext uri="{FF2B5EF4-FFF2-40B4-BE49-F238E27FC236}">
                <a16:creationId xmlns:a16="http://schemas.microsoft.com/office/drawing/2014/main" id="{D7A06448-7A12-4F99-BEF4-BE3C51E7F8C7}"/>
              </a:ext>
            </a:extLst>
          </p:cNvPr>
          <p:cNvSpPr>
            <a:spLocks xmlns:a="http://schemas.openxmlformats.org/drawingml/2006/main" noGrp="1"/>
          </p:cNvSpPr>
          <p:nvPr/>
        </p:nvSpPr>
        <p:spPr>
          <a:xfrm xmlns:a="http://schemas.openxmlformats.org/drawingml/2006/main">
            <a:off x="12132000" y="9900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D</a:t>
            </a:r>
            <a:endParaRPr/>
          </a:p>
        </p:txBody>
      </p:sp>
      <p:sp>
        <p:nvSpPr>
          <p:cNvPr id="52" name="Google Shape;52;p1">
            <a:extLst xmlns:a="http://schemas.openxmlformats.org/drawingml/2006/main">
              <a:ext uri="{FF2B5EF4-FFF2-40B4-BE49-F238E27FC236}">
                <a16:creationId xmlns:a16="http://schemas.microsoft.com/office/drawing/2014/main" id="{063E5CFB-2C86-4A9D-8CC0-98B46208AA8A}"/>
              </a:ext>
            </a:extLst>
          </p:cNvPr>
          <p:cNvSpPr>
            <a:spLocks xmlns:a="http://schemas.openxmlformats.org/drawingml/2006/main" noGrp="1"/>
          </p:cNvSpPr>
          <p:nvPr/>
        </p:nvSpPr>
        <p:spPr>
          <a:xfrm xmlns:a="http://schemas.openxmlformats.org/drawingml/2006/main">
            <a:off x="12960000" y="9864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Order Paper and Tally</a:t>
            </a:r>
            <a:endParaRPr/>
          </a:p>
        </p:txBody>
      </p:sp>
      <p:sp>
        <p:nvSpPr>
          <p:cNvPr id="53" name="Google Shape;53;p1">
            <a:extLst xmlns:a="http://schemas.openxmlformats.org/drawingml/2006/main">
              <a:ext uri="{FF2B5EF4-FFF2-40B4-BE49-F238E27FC236}">
                <a16:creationId xmlns:a16="http://schemas.microsoft.com/office/drawing/2014/main" id="{A395E6C8-51FE-40BE-B36C-50E12573614A}"/>
              </a:ext>
            </a:extLst>
          </p:cNvPr>
          <p:cNvSpPr>
            <a:spLocks xmlns:a="http://schemas.openxmlformats.org/drawingml/2006/main" noGrp="1"/>
          </p:cNvSpPr>
          <p:nvPr/>
        </p:nvSpPr>
        <p:spPr>
          <a:xfrm xmlns:a="http://schemas.openxmlformats.org/drawingml/2006/main">
            <a:off x="12960000" y="10350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The agenda advances through topics in order.</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Live totals track speeches, interjections and rulings.</a:t>
            </a:r>
            <a:endParaRPr/>
          </a:p>
        </p:txBody>
      </p:sp>
      <p:sp>
        <p:nvSpPr>
          <p:cNvPr id="54" name="Google Shape;54;p1">
            <a:extLst xmlns:a="http://schemas.openxmlformats.org/drawingml/2006/main">
              <a:ext uri="{FF2B5EF4-FFF2-40B4-BE49-F238E27FC236}">
                <a16:creationId xmlns:a16="http://schemas.microsoft.com/office/drawing/2014/main" id="{B042F679-06D2-4459-9D7B-7C9A07FB4E7C}"/>
              </a:ext>
            </a:extLst>
          </p:cNvPr>
          <p:cNvSpPr>
            <a:spLocks xmlns:a="http://schemas.openxmlformats.org/drawingml/2006/main" noGrp="1"/>
          </p:cNvSpPr>
          <p:nvPr/>
        </p:nvSpPr>
        <p:spPr>
          <a:xfrm xmlns:a="http://schemas.openxmlformats.org/drawingml/2006/main">
            <a:off x="12132000" y="11232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E</a:t>
            </a:r>
            <a:endParaRPr/>
          </a:p>
        </p:txBody>
      </p:sp>
      <p:sp>
        <p:nvSpPr>
          <p:cNvPr id="55" name="Google Shape;55;p1">
            <a:extLst xmlns:a="http://schemas.openxmlformats.org/drawingml/2006/main">
              <a:ext uri="{FF2B5EF4-FFF2-40B4-BE49-F238E27FC236}">
                <a16:creationId xmlns:a16="http://schemas.microsoft.com/office/drawing/2014/main" id="{6A6AFABD-E859-4A9C-AAB9-AD038D809F73}"/>
              </a:ext>
            </a:extLst>
          </p:cNvPr>
          <p:cNvSpPr>
            <a:spLocks xmlns:a="http://schemas.openxmlformats.org/drawingml/2006/main" noGrp="1"/>
          </p:cNvSpPr>
          <p:nvPr/>
        </p:nvSpPr>
        <p:spPr>
          <a:xfrm xmlns:a="http://schemas.openxmlformats.org/drawingml/2006/main">
            <a:off x="12960000" y="11196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Exports and evaluation</a:t>
            </a:r>
            <a:endParaRPr/>
          </a:p>
        </p:txBody>
      </p:sp>
      <p:sp>
        <p:nvSpPr>
          <p:cNvPr id="56" name="Google Shape;56;p1">
            <a:extLst xmlns:a="http://schemas.openxmlformats.org/drawingml/2006/main">
              <a:ext uri="{FF2B5EF4-FFF2-40B4-BE49-F238E27FC236}">
                <a16:creationId xmlns:a16="http://schemas.microsoft.com/office/drawing/2014/main" id="{84656AD5-A076-489F-987F-CB04AEB970E5}"/>
              </a:ext>
            </a:extLst>
          </p:cNvPr>
          <p:cNvSpPr>
            <a:spLocks xmlns:a="http://schemas.openxmlformats.org/drawingml/2006/main" noGrp="1"/>
          </p:cNvSpPr>
          <p:nvPr/>
        </p:nvSpPr>
        <p:spPr>
          <a:xfrm xmlns:a="http://schemas.openxmlformats.org/drawingml/2006/main">
            <a:off x="12960000" y="11682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1F2A24"/>
                </a:solidFill>
                <a:latin typeface="Calibri"/>
                <a:ea typeface="Calibri"/>
                <a:cs typeface="Calibri"/>
              </a:defRPr>
            </a:pPr>
            <a:r>
              <a:rPr sz="2450" b="0" i="0">
                <a:solidFill>
                  <a:srgbClr val="1F2A24"/>
                </a:solidFill>
                <a:latin typeface="Calibri"/>
                <a:ea typeface="Calibri"/>
                <a:cs typeface="Calibri"/>
              </a:rPr>
              <a:t>Public JSON and text exports support local</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1F2A24"/>
                </a:solidFill>
                <a:latin typeface="Calibri"/>
                <a:ea typeface="Calibri"/>
                <a:cs typeface="Calibri"/>
              </a:defRPr>
            </a:pPr>
            <a:r>
              <a:rPr sz="2450" b="0" i="0">
                <a:solidFill>
                  <a:srgbClr val="1F2A24"/>
                </a:solidFill>
                <a:latin typeface="Calibri"/>
                <a:ea typeface="Calibri"/>
                <a:cs typeface="Calibri"/>
              </a:rPr>
              <a:t>sentiment/stance analysis and separate rubric scores.</a:t>
            </a:r>
            <a:endParaRPr/>
          </a:p>
        </p:txBody>
      </p:sp>
      <p:sp>
        <p:nvSpPr>
          <p:cNvPr id="57" name="Google Shape;57;p1">
            <a:extLst xmlns:a="http://schemas.openxmlformats.org/drawingml/2006/main">
              <a:ext uri="{FF2B5EF4-FFF2-40B4-BE49-F238E27FC236}">
                <a16:creationId xmlns:a16="http://schemas.microsoft.com/office/drawing/2014/main" id="{67DF3D47-03A9-485D-95EE-045C39A608E1}"/>
              </a:ext>
            </a:extLst>
          </p:cNvPr>
          <p:cNvSpPr>
            <a:spLocks xmlns:a="http://schemas.openxmlformats.org/drawingml/2006/main" noGrp="1"/>
          </p:cNvSpPr>
          <p:nvPr/>
        </p:nvSpPr>
        <p:spPr>
          <a:xfrm xmlns:a="http://schemas.openxmlformats.org/drawingml/2006/main">
            <a:off x="868680" y="11880000"/>
            <a:ext cx="11160000" cy="79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050" b="0" i="1">
                <a:solidFill>
                  <a:srgbClr val="56615B"/>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56615B"/>
              </a:buClr>
              <a:buSzPts val="2100"/>
              <a:buFont typeface="Calibri"/>
              <a:buNone/>
              <a:defRPr sz="2050" b="0" i="1">
                <a:solidFill>
                  <a:srgbClr val="56615B"/>
                </a:solidFill>
                <a:latin typeface="Calibri"/>
                <a:ea typeface="Calibri"/>
                <a:cs typeface="Calibri"/>
              </a:defRPr>
            </a:pPr>
            <a:r>
              <a:rPr sz="2050" b="0" i="1">
                <a:solidFill>
                  <a:srgbClr val="56615B"/>
                </a:solidFill>
                <a:latin typeface="Calibri"/>
                <a:ea typeface="Calibri"/>
                <a:cs typeface="Calibri"/>
              </a:rPr>
              <a:t>Fig. 1 A demonstration sitting with a National straw-man assigned adversarial agent.</a:t>
            </a:r>
            <a:endParaRPr sz="2100" i="1">
              <a:solidFill>
                <a:srgbClr val="56615B"/>
              </a:solidFill>
              <a:latin typeface="Calibri"/>
              <a:ea typeface="Calibri"/>
              <a:cs typeface="Calibri"/>
            </a:endParaRPr>
          </a:p>
          <a:p xmlns:a="http://schemas.openxmlformats.org/drawingml/2006/main">
            <a:pPr marL="0" marR="0" lvl="0" indent="0" algn="l">
              <a:lnSpc>
                <a:spcPct val="102000"/>
              </a:lnSpc>
              <a:spcBef>
                <a:spcPts val="0"/>
              </a:spcBef>
              <a:spcAft>
                <a:spcPts val="0"/>
              </a:spcAft>
              <a:buClr>
                <a:srgbClr val="56615B"/>
              </a:buClr>
              <a:buSzPts val="2100"/>
              <a:buFont typeface="Calibri"/>
              <a:buNone/>
              <a:defRPr sz="2050" b="0" i="1">
                <a:solidFill>
                  <a:srgbClr val="56615B"/>
                </a:solidFill>
                <a:latin typeface="Calibri"/>
                <a:ea typeface="Calibri"/>
                <a:cs typeface="Calibri"/>
              </a:defRPr>
            </a:pPr>
            <a:r>
              <a:rPr sz="2050" b="0" i="1">
                <a:solidFill>
                  <a:srgbClr val="56615B"/>
                </a:solidFill>
                <a:latin typeface="Calibri"/>
                <a:ea typeface="Calibri"/>
                <a:cs typeface="Calibri"/>
              </a:rPr>
              <a:t>Web browser, guided command, and terminal interfaces all connect to the debate engine backend.</a:t>
            </a:r>
            <a:endParaRPr/>
          </a:p>
        </p:txBody>
      </p:sp>
      <p:sp>
        <p:nvSpPr>
          <p:cNvPr id="58" name="Google Shape;58;p1">
            <a:extLst xmlns:a="http://schemas.openxmlformats.org/drawingml/2006/main">
              <a:ext uri="{FF2B5EF4-FFF2-40B4-BE49-F238E27FC236}">
                <a16:creationId xmlns:a16="http://schemas.microsoft.com/office/drawing/2014/main" id="{F6E21C57-787C-4BC6-B3E3-0527DB7E9658}"/>
              </a:ext>
            </a:extLst>
          </p:cNvPr>
          <p:cNvSpPr>
            <a:spLocks xmlns:a="http://schemas.openxmlformats.org/drawingml/2006/main" noGrp="1"/>
          </p:cNvSpPr>
          <p:nvPr/>
        </p:nvSpPr>
        <p:spPr>
          <a:xfrm xmlns:a="http://schemas.openxmlformats.org/drawingml/2006/main">
            <a:off x="868680" y="12816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2</a:t>
            </a:r>
            <a:endParaRPr/>
          </a:p>
        </p:txBody>
      </p:sp>
      <p:sp>
        <p:nvSpPr>
          <p:cNvPr id="59" name="Google Shape;59;p1">
            <a:extLst xmlns:a="http://schemas.openxmlformats.org/drawingml/2006/main">
              <a:ext uri="{FF2B5EF4-FFF2-40B4-BE49-F238E27FC236}">
                <a16:creationId xmlns:a16="http://schemas.microsoft.com/office/drawing/2014/main" id="{3F6C99D3-A69B-407E-8F2A-CFD978562C10}"/>
              </a:ext>
            </a:extLst>
          </p:cNvPr>
          <p:cNvSpPr>
            <a:spLocks xmlns:a="http://schemas.openxmlformats.org/drawingml/2006/main" noGrp="1"/>
          </p:cNvSpPr>
          <p:nvPr/>
        </p:nvSpPr>
        <p:spPr>
          <a:xfrm xmlns:a="http://schemas.openxmlformats.org/drawingml/2006/main">
            <a:off x="1836000" y="12762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i="0">
                <a:solidFill>
                  <a:srgbClr val="1F4D36"/>
                </a:solidFill>
                <a:latin typeface="Cambria"/>
                <a:ea typeface="Cambria"/>
                <a:cs typeface="Cambria"/>
              </a:rPr>
              <a:t>Cooperative and adversarial agents</a:t>
            </a:r>
            <a:endParaRPr/>
          </a:p>
        </p:txBody>
      </p:sp>
      <p:sp>
        <p:nvSpPr>
          <p:cNvPr id="24" name="Google Shape;24;p1">
            <a:extLst xmlns:a="http://schemas.openxmlformats.org/drawingml/2006/main">
              <a:ext uri="{FF2B5EF4-FFF2-40B4-BE49-F238E27FC236}">
                <a16:creationId xmlns:a16="http://schemas.microsoft.com/office/drawing/2014/main" id="{E9DD115F-8D25-4637-950B-A7E6072D81CF}"/>
              </a:ext>
            </a:extLst>
          </p:cNvPr>
          <p:cNvSpPr>
            <a:spLocks xmlns:a="http://schemas.openxmlformats.org/drawingml/2006/main" noGrp="1"/>
          </p:cNvSpPr>
          <p:nvPr/>
        </p:nvSpPr>
        <p:spPr>
          <a:xfrm xmlns:a="http://schemas.openxmlformats.org/drawingml/2006/main">
            <a:off x="868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 name="Google Shape;60;p1">
            <a:extLst xmlns:a="http://schemas.openxmlformats.org/drawingml/2006/main">
              <a:ext uri="{FF2B5EF4-FFF2-40B4-BE49-F238E27FC236}">
                <a16:creationId xmlns:a16="http://schemas.microsoft.com/office/drawing/2014/main" id="{02AD8DFA-01B9-4471-80B7-A8836761E3A2}"/>
              </a:ext>
            </a:extLst>
          </p:cNvPr>
          <p:cNvSpPr>
            <a:spLocks xmlns:a="http://schemas.openxmlformats.org/drawingml/2006/main" noGrp="1"/>
          </p:cNvSpPr>
          <p:nvPr/>
        </p:nvSpPr>
        <p:spPr>
          <a:xfrm xmlns:a="http://schemas.openxmlformats.org/drawingml/2006/main">
            <a:off x="976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Real Hansard</a:t>
            </a:r>
            <a:endParaRPr/>
          </a:p>
        </p:txBody>
      </p:sp>
      <p:sp>
        <p:nvSpPr>
          <p:cNvPr id="61" name="Google Shape;61;p1">
            <a:extLst xmlns:a="http://schemas.openxmlformats.org/drawingml/2006/main">
              <a:ext uri="{FF2B5EF4-FFF2-40B4-BE49-F238E27FC236}">
                <a16:creationId xmlns:a16="http://schemas.microsoft.com/office/drawing/2014/main" id="{34FF7A90-89D3-4C7F-A4E9-CBC122A7ECCD}"/>
              </a:ext>
            </a:extLst>
          </p:cNvPr>
          <p:cNvSpPr>
            <a:spLocks xmlns:a="http://schemas.openxmlformats.org/drawingml/2006/main" noGrp="1"/>
          </p:cNvSpPr>
          <p:nvPr/>
        </p:nvSpPr>
        <p:spPr>
          <a:xfrm xmlns:a="http://schemas.openxmlformats.org/drawingml/2006/main">
            <a:off x="994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500 reviewed excerpts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0/10/100 per party</a:t>
            </a:r>
            <a:endParaRPr/>
          </a:p>
        </p:txBody>
      </p:sp>
      <p:sp>
        <p:nvSpPr>
          <p:cNvPr id="22" name="Google Shape;22;p1">
            <a:extLst xmlns:a="http://schemas.openxmlformats.org/drawingml/2006/main">
              <a:ext uri="{FF2B5EF4-FFF2-40B4-BE49-F238E27FC236}">
                <a16:creationId xmlns:a16="http://schemas.microsoft.com/office/drawing/2014/main" id="{80B000EA-2828-4D10-8B92-FE124167A18E}"/>
              </a:ext>
            </a:extLst>
          </p:cNvPr>
          <p:cNvSpPr>
            <a:spLocks xmlns:a="http://schemas.openxmlformats.org/drawingml/2006/main" noGrp="1"/>
          </p:cNvSpPr>
          <p:nvPr/>
        </p:nvSpPr>
        <p:spPr>
          <a:xfrm xmlns:a="http://schemas.openxmlformats.org/drawingml/2006/main">
            <a:off x="4990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 name="Google Shape;62;p1">
            <a:extLst xmlns:a="http://schemas.openxmlformats.org/drawingml/2006/main">
              <a:ext uri="{FF2B5EF4-FFF2-40B4-BE49-F238E27FC236}">
                <a16:creationId xmlns:a16="http://schemas.microsoft.com/office/drawing/2014/main" id="{08EAA86C-80DC-4576-9F81-FB9D011A9FF6}"/>
              </a:ext>
            </a:extLst>
          </p:cNvPr>
          <p:cNvSpPr>
            <a:spLocks xmlns:a="http://schemas.openxmlformats.org/drawingml/2006/main" noGrp="1"/>
          </p:cNvSpPr>
          <p:nvPr/>
        </p:nvSpPr>
        <p:spPr>
          <a:xfrm xmlns:a="http://schemas.openxmlformats.org/drawingml/2006/main">
            <a:off x="5098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Private setup</a:t>
            </a:r>
            <a:endParaRPr/>
          </a:p>
        </p:txBody>
      </p:sp>
      <p:sp>
        <p:nvSpPr>
          <p:cNvPr id="63" name="Google Shape;63;p1">
            <a:extLst xmlns:a="http://schemas.openxmlformats.org/drawingml/2006/main">
              <a:ext uri="{FF2B5EF4-FFF2-40B4-BE49-F238E27FC236}">
                <a16:creationId xmlns:a16="http://schemas.microsoft.com/office/drawing/2014/main" id="{F6339C65-B8F0-442F-802F-225CB4C2BFBE}"/>
              </a:ext>
            </a:extLst>
          </p:cNvPr>
          <p:cNvSpPr>
            <a:spLocks xmlns:a="http://schemas.openxmlformats.org/drawingml/2006/main" noGrp="1"/>
          </p:cNvSpPr>
          <p:nvPr/>
        </p:nvSpPr>
        <p:spPr>
          <a:xfrm xmlns:a="http://schemas.openxmlformats.org/drawingml/2006/main">
            <a:off x="5116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Frozen prompts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hidden tactics</a:t>
            </a:r>
            <a:endParaRPr/>
          </a:p>
        </p:txBody>
      </p:sp>
      <p:sp>
        <p:nvSpPr>
          <p:cNvPr id="20" name="Google Shape;20;p1">
            <a:extLst xmlns:a="http://schemas.openxmlformats.org/drawingml/2006/main">
              <a:ext uri="{FF2B5EF4-FFF2-40B4-BE49-F238E27FC236}">
                <a16:creationId xmlns:a16="http://schemas.microsoft.com/office/drawing/2014/main" id="{333C42FF-60BE-4B8A-8482-112D8D725F02}"/>
              </a:ext>
            </a:extLst>
          </p:cNvPr>
          <p:cNvSpPr>
            <a:spLocks xmlns:a="http://schemas.openxmlformats.org/drawingml/2006/main" noGrp="1"/>
          </p:cNvSpPr>
          <p:nvPr/>
        </p:nvSpPr>
        <p:spPr>
          <a:xfrm xmlns:a="http://schemas.openxmlformats.org/drawingml/2006/main">
            <a:off x="9112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4" name="Google Shape;64;p1">
            <a:extLst xmlns:a="http://schemas.openxmlformats.org/drawingml/2006/main">
              <a:ext uri="{FF2B5EF4-FFF2-40B4-BE49-F238E27FC236}">
                <a16:creationId xmlns:a16="http://schemas.microsoft.com/office/drawing/2014/main" id="{786E9F2B-5419-4984-89D4-1041110794A3}"/>
              </a:ext>
            </a:extLst>
          </p:cNvPr>
          <p:cNvSpPr>
            <a:spLocks xmlns:a="http://schemas.openxmlformats.org/drawingml/2006/main" noGrp="1"/>
          </p:cNvSpPr>
          <p:nvPr/>
        </p:nvSpPr>
        <p:spPr>
          <a:xfrm xmlns:a="http://schemas.openxmlformats.org/drawingml/2006/main">
            <a:off x="9220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MP agents</a:t>
            </a:r>
            <a:endParaRPr/>
          </a:p>
        </p:txBody>
      </p:sp>
      <p:sp>
        <p:nvSpPr>
          <p:cNvPr id="65" name="Google Shape;65;p1">
            <a:extLst xmlns:a="http://schemas.openxmlformats.org/drawingml/2006/main">
              <a:ext uri="{FF2B5EF4-FFF2-40B4-BE49-F238E27FC236}">
                <a16:creationId xmlns:a16="http://schemas.microsoft.com/office/drawing/2014/main" id="{6DDCE6B0-E999-4F5A-9489-19AFFC212B20}"/>
              </a:ext>
            </a:extLst>
          </p:cNvPr>
          <p:cNvSpPr>
            <a:spLocks xmlns:a="http://schemas.openxmlformats.org/drawingml/2006/main" noGrp="1"/>
          </p:cNvSpPr>
          <p:nvPr/>
        </p:nvSpPr>
        <p:spPr>
          <a:xfrm xmlns:a="http://schemas.openxmlformats.org/drawingml/2006/main">
            <a:off x="9238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Party personas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on cloud or local LLMs</a:t>
            </a:r>
            <a:endParaRPr/>
          </a:p>
        </p:txBody>
      </p:sp>
      <p:sp>
        <p:nvSpPr>
          <p:cNvPr id="17" name="Google Shape;17;p1">
            <a:extLst xmlns:a="http://schemas.openxmlformats.org/drawingml/2006/main">
              <a:ext uri="{FF2B5EF4-FFF2-40B4-BE49-F238E27FC236}">
                <a16:creationId xmlns:a16="http://schemas.microsoft.com/office/drawing/2014/main" id="{24939B3C-1655-4647-8F28-5786DEA7AD69}"/>
              </a:ext>
            </a:extLst>
          </p:cNvPr>
          <p:cNvSpPr>
            <a:spLocks xmlns:a="http://schemas.openxmlformats.org/drawingml/2006/main" noGrp="1"/>
          </p:cNvSpPr>
          <p:nvPr/>
        </p:nvSpPr>
        <p:spPr>
          <a:xfrm xmlns:a="http://schemas.openxmlformats.org/drawingml/2006/main">
            <a:off x="13234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6" name="Google Shape;66;p1">
            <a:extLst xmlns:a="http://schemas.openxmlformats.org/drawingml/2006/main">
              <a:ext uri="{FF2B5EF4-FFF2-40B4-BE49-F238E27FC236}">
                <a16:creationId xmlns:a16="http://schemas.microsoft.com/office/drawing/2014/main" id="{44681F99-6EC3-48E0-8FA7-D10756EEBE21}"/>
              </a:ext>
            </a:extLst>
          </p:cNvPr>
          <p:cNvSpPr>
            <a:spLocks xmlns:a="http://schemas.openxmlformats.org/drawingml/2006/main" noGrp="1"/>
          </p:cNvSpPr>
          <p:nvPr/>
        </p:nvSpPr>
        <p:spPr>
          <a:xfrm xmlns:a="http://schemas.openxmlformats.org/drawingml/2006/main">
            <a:off x="13342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Debate engine</a:t>
            </a:r>
            <a:endParaRPr/>
          </a:p>
        </p:txBody>
      </p:sp>
      <p:sp>
        <p:nvSpPr>
          <p:cNvPr id="67" name="Google Shape;67;p1">
            <a:extLst xmlns:a="http://schemas.openxmlformats.org/drawingml/2006/main">
              <a:ext uri="{FF2B5EF4-FFF2-40B4-BE49-F238E27FC236}">
                <a16:creationId xmlns:a16="http://schemas.microsoft.com/office/drawing/2014/main" id="{6FE6EC47-F436-422A-879A-96E6D81D098C}"/>
              </a:ext>
            </a:extLst>
          </p:cNvPr>
          <p:cNvSpPr>
            <a:spLocks xmlns:a="http://schemas.openxmlformats.org/drawingml/2006/main" noGrp="1"/>
          </p:cNvSpPr>
          <p:nvPr/>
        </p:nvSpPr>
        <p:spPr>
          <a:xfrm xmlns:a="http://schemas.openxmlformats.org/drawingml/2006/main">
            <a:off x="13360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Scheduled turns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chat requests</a:t>
            </a:r>
            <a:endParaRPr/>
          </a:p>
        </p:txBody>
      </p:sp>
      <p:sp>
        <p:nvSpPr>
          <p:cNvPr id="18" name="Google Shape;18;p1">
            <a:extLst xmlns:a="http://schemas.openxmlformats.org/drawingml/2006/main">
              <a:ext uri="{FF2B5EF4-FFF2-40B4-BE49-F238E27FC236}">
                <a16:creationId xmlns:a16="http://schemas.microsoft.com/office/drawing/2014/main" id="{BCDAAB95-68A4-4BDE-8F10-A44CC4E998BC}"/>
              </a:ext>
            </a:extLst>
          </p:cNvPr>
          <p:cNvSpPr>
            <a:spLocks xmlns:a="http://schemas.openxmlformats.org/drawingml/2006/main" noGrp="1"/>
          </p:cNvSpPr>
          <p:nvPr/>
        </p:nvSpPr>
        <p:spPr>
          <a:xfrm xmlns:a="http://schemas.openxmlformats.org/drawingml/2006/main">
            <a:off x="17356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 name="Google Shape;68;p1">
            <a:extLst xmlns:a="http://schemas.openxmlformats.org/drawingml/2006/main">
              <a:ext uri="{FF2B5EF4-FFF2-40B4-BE49-F238E27FC236}">
                <a16:creationId xmlns:a16="http://schemas.microsoft.com/office/drawing/2014/main" id="{A2208B69-6CD5-4592-B106-EB84B050D249}"/>
              </a:ext>
            </a:extLst>
          </p:cNvPr>
          <p:cNvSpPr>
            <a:spLocks xmlns:a="http://schemas.openxmlformats.org/drawingml/2006/main" noGrp="1"/>
          </p:cNvSpPr>
          <p:nvPr/>
        </p:nvSpPr>
        <p:spPr>
          <a:xfrm xmlns:a="http://schemas.openxmlformats.org/drawingml/2006/main">
            <a:off x="17464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Saved evidence</a:t>
            </a:r>
            <a:endParaRPr/>
          </a:p>
        </p:txBody>
      </p:sp>
      <p:sp>
        <p:nvSpPr>
          <p:cNvPr id="69" name="Google Shape;69;p1">
            <a:extLst xmlns:a="http://schemas.openxmlformats.org/drawingml/2006/main">
              <a:ext uri="{FF2B5EF4-FFF2-40B4-BE49-F238E27FC236}">
                <a16:creationId xmlns:a16="http://schemas.microsoft.com/office/drawing/2014/main" id="{6F458C6A-A132-463B-82B5-2FA33D9FF4DE}"/>
              </a:ext>
            </a:extLst>
          </p:cNvPr>
          <p:cNvSpPr>
            <a:spLocks xmlns:a="http://schemas.openxmlformats.org/drawingml/2006/main" noGrp="1"/>
          </p:cNvSpPr>
          <p:nvPr/>
        </p:nvSpPr>
        <p:spPr>
          <a:xfrm xmlns:a="http://schemas.openxmlformats.org/drawingml/2006/main">
            <a:off x="17482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Public transcript</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separate reports</a:t>
            </a:r>
            <a:endParaRPr/>
          </a:p>
        </p:txBody>
      </p:sp>
      <p:sp>
        <p:nvSpPr>
          <p:cNvPr id="70" name="Google Shape;70;p1">
            <a:extLst xmlns:a="http://schemas.openxmlformats.org/drawingml/2006/main">
              <a:ext uri="{FF2B5EF4-FFF2-40B4-BE49-F238E27FC236}">
                <a16:creationId xmlns:a16="http://schemas.microsoft.com/office/drawing/2014/main" id="{5F68807E-01D0-4611-8E42-B8E3B3DF7416}"/>
              </a:ext>
            </a:extLst>
          </p:cNvPr>
          <p:cNvSpPr>
            <a:spLocks xmlns:a="http://schemas.openxmlformats.org/drawingml/2006/main" noGrp="1"/>
          </p:cNvSpPr>
          <p:nvPr/>
        </p:nvSpPr>
        <p:spPr>
          <a:xfrm xmlns:a="http://schemas.openxmlformats.org/drawingml/2006/main">
            <a:off x="86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Topic derailment</a:t>
            </a:r>
            <a:endParaRPr/>
          </a:p>
        </p:txBody>
      </p:sp>
      <p:sp>
        <p:nvSpPr>
          <p:cNvPr id="71" name="Google Shape;71;p1">
            <a:extLst xmlns:a="http://schemas.openxmlformats.org/drawingml/2006/main">
              <a:ext uri="{FF2B5EF4-FFF2-40B4-BE49-F238E27FC236}">
                <a16:creationId xmlns:a16="http://schemas.microsoft.com/office/drawing/2014/main" id="{87826F0B-2055-4333-9822-8AD6E5FBAA38}"/>
              </a:ext>
            </a:extLst>
          </p:cNvPr>
          <p:cNvSpPr>
            <a:spLocks xmlns:a="http://schemas.openxmlformats.org/drawingml/2006/main" noGrp="1"/>
          </p:cNvSpPr>
          <p:nvPr/>
        </p:nvSpPr>
        <p:spPr>
          <a:xfrm xmlns:a="http://schemas.openxmlformats.org/drawingml/2006/main">
            <a:off x="1872000" y="17208000"/>
            <a:ext cx="43920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Steer discussion away from the</a:t>
            </a:r>
            <a:endParaRPr/>
          </a:p>
          <a:p xmlns:a="http://schemas.openxmlformats.org/drawingml/2006/main">
            <a:pPr marL="0" marR="0" lvl="0" indent="0" algn="ctr">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agenda without acknowledging it.</a:t>
            </a:r>
            <a:endParaRPr/>
          </a:p>
        </p:txBody>
      </p:sp>
      <p:sp>
        <p:nvSpPr>
          <p:cNvPr id="72" name="Google Shape;72;p1">
            <a:extLst xmlns:a="http://schemas.openxmlformats.org/drawingml/2006/main">
              <a:ext uri="{FF2B5EF4-FFF2-40B4-BE49-F238E27FC236}">
                <a16:creationId xmlns:a16="http://schemas.microsoft.com/office/drawing/2014/main" id="{0AA0083F-7747-412E-8997-84ABE140399B}"/>
              </a:ext>
            </a:extLst>
          </p:cNvPr>
          <p:cNvSpPr>
            <a:spLocks xmlns:a="http://schemas.openxmlformats.org/drawingml/2006/main" noGrp="1"/>
          </p:cNvSpPr>
          <p:nvPr/>
        </p:nvSpPr>
        <p:spPr>
          <a:xfrm xmlns:a="http://schemas.openxmlformats.org/drawingml/2006/main">
            <a:off x="770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Straw man</a:t>
            </a:r>
            <a:endParaRPr/>
          </a:p>
        </p:txBody>
      </p:sp>
      <p:sp>
        <p:nvSpPr>
          <p:cNvPr id="73" name="Google Shape;73;p1">
            <a:extLst xmlns:a="http://schemas.openxmlformats.org/drawingml/2006/main">
              <a:ext uri="{FF2B5EF4-FFF2-40B4-BE49-F238E27FC236}">
                <a16:creationId xmlns:a16="http://schemas.microsoft.com/office/drawing/2014/main" id="{BDB38E37-6C7F-4BA8-B43E-BDC65CCD7CA4}"/>
              </a:ext>
            </a:extLst>
          </p:cNvPr>
          <p:cNvSpPr>
            <a:spLocks xmlns:a="http://schemas.openxmlformats.org/drawingml/2006/main" noGrp="1"/>
          </p:cNvSpPr>
          <p:nvPr/>
        </p:nvSpPr>
        <p:spPr>
          <a:xfrm xmlns:a="http://schemas.openxmlformats.org/drawingml/2006/main">
            <a:off x="8712000" y="17208000"/>
            <a:ext cx="43920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350" b="0" i="0">
                <a:solidFill>
                  <a:srgbClr val="1F2A24"/>
                </a:solidFill>
                <a:latin typeface="Calibri"/>
                <a:ea typeface="Calibri"/>
                <a:cs typeface="Calibri"/>
              </a:defRPr>
            </a:defPPr>
          </a:lstStyle>
          <a:p xmlns:a="http://schemas.openxmlformats.org/drawingml/2006/main">
            <a:pPr marL="0" marR="0" lvl="0" indent="0" algn="ctr">
              <a:lnSpc>
                <a:spcPct val="108000"/>
              </a:lnSpc>
              <a:spcBef>
                <a:spcPts val="0"/>
              </a:spcBef>
              <a:spcAft>
                <a:spcPts val="0"/>
              </a:spcAft>
              <a:buClr>
                <a:srgbClr val="1F2A24"/>
              </a:buClr>
              <a:buSzPts val="2350"/>
              <a:buFont typeface="Calibri"/>
              <a:buNone/>
              <a:defRPr sz="2350" b="0" i="0">
                <a:solidFill>
                  <a:srgbClr val="1F2A24"/>
                </a:solidFill>
                <a:latin typeface="Calibri"/>
                <a:ea typeface="Calibri"/>
                <a:cs typeface="Calibri"/>
              </a:defRPr>
            </a:pPr>
            <a:r>
              <a:rPr sz="2350" b="0" i="0">
                <a:solidFill>
                  <a:srgbClr val="1F2A24"/>
                </a:solidFill>
                <a:latin typeface="Calibri"/>
                <a:ea typeface="Calibri"/>
                <a:cs typeface="Calibri"/>
              </a:rPr>
              <a:t>Misrepresent an opponent's claim,</a:t>
            </a:r>
            <a:endParaRPr/>
          </a:p>
          <a:p xmlns:a="http://schemas.openxmlformats.org/drawingml/2006/main">
            <a:pPr marL="0" marR="0" lvl="0" indent="0" algn="ctr">
              <a:lnSpc>
                <a:spcPct val="108000"/>
              </a:lnSpc>
              <a:spcBef>
                <a:spcPts val="0"/>
              </a:spcBef>
              <a:spcAft>
                <a:spcPts val="0"/>
              </a:spcAft>
              <a:buClr>
                <a:srgbClr val="1F2A24"/>
              </a:buClr>
              <a:buSzPts val="2350"/>
              <a:buFont typeface="Calibri"/>
              <a:buNone/>
              <a:defRPr sz="2350" b="0" i="0">
                <a:solidFill>
                  <a:srgbClr val="1F2A24"/>
                </a:solidFill>
                <a:latin typeface="Calibri"/>
                <a:ea typeface="Calibri"/>
                <a:cs typeface="Calibri"/>
              </a:defRPr>
            </a:pPr>
            <a:r>
              <a:rPr sz="2350" b="0" i="0">
                <a:solidFill>
                  <a:srgbClr val="1F2A24"/>
                </a:solidFill>
                <a:latin typeface="Calibri"/>
                <a:ea typeface="Calibri"/>
                <a:cs typeface="Calibri"/>
              </a:rPr>
              <a:t>then attack the distorted version.</a:t>
            </a:r>
            <a:endParaRPr/>
          </a:p>
        </p:txBody>
      </p:sp>
      <p:sp>
        <p:nvSpPr>
          <p:cNvPr id="74" name="Google Shape;74;p1">
            <a:extLst xmlns:a="http://schemas.openxmlformats.org/drawingml/2006/main">
              <a:ext uri="{FF2B5EF4-FFF2-40B4-BE49-F238E27FC236}">
                <a16:creationId xmlns:a16="http://schemas.microsoft.com/office/drawing/2014/main" id="{09BECBBF-FB78-4282-AFA9-6AB568D342BD}"/>
              </a:ext>
            </a:extLst>
          </p:cNvPr>
          <p:cNvSpPr>
            <a:spLocks xmlns:a="http://schemas.openxmlformats.org/drawingml/2006/main" noGrp="1"/>
          </p:cNvSpPr>
          <p:nvPr/>
        </p:nvSpPr>
        <p:spPr>
          <a:xfrm xmlns:a="http://schemas.openxmlformats.org/drawingml/2006/main">
            <a:off x="1454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Procedural manipulation</a:t>
            </a:r>
            <a:endParaRPr/>
          </a:p>
        </p:txBody>
      </p:sp>
      <p:sp>
        <p:nvSpPr>
          <p:cNvPr id="75" name="Google Shape;75;p1">
            <a:extLst xmlns:a="http://schemas.openxmlformats.org/drawingml/2006/main">
              <a:ext uri="{FF2B5EF4-FFF2-40B4-BE49-F238E27FC236}">
                <a16:creationId xmlns:a16="http://schemas.microsoft.com/office/drawing/2014/main" id="{E4DD45DF-750E-4049-9898-BB279F6C1C02}"/>
              </a:ext>
            </a:extLst>
          </p:cNvPr>
          <p:cNvSpPr>
            <a:spLocks xmlns:a="http://schemas.openxmlformats.org/drawingml/2006/main" noGrp="1"/>
          </p:cNvSpPr>
          <p:nvPr/>
        </p:nvSpPr>
        <p:spPr>
          <a:xfrm xmlns:a="http://schemas.openxmlformats.org/drawingml/2006/main">
            <a:off x="15552000" y="17208000"/>
            <a:ext cx="43920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Exploit rules or points of order</a:t>
            </a:r>
            <a:endParaRPr/>
          </a:p>
          <a:p xmlns:a="http://schemas.openxmlformats.org/drawingml/2006/main">
            <a:pPr marL="0" marR="0" lvl="0" indent="0" algn="ctr">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to obstruct substantive debate.</a:t>
            </a:r>
            <a:endParaRPr/>
          </a:p>
        </p:txBody>
      </p:sp>
      <p:sp>
        <p:nvSpPr>
          <p:cNvPr id="77" name="Google Shape;77;p1">
            <a:extLst xmlns:a="http://schemas.openxmlformats.org/drawingml/2006/main">
              <a:ext uri="{FF2B5EF4-FFF2-40B4-BE49-F238E27FC236}">
                <a16:creationId xmlns:a16="http://schemas.microsoft.com/office/drawing/2014/main" id="{CB0E483E-F7FB-4AD0-9839-03564A95C872}"/>
              </a:ext>
            </a:extLst>
          </p:cNvPr>
          <p:cNvSpPr>
            <a:spLocks xmlns:a="http://schemas.openxmlformats.org/drawingml/2006/main" noGrp="1"/>
          </p:cNvSpPr>
          <p:nvPr/>
        </p:nvSpPr>
        <p:spPr>
          <a:xfrm xmlns:a="http://schemas.openxmlformats.org/drawingml/2006/main">
            <a:off x="868680" y="18072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3</a:t>
            </a:r>
            <a:endParaRPr/>
          </a:p>
        </p:txBody>
      </p:sp>
      <p:sp>
        <p:nvSpPr>
          <p:cNvPr id="78" name="Google Shape;78;p1">
            <a:extLst xmlns:a="http://schemas.openxmlformats.org/drawingml/2006/main">
              <a:ext uri="{FF2B5EF4-FFF2-40B4-BE49-F238E27FC236}">
                <a16:creationId xmlns:a16="http://schemas.microsoft.com/office/drawing/2014/main" id="{84A761E9-D778-4961-AC84-4882A1C1CF53}"/>
              </a:ext>
            </a:extLst>
          </p:cNvPr>
          <p:cNvSpPr>
            <a:spLocks xmlns:a="http://schemas.openxmlformats.org/drawingml/2006/main" noGrp="1"/>
          </p:cNvSpPr>
          <p:nvPr/>
        </p:nvSpPr>
        <p:spPr>
          <a:xfrm xmlns:a="http://schemas.openxmlformats.org/drawingml/2006/main">
            <a:off x="1836000" y="18018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5300" b="1" i="0">
                <a:solidFill>
                  <a:srgbClr val="1F4D36"/>
                </a:solidFill>
                <a:latin typeface="Cambria"/>
                <a:ea typeface="Cambria"/>
                <a:cs typeface="Cambria"/>
              </a:defRPr>
            </a:defPPr>
          </a:lstStyle>
          <a:p xmlns:a="http://schemas.openxmlformats.org/drawingml/2006/main">
            <a:pPr marL="0" marR="0" lvl="0" indent="0" algn="l">
              <a:lnSpc>
                <a:spcPct val="108000"/>
              </a:lnSpc>
              <a:spcBef>
                <a:spcPts val="0"/>
              </a:spcBef>
              <a:spcAft>
                <a:spcPts val="0"/>
              </a:spcAft>
              <a:buClr>
                <a:srgbClr val="1F4D36"/>
              </a:buClr>
              <a:buSzPts val="5300"/>
              <a:buFont typeface="Cambria"/>
              <a:buNone/>
              <a:defRPr sz="5300" b="1" i="0">
                <a:solidFill>
                  <a:srgbClr val="1F4D36"/>
                </a:solidFill>
                <a:latin typeface="Cambria"/>
                <a:ea typeface="Cambria"/>
                <a:cs typeface="Cambria"/>
              </a:defRPr>
            </a:pPr>
            <a:r>
              <a:rPr sz="5300" b="1" i="0">
                <a:solidFill>
                  <a:srgbClr val="1F4D36"/>
                </a:solidFill>
                <a:latin typeface="Cambria"/>
                <a:ea typeface="Cambria"/>
                <a:cs typeface="Cambria"/>
              </a:rPr>
              <a:t>Grounding and adversarial testing</a:t>
            </a:r>
            <a:endParaRPr/>
          </a:p>
        </p:txBody>
      </p:sp>
      <p:sp>
        <p:nvSpPr>
          <p:cNvPr id="79" name="Google Shape;79;p1">
            <a:extLst xmlns:a="http://schemas.openxmlformats.org/drawingml/2006/main">
              <a:ext uri="{FF2B5EF4-FFF2-40B4-BE49-F238E27FC236}">
                <a16:creationId xmlns:a16="http://schemas.microsoft.com/office/drawing/2014/main" id="{FF9B691E-4683-432A-8E38-1BFB7175824D}"/>
              </a:ext>
            </a:extLst>
          </p:cNvPr>
          <p:cNvSpPr>
            <a:spLocks xmlns:a="http://schemas.openxmlformats.org/drawingml/2006/main" noGrp="1"/>
          </p:cNvSpPr>
          <p:nvPr/>
        </p:nvSpPr>
        <p:spPr>
          <a:xfrm xmlns:a="http://schemas.openxmlformats.org/drawingml/2006/main">
            <a:off x="868680" y="19044000"/>
            <a:ext cx="2007864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500"/>
              <a:buFont typeface="Calibri"/>
              <a:buNone/>
              <a:defRPr sz="2450" b="0" i="0">
                <a:solidFill>
                  <a:srgbClr val="1F2A24"/>
                </a:solidFill>
                <a:latin typeface="Calibri"/>
                <a:ea typeface="Calibri"/>
                <a:cs typeface="Calibri"/>
              </a:defRPr>
            </a:pPr>
            <a:r>
              <a:rPr sz="2450" b="1" i="0">
                <a:solidFill>
                  <a:srgbClr val="1F2A24"/>
                </a:solidFill>
                <a:latin typeface="Calibri"/>
                <a:ea typeface="Calibri"/>
                <a:cs typeface="Calibri"/>
              </a:rPr>
              <a:t>72 debates (1,800 speeches)</a:t>
            </a:r>
            <a:r>
              <a:rPr sz="2450" b="0" i="0">
                <a:solidFill>
                  <a:srgbClr val="1F2A24"/>
                </a:solidFill>
                <a:latin typeface="Calibri"/>
                <a:ea typeface="Calibri"/>
                <a:cs typeface="Calibri"/>
              </a:rPr>
              <a:t>: </a:t>
            </a:r>
            <a:r>
              <a:rPr sz="2450" b="1" i="0">
                <a:solidFill>
                  <a:srgbClr val="1F2A24"/>
                </a:solidFill>
                <a:latin typeface="Calibri"/>
                <a:ea typeface="Calibri"/>
                <a:cs typeface="Calibri"/>
              </a:rPr>
              <a:t>54 cooperative baselines</a:t>
            </a:r>
            <a:r>
              <a:rPr sz="2450" b="0" i="0">
                <a:solidFill>
                  <a:srgbClr val="1F2A24"/>
                </a:solidFill>
                <a:latin typeface="Calibri"/>
                <a:ea typeface="Calibri"/>
                <a:cs typeface="Calibri"/>
              </a:rPr>
              <a:t> (three repeats), plus </a:t>
            </a:r>
            <a:r>
              <a:rPr sz="2450" b="1" i="0">
                <a:solidFill>
                  <a:srgbClr val="1F2A24"/>
                </a:solidFill>
                <a:latin typeface="Calibri"/>
                <a:ea typeface="Calibri"/>
                <a:cs typeface="Calibri"/>
              </a:rPr>
              <a:t>18 adversarial runs</a:t>
            </a:r>
            <a:r>
              <a:rPr sz="2450" b="0" i="0">
                <a:solidFill>
                  <a:srgbClr val="1F2A24"/>
                </a:solidFill>
                <a:latin typeface="Calibri"/>
                <a:ea typeface="Calibri"/>
                <a:cs typeface="Calibri"/>
              </a:rPr>
              <a:t> (one repeat, one assigned MP). GPT-6 Luna and Qwen3:8b debate retirement, nuclear power and a four-day workweek at 0/10/100 excerpts, with five parties, five rounds and no interjections.</a:t>
            </a:r>
            <a:endParaRPr/>
          </a:p>
        </p:txBody>
      </p:sp>
      <p:sp>
        <p:nvSpPr>
          <p:cNvPr id="83" name="Google Shape;83;p1">
            <a:extLst xmlns:a="http://schemas.openxmlformats.org/drawingml/2006/main">
              <a:ext uri="{FF2B5EF4-FFF2-40B4-BE49-F238E27FC236}">
                <a16:creationId xmlns:a16="http://schemas.microsoft.com/office/drawing/2014/main" id="{BB78EA71-2EAE-4045-8B33-33EDBD3402ED}"/>
              </a:ext>
            </a:extLst>
          </p:cNvPr>
          <p:cNvSpPr>
            <a:spLocks xmlns:a="http://schemas.openxmlformats.org/drawingml/2006/main" noGrp="1"/>
          </p:cNvSpPr>
          <p:nvPr/>
        </p:nvSpPr>
        <p:spPr>
          <a:xfrm xmlns:a="http://schemas.openxmlformats.org/drawingml/2006/main">
            <a:off x="868680" y="24588000"/>
            <a:ext cx="2007864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4D36"/>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4D36"/>
              </a:buClr>
              <a:buSzPts val="2450"/>
              <a:buFont typeface="Calibri"/>
              <a:buNone/>
              <a:defRPr sz="2450" b="0" i="0">
                <a:solidFill>
                  <a:srgbClr val="1F4D36"/>
                </a:solidFill>
                <a:latin typeface="Calibri"/>
                <a:ea typeface="Calibri"/>
                <a:cs typeface="Calibri"/>
              </a:defRPr>
            </a:pPr>
            <a:r>
              <a:rPr sz="2450" b="1" i="0">
                <a:solidFill>
                  <a:srgbClr val="1F4D36"/>
                </a:solidFill>
                <a:latin typeface="Calibri"/>
                <a:ea typeface="Calibri"/>
                <a:cs typeface="Calibri"/>
              </a:rPr>
              <a:t>Co-operative agents:</a:t>
            </a:r>
            <a:r>
              <a:rPr sz="2450" b="0" i="0">
                <a:solidFill>
                  <a:srgbClr val="1F4D36"/>
                </a:solidFill>
                <a:latin typeface="Calibri"/>
                <a:ea typeface="Calibri"/>
                <a:cs typeface="Calibri"/>
              </a:rPr>
              <a:t> Consistency stays high, but Qwen falls from 3.93 to 3.62. Luna's reasoning stays near 3.0; Qwen's stays between 2.62 and 2.67. Responsiveness changes little for either model. More Hansard gives no consistent gain.</a:t>
            </a:r>
            <a:endParaRPr/>
          </a:p>
        </p:txBody>
      </p:sp>
      <p:sp>
        <p:nvSpPr>
          <p:cNvPr id="85" name="Google Shape;85;p1">
            <a:extLst xmlns:a="http://schemas.openxmlformats.org/drawingml/2006/main">
              <a:ext uri="{FF2B5EF4-FFF2-40B4-BE49-F238E27FC236}">
                <a16:creationId xmlns:a16="http://schemas.microsoft.com/office/drawing/2014/main" id="{DF61FCA1-2246-4773-A98A-6E1F943ADEC5}"/>
              </a:ext>
            </a:extLst>
          </p:cNvPr>
          <p:cNvSpPr>
            <a:spLocks xmlns:a="http://schemas.openxmlformats.org/drawingml/2006/main" noGrp="1"/>
          </p:cNvSpPr>
          <p:nvPr/>
        </p:nvSpPr>
        <p:spPr>
          <a:xfrm xmlns:a="http://schemas.openxmlformats.org/drawingml/2006/main">
            <a:off x="868680" y="26892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4</a:t>
            </a:r>
            <a:endParaRPr/>
          </a:p>
        </p:txBody>
      </p:sp>
      <p:sp>
        <p:nvSpPr>
          <p:cNvPr id="86" name="Google Shape;86;p1">
            <a:extLst xmlns:a="http://schemas.openxmlformats.org/drawingml/2006/main">
              <a:ext uri="{FF2B5EF4-FFF2-40B4-BE49-F238E27FC236}">
                <a16:creationId xmlns:a16="http://schemas.microsoft.com/office/drawing/2014/main" id="{C1EFC81C-0864-40B7-AD61-864C99C4087E}"/>
              </a:ext>
            </a:extLst>
          </p:cNvPr>
          <p:cNvSpPr>
            <a:spLocks xmlns:a="http://schemas.openxmlformats.org/drawingml/2006/main" noGrp="1"/>
          </p:cNvSpPr>
          <p:nvPr/>
        </p:nvSpPr>
        <p:spPr>
          <a:xfrm xmlns:a="http://schemas.openxmlformats.org/drawingml/2006/main">
            <a:off x="1836000" y="26838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i="0">
                <a:solidFill>
                  <a:srgbClr val="1F4D36"/>
                </a:solidFill>
                <a:latin typeface="Cambria"/>
                <a:ea typeface="Cambria"/>
                <a:cs typeface="Cambria"/>
              </a:rPr>
              <a:t>Outcomes and next steps</a:t>
            </a:r>
            <a:endParaRPr/>
          </a:p>
        </p:txBody>
      </p:sp>
      <p:sp>
        <p:nvSpPr>
          <p:cNvPr id="87" name="Google Shape;87;p1">
            <a:extLst xmlns:a="http://schemas.openxmlformats.org/drawingml/2006/main">
              <a:ext uri="{FF2B5EF4-FFF2-40B4-BE49-F238E27FC236}">
                <a16:creationId xmlns:a16="http://schemas.microsoft.com/office/drawing/2014/main" id="{C12FACC6-1A34-4F78-8B3F-E57FC6E5A098}"/>
              </a:ext>
            </a:extLst>
          </p:cNvPr>
          <p:cNvSpPr>
            <a:spLocks xmlns:a="http://schemas.openxmlformats.org/drawingml/2006/main" noGrp="1"/>
          </p:cNvSpPr>
          <p:nvPr/>
        </p:nvSpPr>
        <p:spPr>
          <a:xfrm xmlns:a="http://schemas.openxmlformats.org/drawingml/2006/main">
            <a:off x="1188000" y="27864000"/>
            <a:ext cx="5760000" cy="12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just">
              <a:defRPr sz="2150" b="0" i="0">
                <a:solidFill>
                  <a:srgbClr val="1F2A24"/>
                </a:solidFill>
                <a:latin typeface="Calibri"/>
                <a:ea typeface="Calibri"/>
                <a:cs typeface="Calibri"/>
              </a:defRPr>
            </a:defPPr>
          </a:lstStyle>
          <a:p xmlns:a="http://schemas.openxmlformats.org/drawingml/2006/main">
            <a:pPr marL="0" marR="0" lvl="0" indent="0" algn="just">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Outcomes:</a:t>
            </a:r>
            <a:r>
              <a:rPr sz="2150" b="0" i="0">
                <a:solidFill>
                  <a:srgbClr val="1F2A24"/>
                </a:solidFill>
                <a:latin typeface="Calibri"/>
                <a:ea typeface="Calibri"/>
                <a:cs typeface="Calibri"/>
              </a:rPr>
              <a:t> An AI debate engine with replaceable components and a browser-based frontend.</a:t>
            </a:r>
            <a:endParaRPr/>
          </a:p>
          <a:p xmlns:a="http://schemas.openxmlformats.org/drawingml/2006/main">
            <a:pPr marL="0" marR="0" lvl="0" indent="0" algn="just">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We found no consistent gain in performance metrics from extra Hansard excerpts.</a:t>
            </a:r>
            <a:endParaRPr/>
          </a:p>
        </p:txBody>
      </p:sp>
      <p:sp>
        <p:nvSpPr>
          <p:cNvPr id="88" name="Google Shape;88;p1">
            <a:extLst xmlns:a="http://schemas.openxmlformats.org/drawingml/2006/main">
              <a:ext uri="{FF2B5EF4-FFF2-40B4-BE49-F238E27FC236}">
                <a16:creationId xmlns:a16="http://schemas.microsoft.com/office/drawing/2014/main" id="{928EFE19-4A49-4C44-9CF8-1E100F67FC47}"/>
              </a:ext>
            </a:extLst>
          </p:cNvPr>
          <p:cNvSpPr>
            <a:spLocks xmlns:a="http://schemas.openxmlformats.org/drawingml/2006/main" noGrp="1"/>
          </p:cNvSpPr>
          <p:nvPr/>
        </p:nvSpPr>
        <p:spPr>
          <a:xfrm xmlns:a="http://schemas.openxmlformats.org/drawingml/2006/main">
            <a:off x="8028000" y="27864000"/>
            <a:ext cx="5760000" cy="12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just">
              <a:defRPr sz="2150" b="0" i="0">
                <a:solidFill>
                  <a:srgbClr val="1F2A24"/>
                </a:solidFill>
                <a:latin typeface="Calibri"/>
                <a:ea typeface="Calibri"/>
                <a:cs typeface="Calibri"/>
              </a:defRPr>
            </a:defPPr>
          </a:lstStyle>
          <a:p xmlns:a="http://schemas.openxmlformats.org/drawingml/2006/main">
            <a:pPr marL="0" marR="0" lvl="0" indent="0" algn="just">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Next Steps:</a:t>
            </a:r>
            <a:r>
              <a:rPr sz="2150" b="0" i="0">
                <a:solidFill>
                  <a:srgbClr val="1F2A24"/>
                </a:solidFill>
                <a:latin typeface="Calibri"/>
                <a:ea typeface="Calibri"/>
                <a:cs typeface="Calibri"/>
              </a:rPr>
              <a:t> Expand testing with more providers and higher-performance language models.</a:t>
            </a:r>
            <a:endParaRPr/>
          </a:p>
          <a:p xmlns:a="http://schemas.openxmlformats.org/drawingml/2006/main">
            <a:pPr marL="0" marR="0" lvl="0" indent="0" algn="just">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Host the web browser platform on a server accessible through the internet.</a:t>
            </a:r>
            <a:endParaRPr/>
          </a:p>
        </p:txBody>
      </p:sp>
      <p:sp>
        <p:nvSpPr>
          <p:cNvPr id="89" name="Google Shape;89;p1">
            <a:extLst xmlns:a="http://schemas.openxmlformats.org/drawingml/2006/main">
              <a:ext uri="{FF2B5EF4-FFF2-40B4-BE49-F238E27FC236}">
                <a16:creationId xmlns:a16="http://schemas.microsoft.com/office/drawing/2014/main" id="{447F772B-7764-4EA3-9180-07B337F5F3EB}"/>
              </a:ext>
            </a:extLst>
          </p:cNvPr>
          <p:cNvSpPr>
            <a:spLocks xmlns:a="http://schemas.openxmlformats.org/drawingml/2006/main" noGrp="1"/>
          </p:cNvSpPr>
          <p:nvPr/>
        </p:nvSpPr>
        <p:spPr>
          <a:xfrm xmlns:a="http://schemas.openxmlformats.org/drawingml/2006/main">
            <a:off x="14868000" y="27864000"/>
            <a:ext cx="5760000" cy="12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just">
              <a:defRPr sz="2150" b="0" i="0">
                <a:solidFill>
                  <a:srgbClr val="1F2A24"/>
                </a:solidFill>
                <a:latin typeface="Calibri"/>
                <a:ea typeface="Calibri"/>
                <a:cs typeface="Calibri"/>
              </a:defRPr>
            </a:defPPr>
          </a:lstStyle>
          <a:p xmlns:a="http://schemas.openxmlformats.org/drawingml/2006/main">
            <a:pPr marL="0" marR="0" lvl="0" indent="0" algn="just">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Albert Sun</a:t>
            </a:r>
            <a:r>
              <a:rPr sz="2150" b="0" i="0">
                <a:solidFill>
                  <a:srgbClr val="1F2A24"/>
                </a:solidFill>
                <a:latin typeface="Calibri"/>
                <a:ea typeface="Calibri"/>
                <a:cs typeface="Calibri"/>
              </a:rPr>
              <a:t> — frontend, live chamber, initial CLI and Hansard grounding.</a:t>
            </a:r>
            <a:endParaRPr/>
          </a:p>
          <a:p xmlns:a="http://schemas.openxmlformats.org/drawingml/2006/main">
            <a:pPr marL="0" marR="0" lvl="0" indent="0" algn="just">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Kieran Joe</a:t>
            </a:r>
            <a:r>
              <a:rPr sz="2150" b="0" i="0">
                <a:solidFill>
                  <a:srgbClr val="1F2A24"/>
                </a:solidFill>
                <a:latin typeface="Calibri"/>
                <a:ea typeface="Calibri"/>
                <a:cs typeface="Calibri"/>
              </a:rPr>
              <a:t> — engine, architecture and</a:t>
            </a:r>
            <a:endParaRPr/>
          </a:p>
          <a:p xmlns:a="http://schemas.openxmlformats.org/drawingml/2006/main">
            <a:pPr marL="0" marR="0" lvl="0" indent="0" algn="just">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supervisor coordination.</a:t>
            </a:r>
            <a:endParaRPr/>
          </a:p>
        </p:txBody>
      </p:sp>
      <p:sp>
        <p:nvSpPr>
          <p:cNvPr id="90" name="Google Shape;90;p1">
            <a:extLst xmlns:a="http://schemas.openxmlformats.org/drawingml/2006/main">
              <a:ext uri="{FF2B5EF4-FFF2-40B4-BE49-F238E27FC236}">
                <a16:creationId xmlns:a16="http://schemas.microsoft.com/office/drawing/2014/main" id="{407D87B0-1204-4444-A4D8-960BC7E566B1}"/>
              </a:ext>
            </a:extLst>
          </p:cNvPr>
          <p:cNvSpPr>
            <a:spLocks xmlns:a="http://schemas.openxmlformats.org/drawingml/2006/main" noGrp="1"/>
          </p:cNvSpPr>
          <p:nvPr/>
        </p:nvSpPr>
        <p:spPr>
          <a:xfrm xmlns:a="http://schemas.openxmlformats.org/drawingml/2006/main">
            <a:off x="0" y="29304000"/>
            <a:ext cx="21816000" cy="1404000"/>
          </a:xfrm>
          <a:prstGeom xmlns:a="http://schemas.openxmlformats.org/drawingml/2006/main" prst="rect">
            <a:avLst/>
          </a:prstGeom>
          <a:solidFill xmlns:a="http://schemas.openxmlformats.org/drawingml/2006/main">
            <a:srgbClr val="E8E2D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1" name="Google Shape;91;p1">
            <a:extLst xmlns:a="http://schemas.openxmlformats.org/drawingml/2006/main">
              <a:ext uri="{FF2B5EF4-FFF2-40B4-BE49-F238E27FC236}">
                <a16:creationId xmlns:a16="http://schemas.microsoft.com/office/drawing/2014/main" id="{E9F7ED0C-C13A-4D9E-B059-679BB78099F7}"/>
              </a:ext>
            </a:extLst>
          </p:cNvPr>
          <p:cNvSpPr>
            <a:spLocks xmlns:a="http://schemas.openxmlformats.org/drawingml/2006/main" noGrp="1"/>
          </p:cNvSpPr>
          <p:nvPr/>
        </p:nvSpPr>
        <p:spPr>
          <a:xfrm xmlns:a="http://schemas.openxmlformats.org/drawingml/2006/main">
            <a:off x="868680" y="29412000"/>
            <a:ext cx="639864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1F4D36"/>
              </a:buClr>
              <a:buSzPts val="2200"/>
              <a:buFont typeface="Calibri"/>
              <a:buNone/>
            </a:pPr>
            <a:r>
              <a:rPr sz="2200" b="1" i="0">
                <a:solidFill>
                  <a:srgbClr val="1F4D36"/>
                </a:solidFill>
                <a:latin typeface="Calibri"/>
                <a:ea typeface="Calibri"/>
                <a:cs typeface="Calibri"/>
              </a:rPr>
              <a:t>References</a:t>
            </a:r>
            <a:endParaRPr/>
          </a:p>
        </p:txBody>
      </p:sp>
      <p:sp>
        <p:nvSpPr>
          <p:cNvPr id="92" name="Google Shape;92;p1">
            <a:extLst xmlns:a="http://schemas.openxmlformats.org/drawingml/2006/main">
              <a:ext uri="{FF2B5EF4-FFF2-40B4-BE49-F238E27FC236}">
                <a16:creationId xmlns:a16="http://schemas.microsoft.com/office/drawing/2014/main" id="{24A1D575-AFAB-4929-A00F-38E665A7C24F}"/>
              </a:ext>
            </a:extLst>
          </p:cNvPr>
          <p:cNvSpPr>
            <a:spLocks xmlns:a="http://schemas.openxmlformats.org/drawingml/2006/main" noGrp="1"/>
          </p:cNvSpPr>
          <p:nvPr/>
        </p:nvSpPr>
        <p:spPr>
          <a:xfrm xmlns:a="http://schemas.openxmlformats.org/drawingml/2006/main">
            <a:off x="868680" y="29844000"/>
            <a:ext cx="639864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00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[1] Du et al. (2024). Multiagent Debate.</a:t>
            </a:r>
            <a:endParaRPr sz="2000">
              <a:solidFill>
                <a:srgbClr val="1F2A24"/>
              </a:solidFill>
              <a:latin typeface="Calibri"/>
              <a:ea typeface="Calibri"/>
              <a:cs typeface="Calibri"/>
            </a:endParaRPr>
          </a:p>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[2] Rauh &amp; Schwalbach (2020). ParlSpeech V2.</a:t>
            </a:r>
            <a:endParaRPr sz="2000">
              <a:solidFill>
                <a:srgbClr val="1F2A24"/>
              </a:solidFill>
              <a:latin typeface="Calibri"/>
              <a:ea typeface="Calibri"/>
              <a:cs typeface="Calibri"/>
            </a:endParaRPr>
          </a:p>
        </p:txBody>
      </p:sp>
      <p:sp>
        <p:nvSpPr>
          <p:cNvPr id="93" name="Google Shape;93;p1">
            <a:extLst xmlns:a="http://schemas.openxmlformats.org/drawingml/2006/main">
              <a:ext uri="{FF2B5EF4-FFF2-40B4-BE49-F238E27FC236}">
                <a16:creationId xmlns:a16="http://schemas.microsoft.com/office/drawing/2014/main" id="{F799E974-E115-49EF-82BA-5098E6ECA84E}"/>
              </a:ext>
            </a:extLst>
          </p:cNvPr>
          <p:cNvSpPr>
            <a:spLocks xmlns:a="http://schemas.openxmlformats.org/drawingml/2006/main" noGrp="1"/>
          </p:cNvSpPr>
          <p:nvPr/>
        </p:nvSpPr>
        <p:spPr>
          <a:xfrm xmlns:a="http://schemas.openxmlformats.org/drawingml/2006/main">
            <a:off x="7708680" y="29412000"/>
            <a:ext cx="639864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00" b="1" i="0">
                <a:solidFill>
                  <a:srgbClr val="1F4D36"/>
                </a:solidFill>
                <a:latin typeface="Calibri"/>
                <a:ea typeface="Calibri"/>
                <a:cs typeface="Calibri"/>
              </a:defRPr>
            </a:defPPr>
          </a:lstStyle>
          <a:p xmlns:a="http://schemas.openxmlformats.org/drawingml/2006/main">
            <a:pPr marL="0" marR="0" lvl="0" indent="0" algn="ctr">
              <a:lnSpc>
                <a:spcPct val="108000"/>
              </a:lnSpc>
              <a:spcBef>
                <a:spcPts val="0"/>
              </a:spcBef>
              <a:spcAft>
                <a:spcPts val="0"/>
              </a:spcAft>
              <a:buClr>
                <a:srgbClr val="1F4D36"/>
              </a:buClr>
              <a:buSzPts val="2200"/>
              <a:buFont typeface="Calibri"/>
              <a:buNone/>
              <a:defRPr sz="2200" b="1" i="0">
                <a:solidFill>
                  <a:srgbClr val="1F4D36"/>
                </a:solidFill>
                <a:latin typeface="Calibri"/>
                <a:ea typeface="Calibri"/>
                <a:cs typeface="Calibri"/>
              </a:defRPr>
            </a:pPr>
            <a:r>
              <a:rPr sz="2200" b="1" i="0">
                <a:solidFill>
                  <a:srgbClr val="1F4D36"/>
                </a:solidFill>
                <a:latin typeface="Calibri"/>
                <a:ea typeface="Calibri"/>
                <a:cs typeface="Calibri"/>
              </a:rPr>
              <a:t>Acknowledgements</a:t>
            </a:r>
            <a:endParaRPr/>
          </a:p>
        </p:txBody>
      </p:sp>
      <p:sp>
        <p:nvSpPr>
          <p:cNvPr id="94" name="Google Shape;94;p1">
            <a:extLst xmlns:a="http://schemas.openxmlformats.org/drawingml/2006/main">
              <a:ext uri="{FF2B5EF4-FFF2-40B4-BE49-F238E27FC236}">
                <a16:creationId xmlns:a16="http://schemas.microsoft.com/office/drawing/2014/main" id="{C9F9C8D4-8917-44C0-BD1D-08D5F1F9908C}"/>
              </a:ext>
            </a:extLst>
          </p:cNvPr>
          <p:cNvSpPr>
            <a:spLocks xmlns:a="http://schemas.openxmlformats.org/drawingml/2006/main" noGrp="1"/>
          </p:cNvSpPr>
          <p:nvPr/>
        </p:nvSpPr>
        <p:spPr>
          <a:xfrm xmlns:a="http://schemas.openxmlformats.org/drawingml/2006/main">
            <a:off x="8208000" y="29844000"/>
            <a:ext cx="5400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00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Ioannis Ziogas, McCourt School of Public Policy,</a:t>
            </a:r>
            <a:endParaRPr/>
          </a:p>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Georgetown University</a:t>
            </a:r>
            <a:endParaRPr/>
          </a:p>
        </p:txBody>
      </p:sp>
      <p:sp>
        <p:nvSpPr>
          <p:cNvPr id="95" name="Google Shape;95;p1">
            <a:extLst xmlns:a="http://schemas.openxmlformats.org/drawingml/2006/main">
              <a:ext uri="{FF2B5EF4-FFF2-40B4-BE49-F238E27FC236}">
                <a16:creationId xmlns:a16="http://schemas.microsoft.com/office/drawing/2014/main" id="{975585D7-42B6-4D51-8C1B-9A33985F7EDA}"/>
              </a:ext>
            </a:extLst>
          </p:cNvPr>
          <p:cNvSpPr>
            <a:spLocks xmlns:a="http://schemas.openxmlformats.org/drawingml/2006/main" noGrp="1"/>
          </p:cNvSpPr>
          <p:nvPr/>
        </p:nvSpPr>
        <p:spPr>
          <a:xfrm xmlns:a="http://schemas.openxmlformats.org/drawingml/2006/main">
            <a:off x="14548680" y="29412000"/>
            <a:ext cx="639864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1F4D36"/>
              </a:buClr>
              <a:buSzPts val="2200"/>
              <a:buFont typeface="Calibri"/>
              <a:buNone/>
            </a:pPr>
            <a:r>
              <a:rPr sz="2200" b="1" i="0">
                <a:solidFill>
                  <a:srgbClr val="1F4D36"/>
                </a:solidFill>
                <a:latin typeface="Calibri"/>
                <a:ea typeface="Calibri"/>
                <a:cs typeface="Calibri"/>
              </a:rPr>
              <a:t>Contact</a:t>
            </a:r>
            <a:endParaRPr/>
          </a:p>
        </p:txBody>
      </p:sp>
      <p:sp>
        <p:nvSpPr>
          <p:cNvPr id="96" name="Google Shape;96;p1">
            <a:extLst xmlns:a="http://schemas.openxmlformats.org/drawingml/2006/main">
              <a:ext uri="{FF2B5EF4-FFF2-40B4-BE49-F238E27FC236}">
                <a16:creationId xmlns:a16="http://schemas.microsoft.com/office/drawing/2014/main" id="{93CEC601-1432-4766-8C1C-816470736500}"/>
              </a:ext>
            </a:extLst>
          </p:cNvPr>
          <p:cNvSpPr>
            <a:spLocks xmlns:a="http://schemas.openxmlformats.org/drawingml/2006/main" noGrp="1"/>
          </p:cNvSpPr>
          <p:nvPr/>
        </p:nvSpPr>
        <p:spPr>
          <a:xfrm xmlns:a="http://schemas.openxmlformats.org/drawingml/2006/main">
            <a:off x="14548680" y="29844000"/>
            <a:ext cx="639864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1F2A24"/>
              </a:buClr>
              <a:buSzPts val="2000"/>
              <a:buFont typeface="Calibri"/>
              <a:buNone/>
            </a:pPr>
            <a:r>
              <a:rPr sz="2000" b="0" i="0">
                <a:solidFill>
                  <a:srgbClr val="1F2A24"/>
                </a:solidFill>
                <a:latin typeface="Calibri"/>
                <a:ea typeface="Calibri"/>
                <a:cs typeface="Calibri"/>
              </a:rPr>
              <a:t>asun555@aucklanduni.ac.nz</a:t>
            </a:r>
            <a:endParaRPr/>
          </a:p>
          <a:p xmlns:a="http://schemas.openxmlformats.org/drawingml/2006/main">
            <a:pPr marL="0" marR="0" lvl="0" indent="0" algn="ctr">
              <a:lnSpc>
                <a:spcPct val="108000"/>
              </a:lnSpc>
              <a:spcBef>
                <a:spcPts val="0"/>
              </a:spcBef>
              <a:spcAft>
                <a:spcPts val="0"/>
              </a:spcAft>
              <a:buClr>
                <a:srgbClr val="1F2A24"/>
              </a:buClr>
              <a:buSzPts val="2000"/>
              <a:buFont typeface="Calibri"/>
              <a:buNone/>
            </a:pPr>
            <a:r>
              <a:rPr sz="2000" b="0" i="0">
                <a:solidFill>
                  <a:srgbClr val="1F2A24"/>
                </a:solidFill>
                <a:latin typeface="Calibri"/>
                <a:ea typeface="Calibri"/>
                <a:cs typeface="Calibri"/>
              </a:rPr>
              <a:t>kjoe685@aucklanduni.ac.nz</a:t>
            </a:r>
            <a:endParaRPr/>
          </a:p>
        </p:txBody>
      </p:sp>
      <p:sp>
        <p:nvSpPr>
          <p:cNvPr id="97" name="Backend engine explanation">
            <a:extLst xmlns:a="http://schemas.openxmlformats.org/drawingml/2006/main">
              <a:ext uri="{FF2B5EF4-FFF2-40B4-BE49-F238E27FC236}">
                <a16:creationId xmlns:a16="http://schemas.microsoft.com/office/drawing/2014/main" id="{D1B5FEE6-F217-44F8-88C3-42F75801E168}"/>
              </a:ext>
            </a:extLst>
          </p:cNvPr>
          <p:cNvSpPr>
            <a:spLocks xmlns:a="http://schemas.openxmlformats.org/drawingml/2006/main" noGrp="1"/>
          </p:cNvSpPr>
          <p:nvPr/>
        </p:nvSpPr>
        <p:spPr>
          <a:xfrm xmlns:a="http://schemas.openxmlformats.org/drawingml/2006/main">
            <a:off x="868680" y="13698000"/>
            <a:ext cx="20078640" cy="11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F2A24"/>
                </a:solidFill>
                <a:latin typeface="Calibri"/>
                <a:ea typeface="Calibri"/>
                <a:cs typeface="Calibri"/>
              </a:defRPr>
            </a:defPPr>
          </a:lstStyle>
          <a:p xmlns:a="http://schemas.openxmlformats.org/drawingml/2006/main">
            <a:pPr algn="l">
              <a:lnSpc>
                <a:spcPct val="108000"/>
              </a:lnSpc>
              <a:buNone/>
              <a:defRPr sz="2550" b="0">
                <a:solidFill>
                  <a:srgbClr val="1F2A24"/>
                </a:solidFill>
                <a:latin typeface="Calibri"/>
                <a:ea typeface="Calibri"/>
                <a:cs typeface="Calibri"/>
              </a:defRPr>
            </a:pPr>
            <a:r>
              <a:rPr sz="2550" b="0">
                <a:solidFill>
                  <a:srgbClr val="1F2A24"/>
                </a:solidFill>
                <a:latin typeface="Calibri"/>
                <a:ea typeface="Calibri"/>
                <a:cs typeface="Calibri"/>
              </a:rPr>
              <a:t>At run start, the backend combines each MP's party profile and selected real parliamentary debate excerpts [2] in a private system prompt, adding any assigned tactic. The scheduler takes turns sending that MP's prompt, public debate history and a turn cue to its model's chat completion endpoint. Each returned speech joins the public record for the next MP. Other agents cannot read the private prompts.</a:t>
            </a:r>
          </a:p>
        </p:txBody>
      </p:sp>
      <p:graphicFrame>
        <p:nvGraphicFramePr>
          <p:cNvPr id="98" name="Chart">
            <a:extLst xmlns:a="http://schemas.openxmlformats.org/drawingml/2006/main">
              <a:ext uri="{FF2B5EF4-FFF2-40B4-BE49-F238E27FC236}">
                <a16:creationId xmlns:a16="http://schemas.microsoft.com/office/drawing/2014/main" id="{CA9C4E48-DA80-4724-8D00-973D94465D40}"/>
              </a:ext>
            </a:extLst>
          </p:cNvPr>
          <p:cNvGraphicFramePr/>
          <p:nvPr/>
        </p:nvGraphicFramePr>
        <p:xfrm>
          <a:off xmlns:a="http://schemas.openxmlformats.org/drawingml/2006/main" x="868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5a0fe74037e743e3"/>
          </a:graphicData>
        </a:graphic>
      </p:graphicFrame>
      <p:graphicFrame>
        <p:nvGraphicFramePr>
          <p:cNvPr id="99" name="Chart">
            <a:extLst xmlns:a="http://schemas.openxmlformats.org/drawingml/2006/main">
              <a:ext uri="{FF2B5EF4-FFF2-40B4-BE49-F238E27FC236}">
                <a16:creationId xmlns:a16="http://schemas.microsoft.com/office/drawing/2014/main" id="{30AAD577-98D6-4B10-853A-ABC2C9A7AA92}"/>
              </a:ext>
            </a:extLst>
          </p:cNvPr>
          <p:cNvGraphicFramePr/>
          <p:nvPr/>
        </p:nvGraphicFramePr>
        <p:xfrm>
          <a:off xmlns:a="http://schemas.openxmlformats.org/drawingml/2006/main" x="7636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68ae52c6c633408e"/>
          </a:graphicData>
        </a:graphic>
      </p:graphicFrame>
      <p:graphicFrame>
        <p:nvGraphicFramePr>
          <p:cNvPr id="100" name="Chart">
            <a:extLst xmlns:a="http://schemas.openxmlformats.org/drawingml/2006/main">
              <a:ext uri="{FF2B5EF4-FFF2-40B4-BE49-F238E27FC236}">
                <a16:creationId xmlns:a16="http://schemas.microsoft.com/office/drawing/2014/main" id="{7376CBCB-DFA1-407D-A1EB-C26909F4C0DE}"/>
              </a:ext>
            </a:extLst>
          </p:cNvPr>
          <p:cNvGraphicFramePr/>
          <p:nvPr/>
        </p:nvGraphicFramePr>
        <p:xfrm>
          <a:off xmlns:a="http://schemas.openxmlformats.org/drawingml/2006/main" x="14404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09f53b6328084456"/>
          </a:graphicData>
        </a:graphic>
      </p:graphicFrame>
      <p:sp>
        <p:nvSpPr>
          <p:cNvPr id="101" name="Truncated axis disclosure">
            <a:extLst xmlns:a="http://schemas.openxmlformats.org/drawingml/2006/main">
              <a:ext uri="{FF2B5EF4-FFF2-40B4-BE49-F238E27FC236}">
                <a16:creationId xmlns:a16="http://schemas.microsoft.com/office/drawing/2014/main" id="{B9780769-60AF-417B-93FA-04F4DD67D308}"/>
              </a:ext>
            </a:extLst>
          </p:cNvPr>
          <p:cNvSpPr>
            <a:spLocks xmlns:a="http://schemas.openxmlformats.org/drawingml/2006/main" noGrp="1"/>
          </p:cNvSpPr>
          <p:nvPr/>
        </p:nvSpPr>
        <p:spPr>
          <a:xfrm xmlns:a="http://schemas.openxmlformats.org/drawingml/2006/main">
            <a:off x="868680" y="23724000"/>
            <a:ext cx="20078640" cy="6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50" b="0">
                <a:solidFill>
                  <a:srgbClr val="56615B"/>
                </a:solidFill>
                <a:latin typeface="Calibri"/>
                <a:ea typeface="Calibri"/>
                <a:cs typeface="Calibri"/>
              </a:defRPr>
            </a:defPPr>
          </a:lstStyle>
          <a:p xmlns:a="http://schemas.openxmlformats.org/drawingml/2006/main">
            <a:pPr algn="l">
              <a:lnSpc>
                <a:spcPct val="108000"/>
              </a:lnSpc>
              <a:buNone/>
              <a:defRPr sz="2050" b="0">
                <a:solidFill>
                  <a:srgbClr val="56615B"/>
                </a:solidFill>
                <a:latin typeface="Calibri"/>
                <a:ea typeface="Calibri"/>
                <a:cs typeface="Calibri"/>
              </a:defRPr>
            </a:pPr>
            <a:r>
              <a:rPr sz="2050" b="0">
                <a:solidFill>
                  <a:srgbClr val="56615B"/>
                </a:solidFill>
                <a:latin typeface="Calibri"/>
                <a:ea typeface="Calibri"/>
                <a:cs typeface="Calibri"/>
              </a:rPr>
              <a:t>Vertical axes are truncated. Rubric scores range from 0 to 4. Each co-operative point averages 9 debates (45 MP ratings per metric); each strategy point averages five MPs. GPT-6 Luna used a consistent rating prompt. Topic, party and repeats limit comparison.</a:t>
            </a:r>
          </a:p>
        </p:txBody>
      </p:sp>
      <p:sp>
        <p:nvSpPr>
          <p:cNvPr id="102" name="Adversarial findings">
            <a:extLst xmlns:a="http://schemas.openxmlformats.org/drawingml/2006/main">
              <a:ext uri="{FF2B5EF4-FFF2-40B4-BE49-F238E27FC236}">
                <a16:creationId xmlns:a16="http://schemas.microsoft.com/office/drawing/2014/main" id="{A860C4D0-0345-42ED-889C-6CF930F543CD}"/>
              </a:ext>
            </a:extLst>
          </p:cNvPr>
          <p:cNvSpPr>
            <a:spLocks xmlns:a="http://schemas.openxmlformats.org/drawingml/2006/main" noGrp="1"/>
          </p:cNvSpPr>
          <p:nvPr/>
        </p:nvSpPr>
        <p:spPr>
          <a:xfrm xmlns:a="http://schemas.openxmlformats.org/drawingml/2006/main">
            <a:off x="868680" y="25524000"/>
            <a:ext cx="20078640" cy="82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50" b="0">
                <a:solidFill>
                  <a:srgbClr val="A92F24"/>
                </a:solidFill>
                <a:latin typeface="Calibri"/>
                <a:ea typeface="Calibri"/>
                <a:cs typeface="Calibri"/>
              </a:defRPr>
            </a:defPPr>
          </a:lstStyle>
          <a:p xmlns:a="http://schemas.openxmlformats.org/drawingml/2006/main">
            <a:pPr algn="l">
              <a:lnSpc>
                <a:spcPct val="108000"/>
              </a:lnSpc>
              <a:buNone/>
              <a:defRPr sz="2450" b="0">
                <a:solidFill>
                  <a:srgbClr val="A92F24"/>
                </a:solidFill>
                <a:latin typeface="Calibri"/>
                <a:ea typeface="Calibri"/>
                <a:cs typeface="Calibri"/>
              </a:defRPr>
            </a:pPr>
            <a:r>
              <a:rPr sz="2450" b="1">
                <a:solidFill>
                  <a:srgbClr val="A92F24"/>
                </a:solidFill>
                <a:latin typeface="Calibri"/>
                <a:ea typeface="Calibri"/>
                <a:cs typeface="Calibri"/>
              </a:rPr>
              <a:t>Adversarial agents:</a:t>
            </a:r>
            <a:r>
              <a:rPr sz="2450" b="0">
                <a:solidFill>
                  <a:srgbClr val="A92F24"/>
                </a:solidFill>
                <a:latin typeface="Calibri"/>
                <a:ea typeface="Calibri"/>
                <a:cs typeface="Calibri"/>
              </a:rPr>
              <a:t> Qwen's reasoning varies from 2.0 to 2.8; Luna's procedural responsiveness rises from 3.2 to 4.0. Disruption scores are 2/4 for Qwen ACT only at 0 excerpts and 0 for adversarial Luna MPs; Qwen Green's paired changes span -1 to +1. Adversarial assignment alone is insufficient for disruption.</a:t>
            </a:r>
          </a:p>
        </p:txBody>
      </p:sp>
    </p:spTree>
    <p:extLst>
      <p:ext uri="{BB962C8B-B14F-4D97-AF65-F5344CB8AC3E}">
        <p14:creationId xmlns:p14="http://schemas.microsoft.com/office/powerpoint/2010/main" val="2008244140"/>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2026-10-11T06:23:33.6720000Z</dcterms:created>
  <dcterms:modified xsi:type="dcterms:W3CDTF">2026-10-11T06:23:33.6720000Z</dcterms:modified>
</coreProperties>
</file>