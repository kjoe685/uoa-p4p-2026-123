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ce8c6251724850" /><Relationship Type="http://schemas.openxmlformats.org/officeDocument/2006/relationships/extended-properties" Target="/docProps/app.xml" Id="R58a06b68473a4a7a" /><Relationship Type="http://schemas.openxmlformats.org/officeDocument/2006/relationships/officeDocument" Target="/ppt/presentation.xml" Id="R2580a0934271439d" /></Relationships>
</file>

<file path=ppt/presentation.xml><?xml version="1.0" encoding="utf-8"?>
<p:presentation xmlns:p="http://schemas.openxmlformats.org/presentationml/2006/main">
  <p:sldMasterIdLst>
    <p:sldMasterId xmlns:r="http://schemas.openxmlformats.org/officeDocument/2006/relationships" id="2147483648" r:id="Raf89e0df0a164a02"/>
  </p:sldMasterIdLst>
  <p:notesMasterIdLst>
    <p:notesMasterId xmlns:r="http://schemas.openxmlformats.org/officeDocument/2006/relationships" r:id="R0c44d24763674de9"/>
  </p:notesMasterIdLst>
  <p:sldIdLst>
    <p:sldId xmlns:r="http://schemas.openxmlformats.org/officeDocument/2006/relationships" id="256" r:id="Rf131f72f6c8d421c"/>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a35e4e8e7b4cc4" /><Relationship Type="http://schemas.openxmlformats.org/officeDocument/2006/relationships/slideMaster" Target="/ppt/slideMasters/slideMaster1.xml" Id="Raf89e0df0a164a02" /><Relationship Type="http://schemas.openxmlformats.org/officeDocument/2006/relationships/notesMaster" Target="/ppt/notesMasters/notesMaster1.xml" Id="R0c44d24763674de9" /><Relationship Type="http://schemas.openxmlformats.org/officeDocument/2006/relationships/presProps" Target="/ppt/presProps.xml" Id="R55e316a45ff141d9" /><Relationship Type="http://schemas.openxmlformats.org/officeDocument/2006/relationships/tableStyles" Target="/ppt/tableStyles.xml" Id="R554e79deb8c74f01" /><Relationship Type="http://schemas.openxmlformats.org/officeDocument/2006/relationships/slide" Target="/ppt/slides/slide1.xml" Id="Rf131f72f6c8d42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585fe0e3ea4c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0f8f770fe0451d" /><Relationship Type="http://schemas.openxmlformats.org/officeDocument/2006/relationships/notesMaster" Target="/ppt/notesMasters/notesMaster1.xml" Id="R135a90171c5d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[2]: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12b0408e804c40"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bb8df5e1bf4730" /><Relationship Type="http://schemas.openxmlformats.org/officeDocument/2006/relationships/slideLayout" Target="/ppt/slideLayouts/slideLayout1.xml" Id="R606374957f7e421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06374957f7e421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bc355ec4934118" /><Relationship Type="http://schemas.openxmlformats.org/officeDocument/2006/relationships/image" Target="/ppt/media/image.png" Id="Rd39ddc850dbe499f" /><Relationship Type="http://schemas.openxmlformats.org/officeDocument/2006/relationships/image" Target="/ppt/media/image2.png" Id="Red36b49c4a59487a" /><Relationship Type="http://schemas.openxmlformats.org/officeDocument/2006/relationships/chart" Target="/ppt/slides/charts/chart1.xml" Id="R17a057f5812244b4" /><Relationship Type="http://schemas.openxmlformats.org/officeDocument/2006/relationships/chart" Target="/ppt/slides/charts/chart2.xml" Id="Re2a06aada9184470" /><Relationship Type="http://schemas.openxmlformats.org/officeDocument/2006/relationships/chart" Target="/ppt/slides/charts/chart3.xml" Id="R5ddb0eb1cb3045fd" /><Relationship Type="http://schemas.openxmlformats.org/officeDocument/2006/relationships/notesSlide" Target="/ppt/notesSlides/notesSlide1.xml" Id="R69b6c228017645e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B1465B59-9646-4652-8E48-2C5D5D884199}"/>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079BC2F1-D4B5-4FF0-B5A0-772E55465EDB}"/>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87932928-410F-482E-91B1-D34A855BC146}"/>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51254955-755E-4B53-99D8-941292CFF2CA}"/>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52DBD9DE-1871-47F6-93D1-90B735079F71}"/>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05FCEF40-AC6D-477C-878E-87893725329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39ddc850dbe499f">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8FAF5216-92F3-451D-9944-EC34095B45AD}"/>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94A59174-3E75-4153-ACAE-B08E684D31E1}"/>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7F28D068-D9CA-4EFF-BFAB-5F31C1DF3EAA}"/>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EB05766F-AC7B-4954-88E7-8864ED88B454}"/>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adversarial strategies</a:t>
            </a:r>
            <a:endParaRPr/>
          </a:p>
        </p:txBody>
      </p:sp>
      <p:sp>
        <p:nvSpPr>
          <p:cNvPr id="31" name="Google Shape;31;p1">
            <a:extLst xmlns:a="http://schemas.openxmlformats.org/drawingml/2006/main">
              <a:ext uri="{FF2B5EF4-FFF2-40B4-BE49-F238E27FC236}">
                <a16:creationId xmlns:a16="http://schemas.microsoft.com/office/drawing/2014/main" id="{DA3F546D-DCA8-43DB-A81B-D7E0D5E9083F}"/>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83155EBF-0C5F-4CE7-AA8A-5B545A57AC04}"/>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[2]. We built a virtual NZ House of AI MPs, then privately tasked some with sabotage and tested Hansard grounding.</a:t>
            </a:r>
            <a:endParaRPr/>
          </a:p>
        </p:txBody>
      </p:sp>
      <p:sp>
        <p:nvSpPr>
          <p:cNvPr id="33" name="Google Shape;33;p1">
            <a:extLst xmlns:a="http://schemas.openxmlformats.org/drawingml/2006/main">
              <a:ext uri="{FF2B5EF4-FFF2-40B4-BE49-F238E27FC236}">
                <a16:creationId xmlns:a16="http://schemas.microsoft.com/office/drawing/2014/main" id="{AD40767D-DCC9-446A-8B5F-F8FEACD45B14}"/>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565C80BF-906E-4D61-AE39-66D33C28C159}"/>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A033750E-71A1-457C-BD47-46F137741D24}"/>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37B091B1-6B15-4BAB-A741-49D896EFB5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d36b49c4a59487a">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48F91C1E-2B99-4E25-B570-8C88493B3F9D}"/>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864FABBC-9CB2-4852-AAA0-0D0918C4E79E}"/>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EACCE04D-26E7-4A15-BDC2-3D446D30631D}"/>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6C49D43E-62F6-4610-ADFB-C7143DF247F7}"/>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AA63739A-C785-44D1-BB01-6814A3576AAD}"/>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E2AD8357-51F8-49FE-8BEC-CCA7A0C4AD98}"/>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06F0D167-5094-45CD-8755-63AFF2E36326}"/>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F123F104-E05D-4D2C-BBE5-3EC8C2225A4E}"/>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Speakers light up; adversarial roles appear in red.</a:t>
            </a:r>
            <a:endParaRPr/>
          </a:p>
        </p:txBody>
      </p:sp>
      <p:sp>
        <p:nvSpPr>
          <p:cNvPr id="45" name="Google Shape;45;p1">
            <a:extLst xmlns:a="http://schemas.openxmlformats.org/drawingml/2006/main">
              <a:ext uri="{FF2B5EF4-FFF2-40B4-BE49-F238E27FC236}">
                <a16:creationId xmlns:a16="http://schemas.microsoft.com/office/drawing/2014/main" id="{1B77F53B-06C7-484D-ADD6-7939682F6AD8}"/>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87253706-292D-4B15-A1DE-7D02CFE380BA}"/>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F95C8449-8365-41CC-9F97-ADEA83D9FC62}"/>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3DDBFEF1-25B5-4235-93E2-BA540783FCF3}"/>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6789CB38-21B6-4C7B-AC3C-015F7FF9236C}"/>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B086EF25-CE9F-4B61-A671-7FD14228C742}"/>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8084717E-766D-4DF8-AD50-7971EC0A1954}"/>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307B2E11-12B2-486E-91F9-05E355D1CB6B}"/>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2C3C215C-14DD-4768-896A-35175CCED0E9}"/>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8E659BFE-11DB-4798-8896-86EFC96A224D}"/>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9EB9538C-007C-4F88-9B7B-32EB7252DECB}"/>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61CF6A4C-0B15-4021-BB5B-EC204AD77274}"/>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AB8339A9-B4BF-4FFA-AA48-A554D7FA5FD8}"/>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assignment.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254B6138-13A9-4573-A160-256DE3976515}"/>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A71D0681-5C3D-48FF-838E-3F7531C94C52}"/>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38EE9A6E-A367-4B75-9E6A-CD6431D1A6B5}"/>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87551453-4CB9-427D-9473-9636DFEB94AE}"/>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10D285FF-C2CB-41FD-B8A8-15A72827F267}"/>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A5B5B674-BF86-4726-A80F-5D360D1F916C}"/>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1CEDA79C-C0A3-4DBE-B948-52805EEF6614}"/>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3B8B9B05-00D4-45EC-82A1-E4DD75BCF171}"/>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5DB50233-9C60-4BD4-8C26-2FF80D9AA147}"/>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A92F2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2A8C616E-AC4D-43D1-85AA-479A1D357480}"/>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3EE6D89E-7F0B-40D2-8CF9-5AC7B4C235CE}"/>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0C0BC6CF-25FA-4DE2-A621-EF4A68060DA3}"/>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6591C8E3-AD68-4BC2-B2E6-73553E56BEE6}"/>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3782D6CE-D059-46CF-A0F7-2AAA95679A90}"/>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EA10A28F-075F-4C58-9A8B-60653627C6F7}"/>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24C0776F-6095-4BA7-8BAB-A736983C0B31}"/>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0DF1A0AC-5293-491F-A6A9-8314F3E5EB46}"/>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E5FE81FE-6862-4971-99A2-35F546CAAADF}"/>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50AF75B3-897F-44A2-814C-A1D33908786A}"/>
              </a:ext>
            </a:extLst>
          </p:cNvPr>
          <p:cNvSpPr>
            <a:spLocks xmlns:a="http://schemas.openxmlformats.org/drawingml/2006/main" noGrp="1"/>
          </p:cNvSpPr>
          <p:nvPr/>
        </p:nvSpPr>
        <p:spPr>
          <a:xfrm xmlns:a="http://schemas.openxmlformats.org/drawingml/2006/main">
            <a:off x="86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13E065EC-A398-44F1-A7ED-AEB56C21A948}"/>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7F407841-6D04-47AA-89EC-79F5DD677964}"/>
              </a:ext>
            </a:extLst>
          </p:cNvPr>
          <p:cNvSpPr>
            <a:spLocks xmlns:a="http://schemas.openxmlformats.org/drawingml/2006/main" noGrp="1"/>
          </p:cNvSpPr>
          <p:nvPr/>
        </p:nvSpPr>
        <p:spPr>
          <a:xfrm xmlns:a="http://schemas.openxmlformats.org/drawingml/2006/main">
            <a:off x="770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3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38282933-18A2-4D46-9753-590A4D63805B}"/>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820EDB31-3211-4B1A-BAF6-D27FFA7B80D4}"/>
              </a:ext>
            </a:extLst>
          </p:cNvPr>
          <p:cNvSpPr>
            <a:spLocks xmlns:a="http://schemas.openxmlformats.org/drawingml/2006/main" noGrp="1"/>
          </p:cNvSpPr>
          <p:nvPr/>
        </p:nvSpPr>
        <p:spPr>
          <a:xfrm xmlns:a="http://schemas.openxmlformats.org/drawingml/2006/main">
            <a:off x="1454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F34157AC-B5DF-4941-9F41-3E1D5C4091B5}"/>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45928959-8D8B-4C6A-8829-F68556511722}"/>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8F6902EF-C484-4F95-96EA-B54654B06444}"/>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interruptions.</a:t>
            </a:r>
            <a:endParaRPr/>
          </a:p>
        </p:txBody>
      </p:sp>
      <p:sp>
        <p:nvSpPr>
          <p:cNvPr id="83" name="Google Shape;83;p1">
            <a:extLst xmlns:a="http://schemas.openxmlformats.org/drawingml/2006/main">
              <a:ext uri="{FF2B5EF4-FFF2-40B4-BE49-F238E27FC236}">
                <a16:creationId xmlns:a16="http://schemas.microsoft.com/office/drawing/2014/main" id="{0F94992C-1230-471C-A6AF-1A48313DCA8E}"/>
              </a:ext>
            </a:extLst>
          </p:cNvPr>
          <p:cNvSpPr>
            <a:spLocks xmlns:a="http://schemas.openxmlformats.org/drawingml/2006/main" noGrp="1"/>
          </p:cNvSpPr>
          <p:nvPr/>
        </p:nvSpPr>
        <p:spPr>
          <a:xfrm xmlns:a="http://schemas.openxmlformats.org/drawingml/2006/main">
            <a:off x="868680" y="24120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Findings:</a:t>
            </a:r>
            <a:r>
              <a:rPr sz="2450" b="0" i="0">
                <a:solidFill>
                  <a:srgbClr val="1F4D36"/>
                </a:solidFill>
                <a:latin typeface="Calibri"/>
                <a:ea typeface="Calibri"/>
                <a:cs typeface="Calibri"/>
              </a:rPr>
              <a:t> Consistency stays high, but Qwen's cooperative score falls from 3.93 to 3.62. Luna's reasoning stays near 3.0; Qwen's strategy scores range from 2.0 to 2.8. Responsiveness varies by strategy: Luna's procedural score rises from 3.2 to 4.0. More Hansard gives no consistent gain.</a:t>
            </a:r>
            <a:endParaRPr/>
          </a:p>
        </p:txBody>
      </p:sp>
      <p:sp>
        <p:nvSpPr>
          <p:cNvPr id="84" name="Google Shape;84;p1">
            <a:extLst xmlns:a="http://schemas.openxmlformats.org/drawingml/2006/main">
              <a:ext uri="{FF2B5EF4-FFF2-40B4-BE49-F238E27FC236}">
                <a16:creationId xmlns:a16="http://schemas.microsoft.com/office/drawing/2014/main" id="{1E50EDF5-9BB1-450D-8103-364CC407AF68}"/>
              </a:ext>
            </a:extLst>
          </p:cNvPr>
          <p:cNvSpPr>
            <a:spLocks xmlns:a="http://schemas.openxmlformats.org/drawingml/2006/main" noGrp="1"/>
          </p:cNvSpPr>
          <p:nvPr/>
        </p:nvSpPr>
        <p:spPr>
          <a:xfrm xmlns:a="http://schemas.openxmlformats.org/drawingml/2006/main">
            <a:off x="868680" y="26028000"/>
            <a:ext cx="2007864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05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Cooperative points average 9 debates (45 scores); each strategy point averages all five MPs in one debate. Assignments: retirement/NZ First/derailment, workweek/ACT/straw man, nuclear/Green/procedural. A consistent prompt to GPT-6 Luna generated the ratings. Topic, party and one assigned repeat limit comparison.</a:t>
            </a:r>
            <a:endParaRPr/>
          </a:p>
        </p:txBody>
      </p:sp>
      <p:sp>
        <p:nvSpPr>
          <p:cNvPr id="85" name="Google Shape;85;p1">
            <a:extLst xmlns:a="http://schemas.openxmlformats.org/drawingml/2006/main">
              <a:ext uri="{FF2B5EF4-FFF2-40B4-BE49-F238E27FC236}">
                <a16:creationId xmlns:a16="http://schemas.microsoft.com/office/drawing/2014/main" id="{CBFCAA66-5295-44C0-B49B-1BBFA99D1CFE}"/>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ACF14AB0-8325-41E9-865E-B14845BEC973}"/>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81E978CD-453E-4C64-9DAC-2D19D3DFFAAE}"/>
              </a:ext>
            </a:extLst>
          </p:cNvPr>
          <p:cNvSpPr>
            <a:spLocks xmlns:a="http://schemas.openxmlformats.org/drawingml/2006/main" noGrp="1"/>
          </p:cNvSpPr>
          <p:nvPr/>
        </p:nvSpPr>
        <p:spPr>
          <a:xfrm xmlns:a="http://schemas.openxmlformats.org/drawingml/2006/main">
            <a:off x="868680" y="27864000"/>
            <a:ext cx="6408000" cy="11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Platform:</a:t>
            </a:r>
            <a:r>
              <a:rPr sz="2150" b="0" i="0">
                <a:solidFill>
                  <a:srgbClr val="1F2A24"/>
                </a:solidFill>
                <a:latin typeface="Calibri"/>
                <a:ea typeface="Calibri"/>
                <a:cs typeface="Calibri"/>
              </a:rPr>
              <a:t> An AI debate engine with replaceable components and a browser-based frontend. Our study found no consistent score gain from extra Hansard.</a:t>
            </a:r>
            <a:endParaRPr/>
          </a:p>
        </p:txBody>
      </p:sp>
      <p:sp>
        <p:nvSpPr>
          <p:cNvPr id="88" name="Google Shape;88;p1">
            <a:extLst xmlns:a="http://schemas.openxmlformats.org/drawingml/2006/main">
              <a:ext uri="{FF2B5EF4-FFF2-40B4-BE49-F238E27FC236}">
                <a16:creationId xmlns:a16="http://schemas.microsoft.com/office/drawing/2014/main" id="{8DF35236-3960-4CCC-A5D1-484D836693BC}"/>
              </a:ext>
            </a:extLst>
          </p:cNvPr>
          <p:cNvSpPr>
            <a:spLocks xmlns:a="http://schemas.openxmlformats.org/drawingml/2006/main" noGrp="1"/>
          </p:cNvSpPr>
          <p:nvPr/>
        </p:nvSpPr>
        <p:spPr>
          <a:xfrm xmlns:a="http://schemas.openxmlformats.org/drawingml/2006/main">
            <a:off x="7776000" y="27864000"/>
            <a:ext cx="6300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a:t>
            </a:r>
            <a:r>
              <a:rPr sz="2150" b="0" i="0">
                <a:solidFill>
                  <a:srgbClr val="1F2A24"/>
                </a:solidFill>
                <a:latin typeface="Calibri"/>
                <a:ea typeface="Calibri"/>
                <a:cs typeface="Calibri"/>
              </a:rPr>
              <a:t> Repeat assigned conditions and rotate parties. Human reviewers should assess disruption, reasoning and concessions before wider conclusions.</a:t>
            </a:r>
            <a:endParaRPr/>
          </a:p>
        </p:txBody>
      </p:sp>
      <p:sp>
        <p:nvSpPr>
          <p:cNvPr id="89" name="Google Shape;89;p1">
            <a:extLst xmlns:a="http://schemas.openxmlformats.org/drawingml/2006/main">
              <a:ext uri="{FF2B5EF4-FFF2-40B4-BE49-F238E27FC236}">
                <a16:creationId xmlns:a16="http://schemas.microsoft.com/office/drawing/2014/main" id="{226E1C2F-DB5F-43F0-B765-3DF2FC9BB969}"/>
              </a:ext>
            </a:extLst>
          </p:cNvPr>
          <p:cNvSpPr>
            <a:spLocks xmlns:a="http://schemas.openxmlformats.org/drawingml/2006/main" noGrp="1"/>
          </p:cNvSpPr>
          <p:nvPr/>
        </p:nvSpPr>
        <p:spPr>
          <a:xfrm xmlns:a="http://schemas.openxmlformats.org/drawingml/2006/main">
            <a:off x="14580000" y="27864000"/>
            <a:ext cx="6372000" cy="11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Contributions:</a:t>
            </a:r>
            <a:r>
              <a:rPr sz="2150" b="0" i="0">
                <a:solidFill>
                  <a:srgbClr val="1F2A24"/>
                </a:solidFill>
                <a:latin typeface="Calibri"/>
                <a:ea typeface="Calibri"/>
                <a:cs typeface="Calibri"/>
              </a:rPr>
              <a:t> </a:t>
            </a: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developed the frontend,</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live chamber, 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developed the engine and architecture,</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and coordinated with the supervisor.</a:t>
            </a:r>
            <a:endParaRPr/>
          </a:p>
        </p:txBody>
      </p:sp>
      <p:sp>
        <p:nvSpPr>
          <p:cNvPr id="90" name="Google Shape;90;p1">
            <a:extLst xmlns:a="http://schemas.openxmlformats.org/drawingml/2006/main">
              <a:ext uri="{FF2B5EF4-FFF2-40B4-BE49-F238E27FC236}">
                <a16:creationId xmlns:a16="http://schemas.microsoft.com/office/drawing/2014/main" id="{78819416-DA52-418A-88B9-08893F5B8830}"/>
              </a:ext>
            </a:extLst>
          </p:cNvPr>
          <p:cNvSpPr>
            <a:spLocks xmlns:a="http://schemas.openxmlformats.org/drawingml/2006/main" noGrp="1"/>
          </p:cNvSpPr>
          <p:nvPr/>
        </p:nvSpPr>
        <p:spPr>
          <a:xfrm xmlns:a="http://schemas.openxmlformats.org/drawingml/2006/main">
            <a:off x="0" y="29124000"/>
            <a:ext cx="21816000" cy="158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24687655-3364-4031-AE46-B6BC9EC73AFB}"/>
              </a:ext>
            </a:extLst>
          </p:cNvPr>
          <p:cNvSpPr>
            <a:spLocks xmlns:a="http://schemas.openxmlformats.org/drawingml/2006/main" noGrp="1"/>
          </p:cNvSpPr>
          <p:nvPr/>
        </p:nvSpPr>
        <p:spPr>
          <a:xfrm xmlns:a="http://schemas.openxmlformats.org/drawingml/2006/main">
            <a:off x="868680" y="29412000"/>
            <a:ext cx="842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4AF5BA80-4FAD-4089-B5CA-AD3E2DBD0A09}"/>
              </a:ext>
            </a:extLst>
          </p:cNvPr>
          <p:cNvSpPr>
            <a:spLocks xmlns:a="http://schemas.openxmlformats.org/drawingml/2006/main" noGrp="1"/>
          </p:cNvSpPr>
          <p:nvPr/>
        </p:nvSpPr>
        <p:spPr>
          <a:xfrm xmlns:a="http://schemas.openxmlformats.org/drawingml/2006/main">
            <a:off x="868680" y="29844000"/>
            <a:ext cx="8424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00" b="0" i="0">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Rauh &amp; Schwalbach (2020). ParlSpeech V2.</a:t>
            </a:r>
            <a:endParaRPr sz="2000">
              <a:solidFill>
                <a:srgbClr val="1F2A24"/>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Du et al. (2024). Multiagent Debate.</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09B7007D-FFE1-4825-9E42-0F4A5BEADAF1}"/>
              </a:ext>
            </a:extLst>
          </p:cNvPr>
          <p:cNvSpPr>
            <a:spLocks xmlns:a="http://schemas.openxmlformats.org/drawingml/2006/main" noGrp="1"/>
          </p:cNvSpPr>
          <p:nvPr/>
        </p:nvSpPr>
        <p:spPr>
          <a:xfrm xmlns:a="http://schemas.openxmlformats.org/drawingml/2006/main">
            <a:off x="8028000" y="29412000"/>
            <a:ext cx="57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70A2A40A-6B08-49DB-B950-BAF21F84A256}"/>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021327CF-080D-4FD8-BE00-41D8E051A07E}"/>
              </a:ext>
            </a:extLst>
          </p:cNvPr>
          <p:cNvSpPr>
            <a:spLocks xmlns:a="http://schemas.openxmlformats.org/drawingml/2006/main" noGrp="1"/>
          </p:cNvSpPr>
          <p:nvPr/>
        </p:nvSpPr>
        <p:spPr>
          <a:xfrm xmlns:a="http://schemas.openxmlformats.org/drawingml/2006/main">
            <a:off x="17064000" y="29412000"/>
            <a:ext cx="3888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F1AC1A52-C165-4416-A40A-0F6BEAB733FD}"/>
              </a:ext>
            </a:extLst>
          </p:cNvPr>
          <p:cNvSpPr>
            <a:spLocks xmlns:a="http://schemas.openxmlformats.org/drawingml/2006/main" noGrp="1"/>
          </p:cNvSpPr>
          <p:nvPr/>
        </p:nvSpPr>
        <p:spPr>
          <a:xfrm xmlns:a="http://schemas.openxmlformats.org/drawingml/2006/main">
            <a:off x="17064000" y="29844000"/>
            <a:ext cx="3888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5E5C416F-82BC-464E-8A5A-888FCE8C5513}"/>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Hansard excerpts [1]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450B329C-B1B6-486B-9FF8-ED1099F33C8B}"/>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17a057f5812244b4"/>
          </a:graphicData>
        </a:graphic>
      </p:graphicFrame>
      <p:graphicFrame>
        <p:nvGraphicFramePr>
          <p:cNvPr id="99" name="Chart">
            <a:extLst xmlns:a="http://schemas.openxmlformats.org/drawingml/2006/main">
              <a:ext uri="{FF2B5EF4-FFF2-40B4-BE49-F238E27FC236}">
                <a16:creationId xmlns:a16="http://schemas.microsoft.com/office/drawing/2014/main" id="{CEA0D7F6-B729-4CBC-9849-9F7071EBE712}"/>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e2a06aada9184470"/>
          </a:graphicData>
        </a:graphic>
      </p:graphicFrame>
      <p:graphicFrame>
        <p:nvGraphicFramePr>
          <p:cNvPr id="100" name="Chart">
            <a:extLst xmlns:a="http://schemas.openxmlformats.org/drawingml/2006/main">
              <a:ext uri="{FF2B5EF4-FFF2-40B4-BE49-F238E27FC236}">
                <a16:creationId xmlns:a16="http://schemas.microsoft.com/office/drawing/2014/main" id="{7DBBD53D-FCC2-42B1-9FEC-76283864D1EB}"/>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5ddb0eb1cb3045fd"/>
          </a:graphicData>
        </a:graphic>
      </p:graphicFrame>
      <p:sp>
        <p:nvSpPr>
          <p:cNvPr id="101" name="Truncated axis disclosure">
            <a:extLst xmlns:a="http://schemas.openxmlformats.org/drawingml/2006/main">
              <a:ext uri="{FF2B5EF4-FFF2-40B4-BE49-F238E27FC236}">
                <a16:creationId xmlns:a16="http://schemas.microsoft.com/office/drawing/2014/main" id="{2DE5867B-A4E3-4DEC-8833-A594581B62E4}"/>
              </a:ext>
            </a:extLst>
          </p:cNvPr>
          <p:cNvSpPr>
            <a:spLocks xmlns:a="http://schemas.openxmlformats.org/drawingml/2006/main" noGrp="1"/>
          </p:cNvSpPr>
          <p:nvPr/>
        </p:nvSpPr>
        <p:spPr>
          <a:xfrm xmlns:a="http://schemas.openxmlformats.org/drawingml/2006/main">
            <a:off x="868680" y="23724000"/>
            <a:ext cx="2007864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a:t>
            </a:r>
          </a:p>
        </p:txBody>
      </p:sp>
      <p:sp>
        <p:nvSpPr>
          <p:cNvPr id="102" name="Adversarial findings">
            <a:extLst xmlns:a="http://schemas.openxmlformats.org/drawingml/2006/main">
              <a:ext uri="{FF2B5EF4-FFF2-40B4-BE49-F238E27FC236}">
                <a16:creationId xmlns:a16="http://schemas.microsoft.com/office/drawing/2014/main" id="{98FC2B57-C356-4F0E-81A2-3CB139E9C264}"/>
              </a:ext>
            </a:extLst>
          </p:cNvPr>
          <p:cNvSpPr>
            <a:spLocks xmlns:a="http://schemas.openxmlformats.org/drawingml/2006/main" noGrp="1"/>
          </p:cNvSpPr>
          <p:nvPr/>
        </p:nvSpPr>
        <p:spPr>
          <a:xfrm xmlns:a="http://schemas.openxmlformats.org/drawingml/2006/main">
            <a:off x="868680" y="25056000"/>
            <a:ext cx="20078640" cy="75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Disruption:</a:t>
            </a:r>
            <a:r>
              <a:rPr sz="2450" b="0">
                <a:solidFill>
                  <a:srgbClr val="A92F24"/>
                </a:solidFill>
                <a:latin typeface="Calibri"/>
                <a:ea typeface="Calibri"/>
                <a:cs typeface="Calibri"/>
              </a:rPr>
              <a:t> Qwen ACT scores 2/4 for disruptive rhetoric only at 0 excerpts; assigned Luna MPs score 0. Matched Qwen Green changes range from -1 to +1. Higher scores mean more disruption; assignment alone does not establish successful disruption.</a:t>
            </a:r>
          </a:p>
        </p:txBody>
      </p:sp>
    </p:spTree>
    <p:extLst>
      <p:ext uri="{BB962C8B-B14F-4D97-AF65-F5344CB8AC3E}">
        <p14:creationId xmlns:p14="http://schemas.microsoft.com/office/powerpoint/2010/main" val="159416195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2026-10-11T01:04:49.0520000Z</dcterms:created>
  <dcterms:modified xsi:type="dcterms:W3CDTF">2026-10-11T01:04:49.0520000Z</dcterms:modified>
</coreProperties>
</file>